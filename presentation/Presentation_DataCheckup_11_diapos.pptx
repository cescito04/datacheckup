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bc751b33c195437e" /><Relationship Type="http://schemas.openxmlformats.org/officeDocument/2006/relationships/extended-properties" Target="/docProps/app.xml" Id="R4608ab3b18c6489b" /><Relationship Type="http://schemas.openxmlformats.org/officeDocument/2006/relationships/officeDocument" Target="/ppt/presentation.xml" Id="Rb8690bac273e4813" /></Relationships>
</file>

<file path=ppt/presentation.xml><?xml version="1.0" encoding="utf-8"?>
<p:presentation xmlns:p="http://schemas.openxmlformats.org/presentationml/2006/main">
  <p:sldMasterIdLst>
    <p:sldMasterId xmlns:r="http://schemas.openxmlformats.org/officeDocument/2006/relationships" id="2147483648" r:id="R9edb4d45936d46a4"/>
  </p:sldMasterIdLst>
  <p:notesMasterIdLst>
    <p:notesMasterId xmlns:r="http://schemas.openxmlformats.org/officeDocument/2006/relationships" r:id="R37e6345c598d4ad8"/>
  </p:notesMasterIdLst>
  <p:sldIdLst>
    <p:sldId xmlns:r="http://schemas.openxmlformats.org/officeDocument/2006/relationships" id="256" r:id="R5c35c288835747cc"/>
    <p:sldId xmlns:r="http://schemas.openxmlformats.org/officeDocument/2006/relationships" id="257" r:id="R5ad4deae026448f2"/>
    <p:sldId xmlns:r="http://schemas.openxmlformats.org/officeDocument/2006/relationships" id="258" r:id="Rda0aed997f684b17"/>
    <p:sldId xmlns:r="http://schemas.openxmlformats.org/officeDocument/2006/relationships" id="259" r:id="R6059960599c74a29"/>
    <p:sldId xmlns:r="http://schemas.openxmlformats.org/officeDocument/2006/relationships" id="260" r:id="Rf9ebf563fc2f4797"/>
    <p:sldId xmlns:r="http://schemas.openxmlformats.org/officeDocument/2006/relationships" id="261" r:id="R58536ee3ae6f48b3"/>
    <p:sldId xmlns:r="http://schemas.openxmlformats.org/officeDocument/2006/relationships" id="262" r:id="Rf2a4015a19d241a6"/>
    <p:sldId xmlns:r="http://schemas.openxmlformats.org/officeDocument/2006/relationships" id="263" r:id="R68fe2c0100304e29"/>
    <p:sldId xmlns:r="http://schemas.openxmlformats.org/officeDocument/2006/relationships" id="264" r:id="R3eaaa7533f754e39"/>
    <p:sldId xmlns:r="http://schemas.openxmlformats.org/officeDocument/2006/relationships" id="265" r:id="R714d613f8a05443c"/>
    <p:sldId xmlns:r="http://schemas.openxmlformats.org/officeDocument/2006/relationships" id="266" r:id="Rc61d28377cdf4cc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118514645bb4a6d" /><Relationship Type="http://schemas.openxmlformats.org/officeDocument/2006/relationships/slideMaster" Target="/ppt/slideMasters/slideMaster1.xml" Id="R9edb4d45936d46a4" /><Relationship Type="http://schemas.openxmlformats.org/officeDocument/2006/relationships/notesMaster" Target="/ppt/notesMasters/notesMaster1.xml" Id="R37e6345c598d4ad8" /><Relationship Type="http://schemas.openxmlformats.org/officeDocument/2006/relationships/presProps" Target="/ppt/presProps.xml" Id="Rb58f44f0b88547ea" /><Relationship Type="http://schemas.openxmlformats.org/officeDocument/2006/relationships/tableStyles" Target="/ppt/tableStyles.xml" Id="Rca7753692bea4041" /><Relationship Type="http://schemas.openxmlformats.org/officeDocument/2006/relationships/slide" Target="/ppt/slides/slide1.xml" Id="R5c35c288835747cc" /><Relationship Type="http://schemas.openxmlformats.org/officeDocument/2006/relationships/slide" Target="/ppt/slides/slide2.xml" Id="R5ad4deae026448f2" /><Relationship Type="http://schemas.openxmlformats.org/officeDocument/2006/relationships/slide" Target="/ppt/slides/slide3.xml" Id="Rda0aed997f684b17" /><Relationship Type="http://schemas.openxmlformats.org/officeDocument/2006/relationships/slide" Target="/ppt/slides/slide4.xml" Id="R6059960599c74a29" /><Relationship Type="http://schemas.openxmlformats.org/officeDocument/2006/relationships/slide" Target="/ppt/slides/slide5.xml" Id="Rf9ebf563fc2f4797" /><Relationship Type="http://schemas.openxmlformats.org/officeDocument/2006/relationships/slide" Target="/ppt/slides/slide6.xml" Id="R58536ee3ae6f48b3" /><Relationship Type="http://schemas.openxmlformats.org/officeDocument/2006/relationships/slide" Target="/ppt/slides/slide7.xml" Id="Rf2a4015a19d241a6" /><Relationship Type="http://schemas.openxmlformats.org/officeDocument/2006/relationships/slide" Target="/ppt/slides/slide8.xml" Id="R68fe2c0100304e29" /><Relationship Type="http://schemas.openxmlformats.org/officeDocument/2006/relationships/slide" Target="/ppt/slides/slide9.xml" Id="R3eaaa7533f754e39" /><Relationship Type="http://schemas.openxmlformats.org/officeDocument/2006/relationships/slide" Target="/ppt/slides/slide10.xml" Id="R714d613f8a05443c" /><Relationship Type="http://schemas.openxmlformats.org/officeDocument/2006/relationships/slide" Target="/ppt/slides/slide11.xml" Id="Rc61d28377cdf4cc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3232c7d7fb743f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d245e1a3eb7484b" /><Relationship Type="http://schemas.openxmlformats.org/officeDocument/2006/relationships/notesMaster" Target="/ppt/notesMasters/notesMaster1.xml" Id="R454499bb9c8d4c90" /></Relationships>
</file>

<file path=ppt/notesSlides/_rels/notesSlide2.xml.rels>&#65279;<?xml version="1.0" encoding="utf-8"?><Relationships xmlns="http://schemas.openxmlformats.org/package/2006/relationships"><Relationship Type="http://schemas.openxmlformats.org/officeDocument/2006/relationships/slide" Target="/ppt/slides/slide2.xml" Id="Rc20db65da8594200" /><Relationship Type="http://schemas.openxmlformats.org/officeDocument/2006/relationships/notesMaster" Target="/ppt/notesMasters/notesMaster1.xml" Id="Rdf744847ef804039" /></Relationships>
</file>

<file path=ppt/notesSlides/_rels/notesSlide3.xml.rels>&#65279;<?xml version="1.0" encoding="utf-8"?><Relationships xmlns="http://schemas.openxmlformats.org/package/2006/relationships"><Relationship Type="http://schemas.openxmlformats.org/officeDocument/2006/relationships/slide" Target="/ppt/slides/slide3.xml" Id="R0bbda098b37c4f5f" /><Relationship Type="http://schemas.openxmlformats.org/officeDocument/2006/relationships/notesMaster" Target="/ppt/notesMasters/notesMaster1.xml" Id="Ra4ead133a0234b7d" /></Relationships>
</file>

<file path=ppt/notesSlides/_rels/notesSlide4.xml.rels>&#65279;<?xml version="1.0" encoding="utf-8"?><Relationships xmlns="http://schemas.openxmlformats.org/package/2006/relationships"><Relationship Type="http://schemas.openxmlformats.org/officeDocument/2006/relationships/slide" Target="/ppt/slides/slide4.xml" Id="R2d8ee3aa01ad449c" /><Relationship Type="http://schemas.openxmlformats.org/officeDocument/2006/relationships/notesMaster" Target="/ppt/notesMasters/notesMaster1.xml" Id="R090901e9e89d449a" /></Relationships>
</file>

<file path=ppt/notesSlides/_rels/notesSlide5.xml.rels>&#65279;<?xml version="1.0" encoding="utf-8"?><Relationships xmlns="http://schemas.openxmlformats.org/package/2006/relationships"><Relationship Type="http://schemas.openxmlformats.org/officeDocument/2006/relationships/slide" Target="/ppt/slides/slide5.xml" Id="Raaf5f1c618bf47de" /><Relationship Type="http://schemas.openxmlformats.org/officeDocument/2006/relationships/notesMaster" Target="/ppt/notesMasters/notesMaster1.xml" Id="R195f25ef7eee4754" /></Relationships>
</file>

<file path=ppt/notesSlides/_rels/notesSlide6.xml.rels>&#65279;<?xml version="1.0" encoding="utf-8"?><Relationships xmlns="http://schemas.openxmlformats.org/package/2006/relationships"><Relationship Type="http://schemas.openxmlformats.org/officeDocument/2006/relationships/slide" Target="/ppt/slides/slide6.xml" Id="R2983a40a68ad41dd" /><Relationship Type="http://schemas.openxmlformats.org/officeDocument/2006/relationships/notesMaster" Target="/ppt/notesMasters/notesMaster1.xml" Id="Rc569e84176b948d3" /></Relationships>
</file>

<file path=ppt/notesSlides/_rels/notesSlide7.xml.rels>&#65279;<?xml version="1.0" encoding="utf-8"?><Relationships xmlns="http://schemas.openxmlformats.org/package/2006/relationships"><Relationship Type="http://schemas.openxmlformats.org/officeDocument/2006/relationships/slide" Target="/ppt/slides/slide7.xml" Id="R570f33d77d584de4" /><Relationship Type="http://schemas.openxmlformats.org/officeDocument/2006/relationships/notesMaster" Target="/ppt/notesMasters/notesMaster1.xml" Id="R8f3d491a22bd4597" /></Relationships>
</file>

<file path=ppt/notesSlides/_rels/notesSlide8.xml.rels>&#65279;<?xml version="1.0" encoding="utf-8"?><Relationships xmlns="http://schemas.openxmlformats.org/package/2006/relationships"><Relationship Type="http://schemas.openxmlformats.org/officeDocument/2006/relationships/slide" Target="/ppt/slides/slide8.xml" Id="Rca9cdd96cc2d4431" /><Relationship Type="http://schemas.openxmlformats.org/officeDocument/2006/relationships/notesMaster" Target="/ppt/notesMasters/notesMaster1.xml" Id="R6f5bc46f81ed44b1" /></Relationships>
</file>

<file path=ppt/notesSlides/_rels/notesSlide9.xml.rels>&#65279;<?xml version="1.0" encoding="utf-8"?><Relationships xmlns="http://schemas.openxmlformats.org/package/2006/relationships"><Relationship Type="http://schemas.openxmlformats.org/officeDocument/2006/relationships/slide" Target="/ppt/slides/slide9.xml" Id="R40f177311b2948d6" /><Relationship Type="http://schemas.openxmlformats.org/officeDocument/2006/relationships/notesMaster" Target="/ppt/notesMasters/notesMaster1.xml" Id="R98f46f54d42e415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731fc4bbfdd4e0a" /><Relationship Type="http://schemas.openxmlformats.org/officeDocument/2006/relationships/notesMaster" Target="/ppt/notesMasters/notesMaster1.xml" Id="R858c002a8ec74aa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f75576046ba48c3" /><Relationship Type="http://schemas.openxmlformats.org/officeDocument/2006/relationships/notesMaster" Target="/ppt/notesMasters/notesMaster1.xml" Id="R0d7dae5abd1c467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Cette présentation rend compte d’un projet individuel consacré à la comparaison de trois outils de contrôle de qualité des données : Great Expectations, Soda Core et PyDeequ, qui s’appuie sur Deequ et Spark. L’étude examine trois dimensions : la concordance des détections, le temps observé sur une configuration locale et la lisibilité des résultats sauvegardés. Une preuve de concept séparée montre ensuite comment bloquer un lot et mettre les lignes rejetées en quarantaine. Les conclusions restent limitées au protocole expérimental réalisé.</a:t>
            </a:r>
          </a:p>
          <a:p xmlns:a="http://schemas.openxmlformats.org/drawingml/2006/main">
            <a:r>
              <a:t/>
            </a:r>
          </a:p>
          <a:p xmlns:a="http://schemas.openxmlformats.org/drawingml/2006/main">
            <a:r>
              <a:t>Sources du projet : Rapport_final_qualite_donnees.docx ; benchmark/results/analyse_recommandations.md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veille privilégie les sources primaires : documentation officielle des trois projets, dépôts et métadonnées des paquets employés, ainsi qu’un article scientifique sur Deequ. La sélection porte sur les éléments directement utiles à l’étude : manière d’exprimer les contrôles, sources ou moteurs, formes de diagnostic et versions. La consultation est arrêtée au 18 octobre 2026. Les pages commerciales générales et les comparatifs de tiers ne servent pas à établir les capacités techniques. Il s’agit d’une veille ciblée, pas d’une revue systématique exhaustive. Les observations chiffrées qui suivent viennent des exécutions du dépôt.</a:t>
            </a:r>
          </a:p>
          <a:p xmlns:a="http://schemas.openxmlformats.org/drawingml/2006/main">
            <a:r>
              <a:t/>
            </a:r>
          </a:p>
          <a:p xmlns:a="http://schemas.openxmlformats.org/drawingml/2006/main">
            <a:r>
              <a:t>Sources du projet : Rapport_veille_DataCheckup.pdf ; docs.greatexpectations.io ; docs.soda.io ; github.com/awslabs/deequ ; Schelter et al., PVLDB 2018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benchmark utilise un jeu synthétique de commandes de cinquante mille lignes, construit avec une graine fixe afin de permettre la reproduction. Douze contrôles sont répartis entre complétude, unicité, validité et cohérence. Chaque outil a été exécuté cinq fois sur le même jeu. Les durées sont décomposées entre chargement, préparation lorsqu’elle est mesurable, et contrôles. Le temps total médian comprend les opérations propres à chaque implémentation; ce choix décrit l’expérience complète, mais ne rend pas toutes les architectures strictement équivalentes. Les versions et l’environnement figurent dans le rapport.</a:t>
            </a:r>
          </a:p>
          <a:p xmlns:a="http://schemas.openxmlformats.org/drawingml/2006/main">
            <a:r>
              <a:t/>
            </a:r>
          </a:p>
          <a:p xmlns:a="http://schemas.openxmlformats.org/drawingml/2006/main">
            <a:r>
              <a:t>Sources du projet : benchmark/README.md ; benchmark/results/full_benchmark.json ; Protocole_experimentation_qualite_donnees.md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Les contrôles sont organisés en quatre dimensions. La complétude comprend trois champs obligatoires. L’unicité porte sur l’identifiant de commande et la référence de paiement. La validité vérifie les domaines et formats de quantité, de prix, de devise et de statut. Enfin, la cohérence examine le calcul du montant, la relation entre statut et paiement, puis les dates d’expédition. Deux règles d’unicité marquent les deux membres de chaque groupe dupliqué, ce qui donne quatre cents lignes affectées pour chacune. Les dix autres règles concernent deux cents lignes chacune. Le jeu contient ainsi deux mille huit cents couples identifiant-règle attendus.</a:t>
            </a:r>
          </a:p>
          <a:p xmlns:a="http://schemas.openxmlformats.org/drawingml/2006/main">
            <a:r>
              <a:t/>
            </a:r>
          </a:p>
          <a:p xmlns:a="http://schemas.openxmlformats.org/drawingml/2006/main">
            <a:r>
              <a:t>Sources du projet : Protocole_experimentation_qualite_donnees.md ; benchmark/results/generation_summary.json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Pour chaque outil, soixante comparaisons ont été réalisées : douze règles sur cinq passages. Les comptes sauvegardés correspondent aux valeurs attendues pour les trois outils, ce qui totalise cent quatre-vingts concordances. Pour Soda, le nombre d’occurrences dupliquées au-delà de la première a été converti en lignes concernées, puisque chaque groupe injecté comporte deux lignes. Cette vérification valide la concordance des comptes sur ce jeu, mais pas l’identité des lignes remontées. Les sorties comparatives ne conservaient pas les identifiants fautifs par outil; par conséquent, il serait incorrect d’en déduire précision ou rappel au niveau des lignes.</a:t>
            </a:r>
          </a:p>
          <a:p xmlns:a="http://schemas.openxmlformats.org/drawingml/2006/main">
            <a:r>
              <a:t/>
            </a:r>
          </a:p>
          <a:p xmlns:a="http://schemas.openxmlformats.org/drawingml/2006/main">
            <a:r>
              <a:t>Sources du projet : benchmark/results/full_benchmark.json ; benchmark/results/comparison_summary.md ; benchmark/results/evaluation_qualitative_rapports.md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Les temps totaux médians observés sont d’environ zéro virgule quarante-six seconde pour Soda, cinq virgule trente-deux secondes pour PyDeequ et dix virgule vingt secondes pour Great Expectations. Soda a donc été environ vingt-deux fois plus rapide que Great Expectations dans cette configuration. Cette comparaison inclut les coûts mesurés de chargement et d’initialisation : Great Expectations a une phase de préparation notable, tandis que Deequ inclut Spark local. Les résultats dépendent de l’ordinateur, du moteur, des règles et de l’implémentation. Ils ne prédisent pas directement les performances d’un entrepôt SQL, d’un cluster Spark ou d’un volume de production.</a:t>
            </a:r>
          </a:p>
          <a:p xmlns:a="http://schemas.openxmlformats.org/drawingml/2006/main">
            <a:r>
              <a:t/>
            </a:r>
          </a:p>
          <a:p xmlns:a="http://schemas.openxmlformats.org/drawingml/2006/main">
            <a:r>
              <a:t>Sources du projet : benchmark/results/full_benchmark.json ; benchmark/results/analyse_recommandations.md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Une grille qualitative appliquée aux artefacts sauvegardés attribue trois sur cinq à Great Expectations, trois virgule soixante-quinze à Soda et trois virgule vingt-cinq à Deequ. L’extrait Soda contient un nom de contrôle, un nombre d’erreurs, un taux et un dénominateur. L’export Great Expectations conservé par le script est plus succinct, et Deequ expose une contrainte accompagnée d’une fraction conforme. Cette évaluation a été menée par une seule personne sur les fichiers produits par notre benchmark. Elle n’évalue pas les interfaces, les rapports natifs complets ou les fonctions de suivi des produits. Il faut donc présenter ces scores comme une lecture des sorties du projet, non comme un palmarès logiciel.</a:t>
            </a:r>
          </a:p>
          <a:p xmlns:a="http://schemas.openxmlformats.org/drawingml/2006/main">
            <a:r>
              <a:t/>
            </a:r>
          </a:p>
          <a:p xmlns:a="http://schemas.openxmlformats.org/drawingml/2006/main">
            <a:r>
              <a:t>Sources du projet : benchmark/results/evaluation_qualitative_rapports.md ; benchmark/results/full_benchmark.json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démonstration présente un validateur autonome, distinct des trois bibliothèques comparées. Sur le jeu propre, les cinquante mille lignes passent les douze règles et sont publiées. Sur le jeu altéré, deux mille huit cents lignes sont reconnues comme invalides et orientées vers la quarantaine. Le seuil de lignes invalides autorisées est nul par défaut, donc le lot est bloqué et aucun fichier de publication n’est produit. Les deux mille huit cents couples ligne-règle concordent exactement avec la vérité terrain. Cette preuve démontre le routage et le mécanisme de blocage; elle ne constitue pas encore une intégration aux adaptateurs Great Expectations, Soda ou Deequ.</a:t>
            </a:r>
          </a:p>
          <a:p xmlns:a="http://schemas.openxmlformats.org/drawingml/2006/main">
            <a:r>
              <a:t/>
            </a:r>
          </a:p>
          <a:p xmlns:a="http://schemas.openxmlformats.org/drawingml/2006/main">
            <a:r>
              <a:t>Sources du projet : benchmark/implementations/run_quality_gate.py ; benchmark/results/quarantine_demo/run_summary.json ; benchmark/README.md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Les recommandations sont conditionnelles au contexte. Pour des contrôles rapides sur une source SQL ou DuckDB, Soda est le premier candidat à approfondir au vu de la vitesse et de la lisibilité observées. Pour un pipeline Spark existant, Deequ mérite d’être évalué afin de rester dans le même écosystème. Great Expectations peut convenir si l’application Python privilégie l’organisation explicite des attentes et des validations. Ces orientations ne désignent pas de gagnant universel. La sélection doit être confirmée sur le moteur réel, les données visées et le niveau de diagnostic nécessaire.</a:t>
            </a:r>
          </a:p>
          <a:p xmlns:a="http://schemas.openxmlformats.org/drawingml/2006/main">
            <a:r>
              <a:t/>
            </a:r>
          </a:p>
          <a:p xmlns:a="http://schemas.openxmlformats.org/drawingml/2006/main">
            <a:r>
              <a:t>Sources du projet : benchmark/results/analyse_recommandations.md ; benchmark/results/comparison_summary.md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 conclusion, les trois outils ont retrouvé les comptes attendus sur les douze règles et les cinq passages du jeu synthétique. Soda a présenté la médiane la plus courte et les artefacts sauvegardés les plus faciles à lire, dans l’essai local. Ces résultats ne donnent ni une mesure d’exactitude par ligne, ni une comparaison des rapports natifs, ni une estimation de performances distribuées. La preuve de concept de quarantaine fonctionne, mais elle reste autonome. Les étapes prioritaires sont donc d’obtenir les identifiants fautifs dans les trois adaptateurs, d’évaluer leurs rapports natifs, de relier le blocage à une intégration continue et de répéter l’étude sur un moteur et des données représentatifs.</a:t>
            </a:r>
          </a:p>
          <a:p xmlns:a="http://schemas.openxmlformats.org/drawingml/2006/main">
            <a:r>
              <a:t/>
            </a:r>
          </a:p>
          <a:p xmlns:a="http://schemas.openxmlformats.org/drawingml/2006/main">
            <a:r>
              <a:t>Sources du projet : Rapport_final_qualite_donnees.docx ; benchmark/results/analyse_recommandations.md ; Protocole_experimentation_qualite_donnees.md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suite du travail consiste à combler les limites qui changent le plus la décision. D’abord, conserver les identifiants fautifs de chaque outil afin de calculer la précision et le rappel par ligne. Ensuite, comparer les rapports natifs dans un format de détail documenté avec plusieurs évaluateurs. Puis répéter le protocole sur le moteur et les volumes réellement visés. Enfin, intégrer la quarantaine à un flux de publication qui journalise le résultat et permet la reprise après correction. À ce stade, le projet prouve un mécanisme technique sur des CSV synthétiques; il n’a pas évalué une mise en production.</a:t>
            </a:r>
          </a:p>
          <a:p xmlns:a="http://schemas.openxmlformats.org/drawingml/2006/main">
            <a:r>
              <a:t/>
            </a:r>
          </a:p>
          <a:p xmlns:a="http://schemas.openxmlformats.org/drawingml/2006/main">
            <a:r>
              <a:t>Sources du projet : Rapport_veille_DataCheckup.pdf ; benchmark/results/analyse_recommandations.md ; benchmark/implementations/run_quality_gate.py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0d1280942cb4cd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d904559cb394f0c" /><Relationship Type="http://schemas.openxmlformats.org/officeDocument/2006/relationships/slideLayout" Target="/ppt/slideLayouts/slideLayout1.xml" Id="R5c05808ef7e0467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c05808ef7e0467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fffb3dd3d714638" /><Relationship Type="http://schemas.openxmlformats.org/officeDocument/2006/relationships/notesSlide" Target="/ppt/notesSlides/notesSlide1.xml" Id="R64bdbd0a63b14a6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e3b02bd623446c6" /><Relationship Type="http://schemas.openxmlformats.org/officeDocument/2006/relationships/notesSlide" Target="/ppt/notesSlides/notesSlide2.xml" Id="Refd730598ea849b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1c8ddee4cb64fb3" /><Relationship Type="http://schemas.openxmlformats.org/officeDocument/2006/relationships/notesSlide" Target="/ppt/notesSlides/notesSlide3.xml" Id="R683a81c68adf40c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8fa74a002e544ee" /><Relationship Type="http://schemas.openxmlformats.org/officeDocument/2006/relationships/notesSlide" Target="/ppt/notesSlides/notesSlide4.xml" Id="Rd5b4fd70128d4e4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8ea8c2f469f42f7" /><Relationship Type="http://schemas.openxmlformats.org/officeDocument/2006/relationships/notesSlide" Target="/ppt/notesSlides/notesSlide5.xml" Id="R1d5e8f7dae8845d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f22c27cf71d43bb" /><Relationship Type="http://schemas.openxmlformats.org/officeDocument/2006/relationships/chart" Target="/ppt/slides/charts/chart1.xml" Id="R373f1b9aa4684e6c" /><Relationship Type="http://schemas.openxmlformats.org/officeDocument/2006/relationships/notesSlide" Target="/ppt/notesSlides/notesSlide6.xml" Id="Reefa90e98aa2459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3ec7fbaee304648" /><Relationship Type="http://schemas.openxmlformats.org/officeDocument/2006/relationships/notesSlide" Target="/ppt/notesSlides/notesSlide7.xml" Id="Ra4c05b9447fa48d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20e45e8ca664803" /><Relationship Type="http://schemas.openxmlformats.org/officeDocument/2006/relationships/notesSlide" Target="/ppt/notesSlides/notesSlide8.xml" Id="Rd63425259b864c0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a7738a2c3a24ef0" /><Relationship Type="http://schemas.openxmlformats.org/officeDocument/2006/relationships/notesSlide" Target="/ppt/notesSlides/notesSlide9.xml" Id="R65b3a53debe2417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779f1c91b1c4008" /><Relationship Type="http://schemas.openxmlformats.org/officeDocument/2006/relationships/notesSlide" Target="/ppt/notesSlides/notesSlide10.xml" Id="R7aea92bc6a0e44f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0036b1c934d4d4f" /><Relationship Type="http://schemas.openxmlformats.org/officeDocument/2006/relationships/notesSlide" Target="/ppt/notesSlides/notesSlide11.xml" Id="Rfd6646eb643e4e5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Secondes</c:v>
          </c:tx>
          <c:spPr>
            <a:solidFill xmlns:a="http://schemas.openxmlformats.org/drawingml/2006/main">
              <a:srgbClr val="187C78"/>
            </a:solidFill>
          </c:spPr>
          <c:cat>
            <c:strRef>
              <c:f>'Chart Data'!$A$2:$A$4</c:f>
              <c:strCache>
                <c:ptCount val="3"/>
                <c:pt idx="0">
                  <c:v>Soda Core</c:v>
                </c:pt>
                <c:pt idx="1">
                  <c:v>PyDeequ / Deequ</c:v>
                </c:pt>
                <c:pt idx="2">
                  <c:v>Great Expectations</c:v>
                </c:pt>
              </c:strCache>
            </c:strRef>
          </c:cat>
          <c:val>
            <c:numRef>
              <c:f>'Chart Data'!$B$2:$B$4</c:f>
              <c:numCache>
                <c:formatCode>General</c:formatCode>
                <c:ptCount val="3"/>
                <c:pt idx="0">
                  <c:v>0.458627</c:v>
                </c:pt>
                <c:pt idx="1">
                  <c:v>5.321934</c:v>
                </c:pt>
                <c:pt idx="2">
                  <c:v>10.198495</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gapWidth val="105"/>
        <c:axId val="48650112"/>
        <c:axId val="48672768"/>
      </c:barChart>
      <c:catAx>
        <c:axId val="48650112"/>
        <c:scaling>
          <c:orientation val="minMax"/>
        </c:scaling>
        <c:delete val="0"/>
        <c:axPos val="l"/>
        <c:majorGridlines>
          <c:spPr>
            <a:ln xmlns:a="http://schemas.openxmlformats.org/drawingml/2006/main" w="7620">
              <a:solidFill>
                <a:srgbClr val="D9E1E8"/>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66798D"/>
                </a:solidFill>
                <a:latin typeface="Helvetica Neue"/>
                <a:ea typeface="Helvetica Neue"/>
                <a:cs typeface="Helvetica Neue"/>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203247"/>
                </a:solidFill>
                <a:latin typeface="Helvetica Neue"/>
                <a:ea typeface="Helvetica Neue"/>
                <a:cs typeface="Helvetica Neue"/>
              </a:defRPr>
            </a:pPr>
          </a:p>
        </c:txPr>
        <c:crossAx val="48650112"/>
        <c:crossBetween val="between"/>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263D"/>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1B6C02C-233B-440C-B860-803E791D1E6D}"/>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D5A6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671F848-503D-4BF4-AED9-885535A0E168}"/>
              </a:ext>
            </a:extLst>
          </p:cNvPr>
          <p:cNvSpPr>
            <a:spLocks xmlns:a="http://schemas.openxmlformats.org/drawingml/2006/main" noGrp="1"/>
          </p:cNvSpPr>
          <p:nvPr/>
        </p:nvSpPr>
        <p:spPr>
          <a:xfrm xmlns:a="http://schemas.openxmlformats.org/drawingml/2006/main">
            <a:off x="0" y="152400"/>
            <a:ext cx="142875" cy="6705600"/>
          </a:xfrm>
          <a:prstGeom xmlns:a="http://schemas.openxmlformats.org/drawingml/2006/main" prst="rect">
            <a:avLst/>
          </a:prstGeom>
          <a:solidFill xmlns:a="http://schemas.openxmlformats.org/drawingml/2006/main">
            <a:srgbClr val="187C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55C969B-7D99-448C-B7EB-C95CCDF10AAF}"/>
              </a:ext>
            </a:extLst>
          </p:cNvPr>
          <p:cNvSpPr>
            <a:spLocks xmlns:a="http://schemas.openxmlformats.org/drawingml/2006/main" noGrp="1"/>
          </p:cNvSpPr>
          <p:nvPr/>
        </p:nvSpPr>
        <p:spPr>
          <a:xfrm xmlns:a="http://schemas.openxmlformats.org/drawingml/2006/main">
            <a:off x="876300" y="904875"/>
            <a:ext cx="10001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1">
                <a:solidFill>
                  <a:srgbClr val="8ED0C8"/>
                </a:solidFill>
                <a:latin typeface="Helvetica Neue"/>
                <a:ea typeface="Helvetica Neue"/>
                <a:cs typeface="Helvetica Neue"/>
              </a:defRPr>
            </a:pPr>
            <a:r>
              <a:rPr sz="1275" b="1">
                <a:solidFill>
                  <a:srgbClr val="8ED0C8"/>
                </a:solidFill>
                <a:latin typeface="Helvetica Neue"/>
                <a:ea typeface="Helvetica Neue"/>
                <a:cs typeface="Helvetica Neue"/>
              </a:rPr>
              <a:t>PROJET DE QUALITÉ DES DONNÉES</a:t>
            </a:r>
          </a:p>
        </p:txBody>
      </p:sp>
      <p:sp>
        <p:nvSpPr>
          <p:cNvPr id="4" name="">
            <a:extLst xmlns:a="http://schemas.openxmlformats.org/drawingml/2006/main">
              <a:ext uri="{FF2B5EF4-FFF2-40B4-BE49-F238E27FC236}">
                <a16:creationId xmlns:a16="http://schemas.microsoft.com/office/drawing/2014/main" id="{B8F2E6AD-0DF9-454B-950E-149A7C269BB7}"/>
              </a:ext>
            </a:extLst>
          </p:cNvPr>
          <p:cNvSpPr>
            <a:spLocks xmlns:a="http://schemas.openxmlformats.org/drawingml/2006/main" noGrp="1"/>
          </p:cNvSpPr>
          <p:nvPr/>
        </p:nvSpPr>
        <p:spPr>
          <a:xfrm xmlns:a="http://schemas.openxmlformats.org/drawingml/2006/main">
            <a:off x="876300" y="1495425"/>
            <a:ext cx="10287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98000"/>
              </a:lnSpc>
              <a:buNone/>
              <a:defRPr sz="4125" b="1">
                <a:solidFill>
                  <a:srgbClr val="FFFFFF"/>
                </a:solidFill>
                <a:latin typeface="Helvetica Neue"/>
                <a:ea typeface="Helvetica Neue"/>
                <a:cs typeface="Helvetica Neue"/>
              </a:defRPr>
            </a:pPr>
            <a:r>
              <a:rPr sz="4125" b="1">
                <a:solidFill>
                  <a:srgbClr val="FFFFFF"/>
                </a:solidFill>
                <a:latin typeface="Helvetica Neue"/>
                <a:ea typeface="Helvetica Neue"/>
                <a:cs typeface="Helvetica Neue"/>
              </a:rPr>
              <a:t>Comparer trois</a:t>
            </a:r>
          </a:p>
          <a:p xmlns:a="http://schemas.openxmlformats.org/drawingml/2006/main">
            <a:pPr algn="l">
              <a:lnSpc>
                <a:spcPct val="98000"/>
              </a:lnSpc>
              <a:buNone/>
              <a:defRPr sz="4125" b="1">
                <a:solidFill>
                  <a:srgbClr val="FFFFFF"/>
                </a:solidFill>
                <a:latin typeface="Helvetica Neue"/>
                <a:ea typeface="Helvetica Neue"/>
                <a:cs typeface="Helvetica Neue"/>
              </a:defRPr>
            </a:pPr>
            <a:r>
              <a:rPr sz="4125" b="1">
                <a:solidFill>
                  <a:srgbClr val="FFFFFF"/>
                </a:solidFill>
                <a:latin typeface="Helvetica Neue"/>
                <a:ea typeface="Helvetica Neue"/>
                <a:cs typeface="Helvetica Neue"/>
              </a:rPr>
              <a:t>outils de contrôle</a:t>
            </a:r>
          </a:p>
        </p:txBody>
      </p:sp>
      <p:sp>
        <p:nvSpPr>
          <p:cNvPr id="5" name="">
            <a:extLst xmlns:a="http://schemas.openxmlformats.org/drawingml/2006/main">
              <a:ext uri="{FF2B5EF4-FFF2-40B4-BE49-F238E27FC236}">
                <a16:creationId xmlns:a16="http://schemas.microsoft.com/office/drawing/2014/main" id="{2BB143B1-9C52-4115-86B0-60AF464095AA}"/>
              </a:ext>
            </a:extLst>
          </p:cNvPr>
          <p:cNvSpPr>
            <a:spLocks xmlns:a="http://schemas.openxmlformats.org/drawingml/2006/main" noGrp="1"/>
          </p:cNvSpPr>
          <p:nvPr/>
        </p:nvSpPr>
        <p:spPr>
          <a:xfrm xmlns:a="http://schemas.openxmlformats.org/drawingml/2006/main">
            <a:off x="876300" y="3276600"/>
            <a:ext cx="857250" cy="47625"/>
          </a:xfrm>
          <a:prstGeom xmlns:a="http://schemas.openxmlformats.org/drawingml/2006/main" prst="rect">
            <a:avLst/>
          </a:prstGeom>
          <a:solidFill xmlns:a="http://schemas.openxmlformats.org/drawingml/2006/main">
            <a:srgbClr val="D5A64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4EFB739-F5A2-4FD4-A329-C0A69E57EAD1}"/>
              </a:ext>
            </a:extLst>
          </p:cNvPr>
          <p:cNvSpPr>
            <a:spLocks xmlns:a="http://schemas.openxmlformats.org/drawingml/2006/main" noGrp="1"/>
          </p:cNvSpPr>
          <p:nvPr/>
        </p:nvSpPr>
        <p:spPr>
          <a:xfrm xmlns:a="http://schemas.openxmlformats.org/drawingml/2006/main">
            <a:off x="876300" y="3581400"/>
            <a:ext cx="952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875" b="0">
                <a:solidFill>
                  <a:srgbClr val="E2EAF0"/>
                </a:solidFill>
                <a:latin typeface="Helvetica Neue"/>
                <a:ea typeface="Helvetica Neue"/>
                <a:cs typeface="Helvetica Neue"/>
              </a:defRPr>
            </a:pPr>
            <a:r>
              <a:rPr sz="1875" b="0">
                <a:solidFill>
                  <a:srgbClr val="E2EAF0"/>
                </a:solidFill>
                <a:latin typeface="Helvetica Neue"/>
                <a:ea typeface="Helvetica Neue"/>
                <a:cs typeface="Helvetica Neue"/>
              </a:rPr>
              <a:t>Great Expectations • Soda Core • PyDeequ / Deequ</a:t>
            </a:r>
          </a:p>
        </p:txBody>
      </p:sp>
      <p:sp>
        <p:nvSpPr>
          <p:cNvPr id="7" name="">
            <a:extLst xmlns:a="http://schemas.openxmlformats.org/drawingml/2006/main">
              <a:ext uri="{FF2B5EF4-FFF2-40B4-BE49-F238E27FC236}">
                <a16:creationId xmlns:a16="http://schemas.microsoft.com/office/drawing/2014/main" id="{2AF392A5-2E14-4690-AF54-FA98308D9B3A}"/>
              </a:ext>
            </a:extLst>
          </p:cNvPr>
          <p:cNvSpPr>
            <a:spLocks xmlns:a="http://schemas.openxmlformats.org/drawingml/2006/main" noGrp="1"/>
          </p:cNvSpPr>
          <p:nvPr/>
        </p:nvSpPr>
        <p:spPr>
          <a:xfrm xmlns:a="http://schemas.openxmlformats.org/drawingml/2006/main">
            <a:off x="876300" y="4114800"/>
            <a:ext cx="1000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500" b="0">
                <a:solidFill>
                  <a:srgbClr val="C4D1DD"/>
                </a:solidFill>
                <a:latin typeface="Helvetica Neue"/>
                <a:ea typeface="Helvetica Neue"/>
                <a:cs typeface="Helvetica Neue"/>
              </a:defRPr>
            </a:pPr>
            <a:r>
              <a:rPr sz="1500" b="0">
                <a:solidFill>
                  <a:srgbClr val="C4D1DD"/>
                </a:solidFill>
                <a:latin typeface="Helvetica Neue"/>
                <a:ea typeface="Helvetica Neue"/>
                <a:cs typeface="Helvetica Neue"/>
              </a:rPr>
              <a:t>Détection, temps d’exécution et qualité des résultats sauvegardés</a:t>
            </a:r>
          </a:p>
        </p:txBody>
      </p:sp>
      <p:sp>
        <p:nvSpPr>
          <p:cNvPr id="8" name="">
            <a:extLst xmlns:a="http://schemas.openxmlformats.org/drawingml/2006/main">
              <a:ext uri="{FF2B5EF4-FFF2-40B4-BE49-F238E27FC236}">
                <a16:creationId xmlns:a16="http://schemas.microsoft.com/office/drawing/2014/main" id="{FEEE0EA0-C3C9-4078-96E7-AA8C306EC9C7}"/>
              </a:ext>
            </a:extLst>
          </p:cNvPr>
          <p:cNvSpPr>
            <a:spLocks xmlns:a="http://schemas.openxmlformats.org/drawingml/2006/main" noGrp="1"/>
          </p:cNvSpPr>
          <p:nvPr/>
        </p:nvSpPr>
        <p:spPr>
          <a:xfrm xmlns:a="http://schemas.openxmlformats.org/drawingml/2006/main">
            <a:off x="876300" y="5162550"/>
            <a:ext cx="10439400" cy="11430"/>
          </a:xfrm>
          <a:prstGeom xmlns:a="http://schemas.openxmlformats.org/drawingml/2006/main" prst="rect">
            <a:avLst/>
          </a:prstGeom>
          <a:solidFill xmlns:a="http://schemas.openxmlformats.org/drawingml/2006/main">
            <a:srgbClr val="49617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AB01F39-E631-4AE3-9DD8-40E832CDD57F}"/>
              </a:ext>
            </a:extLst>
          </p:cNvPr>
          <p:cNvSpPr>
            <a:spLocks xmlns:a="http://schemas.openxmlformats.org/drawingml/2006/main" noGrp="1"/>
          </p:cNvSpPr>
          <p:nvPr/>
        </p:nvSpPr>
        <p:spPr>
          <a:xfrm xmlns:a="http://schemas.openxmlformats.org/drawingml/2006/main">
            <a:off x="876300" y="5391150"/>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Abdoulaye Bocoum</a:t>
            </a:r>
          </a:p>
        </p:txBody>
      </p:sp>
      <p:sp>
        <p:nvSpPr>
          <p:cNvPr id="10" name="">
            <a:extLst xmlns:a="http://schemas.openxmlformats.org/drawingml/2006/main">
              <a:ext uri="{FF2B5EF4-FFF2-40B4-BE49-F238E27FC236}">
                <a16:creationId xmlns:a16="http://schemas.microsoft.com/office/drawing/2014/main" id="{DB4C8A92-5B67-4C42-B206-E77F20273347}"/>
              </a:ext>
            </a:extLst>
          </p:cNvPr>
          <p:cNvSpPr>
            <a:spLocks xmlns:a="http://schemas.openxmlformats.org/drawingml/2006/main" noGrp="1"/>
          </p:cNvSpPr>
          <p:nvPr/>
        </p:nvSpPr>
        <p:spPr>
          <a:xfrm xmlns:a="http://schemas.openxmlformats.org/drawingml/2006/main">
            <a:off x="876300" y="5762625"/>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00" b="0">
                <a:solidFill>
                  <a:srgbClr val="C4D1DD"/>
                </a:solidFill>
                <a:latin typeface="Helvetica Neue"/>
                <a:ea typeface="Helvetica Neue"/>
                <a:cs typeface="Helvetica Neue"/>
              </a:defRPr>
            </a:pPr>
            <a:r>
              <a:rPr sz="1200" b="0">
                <a:solidFill>
                  <a:srgbClr val="C4D1DD"/>
                </a:solidFill>
                <a:latin typeface="Helvetica Neue"/>
                <a:ea typeface="Helvetica Neue"/>
                <a:cs typeface="Helvetica Neue"/>
              </a:rPr>
              <a:t>Présentation individuelle • 2026</a:t>
            </a:r>
          </a:p>
        </p:txBody>
      </p:sp>
      <p:sp>
        <p:nvSpPr>
          <p:cNvPr id="11" name="">
            <a:extLst xmlns:a="http://schemas.openxmlformats.org/drawingml/2006/main">
              <a:ext uri="{FF2B5EF4-FFF2-40B4-BE49-F238E27FC236}">
                <a16:creationId xmlns:a16="http://schemas.microsoft.com/office/drawing/2014/main" id="{C850F962-3D2F-42E2-8969-968072658600}"/>
              </a:ext>
            </a:extLst>
          </p:cNvPr>
          <p:cNvSpPr>
            <a:spLocks xmlns:a="http://schemas.openxmlformats.org/drawingml/2006/main" noGrp="1"/>
          </p:cNvSpPr>
          <p:nvPr/>
        </p:nvSpPr>
        <p:spPr>
          <a:xfrm xmlns:a="http://schemas.openxmlformats.org/drawingml/2006/main">
            <a:off x="10763250" y="6238875"/>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5000"/>
              </a:lnSpc>
              <a:buNone/>
              <a:defRPr sz="1050" b="0">
                <a:solidFill>
                  <a:srgbClr val="C4D1DD"/>
                </a:solidFill>
                <a:latin typeface="Helvetica Neue"/>
                <a:ea typeface="Helvetica Neue"/>
                <a:cs typeface="Helvetica Neue"/>
              </a:defRPr>
            </a:pPr>
            <a:r>
              <a:rPr sz="1050" b="0">
                <a:solidFill>
                  <a:srgbClr val="C4D1DD"/>
                </a:solidFill>
                <a:latin typeface="Helvetica Neue"/>
                <a:ea typeface="Helvetica Neue"/>
                <a:cs typeface="Helvetica Neue"/>
              </a:rPr>
              <a:t>01</a:t>
            </a:r>
          </a:p>
        </p:txBody>
      </p:sp>
    </p:spTree>
    <p:extLst>
      <p:ext uri="{BB962C8B-B14F-4D97-AF65-F5344CB8AC3E}">
        <p14:creationId xmlns:p14="http://schemas.microsoft.com/office/powerpoint/2010/main" val="619114691"/>
      </p:ext>
    </p:extLst>
  </p:cSld>
</p:sld>
</file>

<file path=ppt/slides/slide2.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4C0D2BE1-F77C-4AB6-BDBB-20314A222B21}"/>
              </a:ext>
            </a:extLst>
          </p:cNvPr>
          <p:cNvSpPr>
            <a:spLocks xmlns:a="http://schemas.openxmlformats.org/drawingml/2006/main" noGrp="1"/>
          </p:cNvSpPr>
          <p:nvPr/>
        </p:nvSpPr>
        <p:spPr>
          <a:xfrm xmlns:a="http://schemas.openxmlformats.org/drawingml/2006/main">
            <a:off x="0" y="0"/>
            <a:ext cx="12192000" cy="123825"/>
          </a:xfrm>
          <a:prstGeom xmlns:a="http://schemas.openxmlformats.org/drawingml/2006/main" prst="rect">
            <a:avLst/>
          </a:prstGeom>
          <a:solidFill xmlns:a="http://schemas.openxmlformats.org/drawingml/2006/main">
            <a:srgbClr val="10263D"/>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DF6CD97-0789-4EAE-A67B-E89CAE89AC04}"/>
              </a:ext>
            </a:extLst>
          </p:cNvPr>
          <p:cNvSpPr>
            <a:spLocks xmlns:a="http://schemas.openxmlformats.org/drawingml/2006/main" noGrp="1"/>
          </p:cNvSpPr>
          <p:nvPr/>
        </p:nvSpPr>
        <p:spPr>
          <a:xfrm xmlns:a="http://schemas.openxmlformats.org/drawingml/2006/main">
            <a:off x="0" y="123825"/>
            <a:ext cx="2095500" cy="47625"/>
          </a:xfrm>
          <a:prstGeom xmlns:a="http://schemas.openxmlformats.org/drawingml/2006/main" prst="rect">
            <a:avLst/>
          </a:prstGeom>
          <a:solidFill xmlns:a="http://schemas.openxmlformats.org/drawingml/2006/main">
            <a:srgbClr val="D5A64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7F44448-57D1-4376-B3EE-36919036E9DA}"/>
              </a:ext>
            </a:extLst>
          </p:cNvPr>
          <p:cNvSpPr>
            <a:spLocks xmlns:a="http://schemas.openxmlformats.org/drawingml/2006/main" noGrp="1"/>
          </p:cNvSpPr>
          <p:nvPr/>
        </p:nvSpPr>
        <p:spPr>
          <a:xfrm xmlns:a="http://schemas.openxmlformats.org/drawingml/2006/main">
            <a:off x="647700" y="40005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125" b="1">
                <a:solidFill>
                  <a:srgbClr val="187C78"/>
                </a:solidFill>
                <a:latin typeface="Helvetica Neue"/>
                <a:ea typeface="Helvetica Neue"/>
                <a:cs typeface="Helvetica Neue"/>
              </a:defRPr>
            </a:pPr>
            <a:r>
              <a:rPr sz="1125" b="1">
                <a:solidFill>
                  <a:srgbClr val="187C78"/>
                </a:solidFill>
                <a:latin typeface="Helvetica Neue"/>
                <a:ea typeface="Helvetica Neue"/>
                <a:cs typeface="Helvetica Neue"/>
              </a:rPr>
              <a:t>REVUE DOCUMENTAIRE</a:t>
            </a:r>
          </a:p>
        </p:txBody>
      </p:sp>
      <p:sp>
        <p:nvSpPr>
          <p:cNvPr id="4" name="">
            <a:extLst xmlns:a="http://schemas.openxmlformats.org/drawingml/2006/main">
              <a:ext uri="{FF2B5EF4-FFF2-40B4-BE49-F238E27FC236}">
                <a16:creationId xmlns:a16="http://schemas.microsoft.com/office/drawing/2014/main" id="{1974698C-5D6C-4EAF-957F-90AB7400FA89}"/>
              </a:ext>
            </a:extLst>
          </p:cNvPr>
          <p:cNvSpPr>
            <a:spLocks xmlns:a="http://schemas.openxmlformats.org/drawingml/2006/main" noGrp="1"/>
          </p:cNvSpPr>
          <p:nvPr/>
        </p:nvSpPr>
        <p:spPr>
          <a:xfrm xmlns:a="http://schemas.openxmlformats.org/drawingml/2006/main">
            <a:off x="647700" y="685800"/>
            <a:ext cx="10896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2775" b="1">
                <a:solidFill>
                  <a:srgbClr val="10263D"/>
                </a:solidFill>
                <a:latin typeface="Helvetica Neue"/>
                <a:ea typeface="Helvetica Neue"/>
                <a:cs typeface="Helvetica Neue"/>
              </a:defRPr>
            </a:pPr>
            <a:r>
              <a:rPr sz="2775" b="1">
                <a:solidFill>
                  <a:srgbClr val="10263D"/>
                </a:solidFill>
                <a:latin typeface="Helvetica Neue"/>
                <a:ea typeface="Helvetica Neue"/>
                <a:cs typeface="Helvetica Neue"/>
              </a:rPr>
              <a:t>Une veille fondée sur les sources primaires</a:t>
            </a:r>
          </a:p>
        </p:txBody>
      </p:sp>
      <p:sp>
        <p:nvSpPr>
          <p:cNvPr id="5" name="">
            <a:extLst xmlns:a="http://schemas.openxmlformats.org/drawingml/2006/main">
              <a:ext uri="{FF2B5EF4-FFF2-40B4-BE49-F238E27FC236}">
                <a16:creationId xmlns:a16="http://schemas.microsoft.com/office/drawing/2014/main" id="{F7E0FE10-51C8-424B-B42E-DA4107465DF9}"/>
              </a:ext>
            </a:extLst>
          </p:cNvPr>
          <p:cNvSpPr>
            <a:spLocks xmlns:a="http://schemas.openxmlformats.org/drawingml/2006/main" noGrp="1"/>
          </p:cNvSpPr>
          <p:nvPr/>
        </p:nvSpPr>
        <p:spPr>
          <a:xfrm xmlns:a="http://schemas.openxmlformats.org/drawingml/2006/main">
            <a:off x="647700" y="6286500"/>
            <a:ext cx="10896600" cy="13335"/>
          </a:xfrm>
          <a:prstGeom xmlns:a="http://schemas.openxmlformats.org/drawingml/2006/main" prst="rect">
            <a:avLst/>
          </a:prstGeom>
          <a:solidFill xmlns:a="http://schemas.openxmlformats.org/drawingml/2006/main">
            <a:srgbClr val="D9E1E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455D424-7273-4133-8E27-DAA9E2FA516B}"/>
              </a:ext>
            </a:extLst>
          </p:cNvPr>
          <p:cNvSpPr>
            <a:spLocks xmlns:a="http://schemas.openxmlformats.org/drawingml/2006/main" noGrp="1"/>
          </p:cNvSpPr>
          <p:nvPr/>
        </p:nvSpPr>
        <p:spPr>
          <a:xfrm xmlns:a="http://schemas.openxmlformats.org/drawingml/2006/main">
            <a:off x="647700" y="6381750"/>
            <a:ext cx="933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975" b="0">
                <a:solidFill>
                  <a:srgbClr val="66798D"/>
                </a:solidFill>
                <a:latin typeface="Helvetica Neue"/>
                <a:ea typeface="Helvetica Neue"/>
                <a:cs typeface="Helvetica Neue"/>
              </a:defRPr>
            </a:pPr>
            <a:r>
              <a:rPr sz="975" b="0">
                <a:solidFill>
                  <a:srgbClr val="66798D"/>
                </a:solidFill>
                <a:latin typeface="Helvetica Neue"/>
                <a:ea typeface="Helvetica Neue"/>
                <a:cs typeface="Helvetica Neue"/>
              </a:rPr>
              <a:t>Projet individuel • Expérience contrôlée • 2026</a:t>
            </a:r>
          </a:p>
        </p:txBody>
      </p:sp>
      <p:sp>
        <p:nvSpPr>
          <p:cNvPr id="7" name="">
            <a:extLst xmlns:a="http://schemas.openxmlformats.org/drawingml/2006/main">
              <a:ext uri="{FF2B5EF4-FFF2-40B4-BE49-F238E27FC236}">
                <a16:creationId xmlns:a16="http://schemas.microsoft.com/office/drawing/2014/main" id="{B9DF1925-E86C-4F34-920D-CD62D6047C3D}"/>
              </a:ext>
            </a:extLst>
          </p:cNvPr>
          <p:cNvSpPr>
            <a:spLocks xmlns:a="http://schemas.openxmlformats.org/drawingml/2006/main" noGrp="1"/>
          </p:cNvSpPr>
          <p:nvPr/>
        </p:nvSpPr>
        <p:spPr>
          <a:xfrm xmlns:a="http://schemas.openxmlformats.org/drawingml/2006/main">
            <a:off x="10953750" y="63817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5000"/>
              </a:lnSpc>
              <a:buNone/>
              <a:defRPr sz="975" b="0">
                <a:solidFill>
                  <a:srgbClr val="66798D"/>
                </a:solidFill>
                <a:latin typeface="Helvetica Neue"/>
                <a:ea typeface="Helvetica Neue"/>
                <a:cs typeface="Helvetica Neue"/>
              </a:defRPr>
            </a:pPr>
            <a:r>
              <a:rPr sz="975" b="0">
                <a:solidFill>
                  <a:srgbClr val="66798D"/>
                </a:solidFill>
                <a:latin typeface="Helvetica Neue"/>
                <a:ea typeface="Helvetica Neue"/>
                <a:cs typeface="Helvetica Neue"/>
              </a:rPr>
              <a:t>02</a:t>
            </a:r>
          </a:p>
        </p:txBody>
      </p:sp>
      <p:sp>
        <p:nvSpPr>
          <p:cNvPr id="8" name="">
            <a:extLst xmlns:a="http://schemas.openxmlformats.org/drawingml/2006/main">
              <a:ext uri="{FF2B5EF4-FFF2-40B4-BE49-F238E27FC236}">
                <a16:creationId xmlns:a16="http://schemas.microsoft.com/office/drawing/2014/main" id="{E71EE88D-83E6-4C3A-B55E-03A2D2194D12}"/>
              </a:ext>
            </a:extLst>
          </p:cNvPr>
          <p:cNvSpPr>
            <a:spLocks xmlns:a="http://schemas.openxmlformats.org/drawingml/2006/main" noGrp="1"/>
          </p:cNvSpPr>
          <p:nvPr/>
        </p:nvSpPr>
        <p:spPr>
          <a:xfrm xmlns:a="http://schemas.openxmlformats.org/drawingml/2006/main">
            <a:off x="647700" y="146685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725" b="1">
                <a:solidFill>
                  <a:srgbClr val="10263D"/>
                </a:solidFill>
                <a:latin typeface="Helvetica Neue"/>
                <a:ea typeface="Helvetica Neue"/>
                <a:cs typeface="Helvetica Neue"/>
              </a:defRPr>
            </a:pPr>
            <a:r>
              <a:rPr sz="1725" b="1">
                <a:solidFill>
                  <a:srgbClr val="10263D"/>
                </a:solidFill>
                <a:latin typeface="Helvetica Neue"/>
                <a:ea typeface="Helvetica Neue"/>
                <a:cs typeface="Helvetica Neue"/>
              </a:rPr>
              <a:t>Critères de sélection</a:t>
            </a:r>
          </a:p>
        </p:txBody>
      </p:sp>
      <p:sp>
        <p:nvSpPr>
          <p:cNvPr id="9" name="">
            <a:extLst xmlns:a="http://schemas.openxmlformats.org/drawingml/2006/main">
              <a:ext uri="{FF2B5EF4-FFF2-40B4-BE49-F238E27FC236}">
                <a16:creationId xmlns:a16="http://schemas.microsoft.com/office/drawing/2014/main" id="{66175EC5-ACC7-4518-B1D8-919B57F33446}"/>
              </a:ext>
            </a:extLst>
          </p:cNvPr>
          <p:cNvSpPr>
            <a:spLocks xmlns:a="http://schemas.openxmlformats.org/drawingml/2006/main" noGrp="1"/>
          </p:cNvSpPr>
          <p:nvPr/>
        </p:nvSpPr>
        <p:spPr>
          <a:xfrm xmlns:a="http://schemas.openxmlformats.org/drawingml/2006/main">
            <a:off x="666750" y="1981200"/>
            <a:ext cx="533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725" b="1">
                <a:solidFill>
                  <a:srgbClr val="187C78"/>
                </a:solidFill>
                <a:latin typeface="Helvetica Neue"/>
                <a:ea typeface="Helvetica Neue"/>
                <a:cs typeface="Helvetica Neue"/>
              </a:defRPr>
            </a:pPr>
            <a:r>
              <a:rPr sz="1725" b="1">
                <a:solidFill>
                  <a:srgbClr val="187C78"/>
                </a:solidFill>
                <a:latin typeface="Helvetica Neue"/>
                <a:ea typeface="Helvetica Neue"/>
                <a:cs typeface="Helvetica Neue"/>
              </a:rPr>
              <a:t>01</a:t>
            </a:r>
          </a:p>
        </p:txBody>
      </p:sp>
      <p:sp>
        <p:nvSpPr>
          <p:cNvPr id="10" name="">
            <a:extLst xmlns:a="http://schemas.openxmlformats.org/drawingml/2006/main">
              <a:ext uri="{FF2B5EF4-FFF2-40B4-BE49-F238E27FC236}">
                <a16:creationId xmlns:a16="http://schemas.microsoft.com/office/drawing/2014/main" id="{8EB976AD-F437-4133-B27E-7382EFE3E890}"/>
              </a:ext>
            </a:extLst>
          </p:cNvPr>
          <p:cNvSpPr>
            <a:spLocks xmlns:a="http://schemas.openxmlformats.org/drawingml/2006/main" noGrp="1"/>
          </p:cNvSpPr>
          <p:nvPr/>
        </p:nvSpPr>
        <p:spPr>
          <a:xfrm xmlns:a="http://schemas.openxmlformats.org/drawingml/2006/main">
            <a:off x="1352550" y="1981200"/>
            <a:ext cx="381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575" b="1">
                <a:solidFill>
                  <a:srgbClr val="10263D"/>
                </a:solidFill>
                <a:latin typeface="Helvetica Neue"/>
                <a:ea typeface="Helvetica Neue"/>
                <a:cs typeface="Helvetica Neue"/>
              </a:defRPr>
            </a:pPr>
            <a:r>
              <a:rPr sz="1575" b="1">
                <a:solidFill>
                  <a:srgbClr val="10263D"/>
                </a:solidFill>
                <a:latin typeface="Helvetica Neue"/>
                <a:ea typeface="Helvetica Neue"/>
                <a:cs typeface="Helvetica Neue"/>
              </a:rPr>
              <a:t>Documentation officielle</a:t>
            </a:r>
          </a:p>
        </p:txBody>
      </p:sp>
      <p:sp>
        <p:nvSpPr>
          <p:cNvPr id="11" name="">
            <a:extLst xmlns:a="http://schemas.openxmlformats.org/drawingml/2006/main">
              <a:ext uri="{FF2B5EF4-FFF2-40B4-BE49-F238E27FC236}">
                <a16:creationId xmlns:a16="http://schemas.microsoft.com/office/drawing/2014/main" id="{BFF00DAB-B845-40CA-9FA7-D84985E47F4F}"/>
              </a:ext>
            </a:extLst>
          </p:cNvPr>
          <p:cNvSpPr>
            <a:spLocks xmlns:a="http://schemas.openxmlformats.org/drawingml/2006/main" noGrp="1"/>
          </p:cNvSpPr>
          <p:nvPr/>
        </p:nvSpPr>
        <p:spPr>
          <a:xfrm xmlns:a="http://schemas.openxmlformats.org/drawingml/2006/main">
            <a:off x="1352550" y="2333625"/>
            <a:ext cx="723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75" b="0">
                <a:solidFill>
                  <a:srgbClr val="203247"/>
                </a:solidFill>
                <a:latin typeface="Helvetica Neue"/>
                <a:ea typeface="Helvetica Neue"/>
                <a:cs typeface="Helvetica Neue"/>
              </a:defRPr>
            </a:pPr>
            <a:r>
              <a:rPr sz="1275" b="0">
                <a:solidFill>
                  <a:srgbClr val="203247"/>
                </a:solidFill>
                <a:latin typeface="Helvetica Neue"/>
                <a:ea typeface="Helvetica Neue"/>
                <a:cs typeface="Helvetica Neue"/>
              </a:rPr>
              <a:t>Définition des règles, sources et formats de résultats.</a:t>
            </a:r>
          </a:p>
        </p:txBody>
      </p:sp>
      <p:sp>
        <p:nvSpPr>
          <p:cNvPr id="12" name="">
            <a:extLst xmlns:a="http://schemas.openxmlformats.org/drawingml/2006/main">
              <a:ext uri="{FF2B5EF4-FFF2-40B4-BE49-F238E27FC236}">
                <a16:creationId xmlns:a16="http://schemas.microsoft.com/office/drawing/2014/main" id="{53775906-00E0-4EA8-B99B-8937C26B0BA4}"/>
              </a:ext>
            </a:extLst>
          </p:cNvPr>
          <p:cNvSpPr>
            <a:spLocks xmlns:a="http://schemas.openxmlformats.org/drawingml/2006/main" noGrp="1"/>
          </p:cNvSpPr>
          <p:nvPr/>
        </p:nvSpPr>
        <p:spPr>
          <a:xfrm xmlns:a="http://schemas.openxmlformats.org/drawingml/2006/main">
            <a:off x="1352550" y="2819400"/>
            <a:ext cx="9810750" cy="9525"/>
          </a:xfrm>
          <a:prstGeom xmlns:a="http://schemas.openxmlformats.org/drawingml/2006/main" prst="rect">
            <a:avLst/>
          </a:prstGeom>
          <a:solidFill xmlns:a="http://schemas.openxmlformats.org/drawingml/2006/main">
            <a:srgbClr val="D9E1E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8929787-518D-47BA-A230-A8A7FFAFC5F8}"/>
              </a:ext>
            </a:extLst>
          </p:cNvPr>
          <p:cNvSpPr>
            <a:spLocks xmlns:a="http://schemas.openxmlformats.org/drawingml/2006/main" noGrp="1"/>
          </p:cNvSpPr>
          <p:nvPr/>
        </p:nvSpPr>
        <p:spPr>
          <a:xfrm xmlns:a="http://schemas.openxmlformats.org/drawingml/2006/main">
            <a:off x="666750" y="2943225"/>
            <a:ext cx="533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725" b="1">
                <a:solidFill>
                  <a:srgbClr val="D5A64A"/>
                </a:solidFill>
                <a:latin typeface="Helvetica Neue"/>
                <a:ea typeface="Helvetica Neue"/>
                <a:cs typeface="Helvetica Neue"/>
              </a:defRPr>
            </a:pPr>
            <a:r>
              <a:rPr sz="1725" b="1">
                <a:solidFill>
                  <a:srgbClr val="D5A64A"/>
                </a:solidFill>
                <a:latin typeface="Helvetica Neue"/>
                <a:ea typeface="Helvetica Neue"/>
                <a:cs typeface="Helvetica Neue"/>
              </a:rPr>
              <a:t>02</a:t>
            </a:r>
          </a:p>
        </p:txBody>
      </p:sp>
      <p:sp>
        <p:nvSpPr>
          <p:cNvPr id="14" name="">
            <a:extLst xmlns:a="http://schemas.openxmlformats.org/drawingml/2006/main">
              <a:ext uri="{FF2B5EF4-FFF2-40B4-BE49-F238E27FC236}">
                <a16:creationId xmlns:a16="http://schemas.microsoft.com/office/drawing/2014/main" id="{3D26856E-1997-4F0B-B332-801910DD3376}"/>
              </a:ext>
            </a:extLst>
          </p:cNvPr>
          <p:cNvSpPr>
            <a:spLocks xmlns:a="http://schemas.openxmlformats.org/drawingml/2006/main" noGrp="1"/>
          </p:cNvSpPr>
          <p:nvPr/>
        </p:nvSpPr>
        <p:spPr>
          <a:xfrm xmlns:a="http://schemas.openxmlformats.org/drawingml/2006/main">
            <a:off x="1352550" y="2943225"/>
            <a:ext cx="381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575" b="1">
                <a:solidFill>
                  <a:srgbClr val="10263D"/>
                </a:solidFill>
                <a:latin typeface="Helvetica Neue"/>
                <a:ea typeface="Helvetica Neue"/>
                <a:cs typeface="Helvetica Neue"/>
              </a:defRPr>
            </a:pPr>
            <a:r>
              <a:rPr sz="1575" b="1">
                <a:solidFill>
                  <a:srgbClr val="10263D"/>
                </a:solidFill>
                <a:latin typeface="Helvetica Neue"/>
                <a:ea typeface="Helvetica Neue"/>
                <a:cs typeface="Helvetica Neue"/>
              </a:rPr>
              <a:t>Dépôts et paquets</a:t>
            </a:r>
          </a:p>
        </p:txBody>
      </p:sp>
      <p:sp>
        <p:nvSpPr>
          <p:cNvPr id="15" name="">
            <a:extLst xmlns:a="http://schemas.openxmlformats.org/drawingml/2006/main">
              <a:ext uri="{FF2B5EF4-FFF2-40B4-BE49-F238E27FC236}">
                <a16:creationId xmlns:a16="http://schemas.microsoft.com/office/drawing/2014/main" id="{E7CB3D6C-EADC-44A2-8490-4BF806C93EB1}"/>
              </a:ext>
            </a:extLst>
          </p:cNvPr>
          <p:cNvSpPr>
            <a:spLocks xmlns:a="http://schemas.openxmlformats.org/drawingml/2006/main" noGrp="1"/>
          </p:cNvSpPr>
          <p:nvPr/>
        </p:nvSpPr>
        <p:spPr>
          <a:xfrm xmlns:a="http://schemas.openxmlformats.org/drawingml/2006/main">
            <a:off x="1352550" y="3295650"/>
            <a:ext cx="723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75" b="0">
                <a:solidFill>
                  <a:srgbClr val="203247"/>
                </a:solidFill>
                <a:latin typeface="Helvetica Neue"/>
                <a:ea typeface="Helvetica Neue"/>
                <a:cs typeface="Helvetica Neue"/>
              </a:defRPr>
            </a:pPr>
            <a:r>
              <a:rPr sz="1275" b="0">
                <a:solidFill>
                  <a:srgbClr val="203247"/>
                </a:solidFill>
                <a:latin typeface="Helvetica Neue"/>
                <a:ea typeface="Helvetica Neue"/>
                <a:cs typeface="Helvetica Neue"/>
              </a:rPr>
              <a:t>Vérification des versions réellement utilisées et des licences publiées.</a:t>
            </a:r>
          </a:p>
        </p:txBody>
      </p:sp>
      <p:sp>
        <p:nvSpPr>
          <p:cNvPr id="16" name="">
            <a:extLst xmlns:a="http://schemas.openxmlformats.org/drawingml/2006/main">
              <a:ext uri="{FF2B5EF4-FFF2-40B4-BE49-F238E27FC236}">
                <a16:creationId xmlns:a16="http://schemas.microsoft.com/office/drawing/2014/main" id="{0B5F582E-E50B-4281-B567-E0F3E2742290}"/>
              </a:ext>
            </a:extLst>
          </p:cNvPr>
          <p:cNvSpPr>
            <a:spLocks xmlns:a="http://schemas.openxmlformats.org/drawingml/2006/main" noGrp="1"/>
          </p:cNvSpPr>
          <p:nvPr/>
        </p:nvSpPr>
        <p:spPr>
          <a:xfrm xmlns:a="http://schemas.openxmlformats.org/drawingml/2006/main">
            <a:off x="1352550" y="3781425"/>
            <a:ext cx="9810750" cy="9525"/>
          </a:xfrm>
          <a:prstGeom xmlns:a="http://schemas.openxmlformats.org/drawingml/2006/main" prst="rect">
            <a:avLst/>
          </a:prstGeom>
          <a:solidFill xmlns:a="http://schemas.openxmlformats.org/drawingml/2006/main">
            <a:srgbClr val="D9E1E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79AB77A6-CBC8-4DCD-89CF-7080507E3E7E}"/>
              </a:ext>
            </a:extLst>
          </p:cNvPr>
          <p:cNvSpPr>
            <a:spLocks xmlns:a="http://schemas.openxmlformats.org/drawingml/2006/main" noGrp="1"/>
          </p:cNvSpPr>
          <p:nvPr/>
        </p:nvSpPr>
        <p:spPr>
          <a:xfrm xmlns:a="http://schemas.openxmlformats.org/drawingml/2006/main">
            <a:off x="666750" y="3905250"/>
            <a:ext cx="533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725" b="1">
                <a:solidFill>
                  <a:srgbClr val="187C78"/>
                </a:solidFill>
                <a:latin typeface="Helvetica Neue"/>
                <a:ea typeface="Helvetica Neue"/>
                <a:cs typeface="Helvetica Neue"/>
              </a:defRPr>
            </a:pPr>
            <a:r>
              <a:rPr sz="1725" b="1">
                <a:solidFill>
                  <a:srgbClr val="187C78"/>
                </a:solidFill>
                <a:latin typeface="Helvetica Neue"/>
                <a:ea typeface="Helvetica Neue"/>
                <a:cs typeface="Helvetica Neue"/>
              </a:rPr>
              <a:t>03</a:t>
            </a:r>
          </a:p>
        </p:txBody>
      </p:sp>
      <p:sp>
        <p:nvSpPr>
          <p:cNvPr id="18" name="">
            <a:extLst xmlns:a="http://schemas.openxmlformats.org/drawingml/2006/main">
              <a:ext uri="{FF2B5EF4-FFF2-40B4-BE49-F238E27FC236}">
                <a16:creationId xmlns:a16="http://schemas.microsoft.com/office/drawing/2014/main" id="{9922BAAB-4509-45A1-8B1B-551FDAA64581}"/>
              </a:ext>
            </a:extLst>
          </p:cNvPr>
          <p:cNvSpPr>
            <a:spLocks xmlns:a="http://schemas.openxmlformats.org/drawingml/2006/main" noGrp="1"/>
          </p:cNvSpPr>
          <p:nvPr/>
        </p:nvSpPr>
        <p:spPr>
          <a:xfrm xmlns:a="http://schemas.openxmlformats.org/drawingml/2006/main">
            <a:off x="1352550" y="3905250"/>
            <a:ext cx="381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575" b="1">
                <a:solidFill>
                  <a:srgbClr val="10263D"/>
                </a:solidFill>
                <a:latin typeface="Helvetica Neue"/>
                <a:ea typeface="Helvetica Neue"/>
                <a:cs typeface="Helvetica Neue"/>
              </a:defRPr>
            </a:pPr>
            <a:r>
              <a:rPr sz="1575" b="1">
                <a:solidFill>
                  <a:srgbClr val="10263D"/>
                </a:solidFill>
                <a:latin typeface="Helvetica Neue"/>
                <a:ea typeface="Helvetica Neue"/>
                <a:cs typeface="Helvetica Neue"/>
              </a:rPr>
              <a:t>Article scientifique</a:t>
            </a:r>
          </a:p>
        </p:txBody>
      </p:sp>
      <p:sp>
        <p:nvSpPr>
          <p:cNvPr id="19" name="">
            <a:extLst xmlns:a="http://schemas.openxmlformats.org/drawingml/2006/main">
              <a:ext uri="{FF2B5EF4-FFF2-40B4-BE49-F238E27FC236}">
                <a16:creationId xmlns:a16="http://schemas.microsoft.com/office/drawing/2014/main" id="{B5CB5F33-E0F7-4760-8449-8468435F3646}"/>
              </a:ext>
            </a:extLst>
          </p:cNvPr>
          <p:cNvSpPr>
            <a:spLocks xmlns:a="http://schemas.openxmlformats.org/drawingml/2006/main" noGrp="1"/>
          </p:cNvSpPr>
          <p:nvPr/>
        </p:nvSpPr>
        <p:spPr>
          <a:xfrm xmlns:a="http://schemas.openxmlformats.org/drawingml/2006/main">
            <a:off x="1352550" y="4257675"/>
            <a:ext cx="723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75" b="0">
                <a:solidFill>
                  <a:srgbClr val="203247"/>
                </a:solidFill>
                <a:latin typeface="Helvetica Neue"/>
                <a:ea typeface="Helvetica Neue"/>
                <a:cs typeface="Helvetica Neue"/>
              </a:defRPr>
            </a:pPr>
            <a:r>
              <a:rPr sz="1275" b="0">
                <a:solidFill>
                  <a:srgbClr val="203247"/>
                </a:solidFill>
                <a:latin typeface="Helvetica Neue"/>
                <a:ea typeface="Helvetica Neue"/>
                <a:cs typeface="Helvetica Neue"/>
              </a:rPr>
              <a:t>Mise en contexte de Deequ et de la vérification de qualité à grande échelle.</a:t>
            </a:r>
          </a:p>
        </p:txBody>
      </p:sp>
      <p:sp>
        <p:nvSpPr>
          <p:cNvPr id="20" name="">
            <a:extLst xmlns:a="http://schemas.openxmlformats.org/drawingml/2006/main">
              <a:ext uri="{FF2B5EF4-FFF2-40B4-BE49-F238E27FC236}">
                <a16:creationId xmlns:a16="http://schemas.microsoft.com/office/drawing/2014/main" id="{ACD61D44-4E0B-48FA-B7BD-685155E9FAF7}"/>
              </a:ext>
            </a:extLst>
          </p:cNvPr>
          <p:cNvSpPr>
            <a:spLocks xmlns:a="http://schemas.openxmlformats.org/drawingml/2006/main" noGrp="1"/>
          </p:cNvSpPr>
          <p:nvPr/>
        </p:nvSpPr>
        <p:spPr>
          <a:xfrm xmlns:a="http://schemas.openxmlformats.org/drawingml/2006/main">
            <a:off x="8858250" y="1876425"/>
            <a:ext cx="2686050" cy="2905125"/>
          </a:xfrm>
          <a:prstGeom xmlns:a="http://schemas.openxmlformats.org/drawingml/2006/main" prst="roundRect">
            <a:avLst>
              <a:gd name="adj" fmla="val 4965"/>
            </a:avLst>
          </a:prstGeom>
          <a:solidFill xmlns:a="http://schemas.openxmlformats.org/drawingml/2006/main">
            <a:srgbClr val="10263D"/>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B6CEDD18-9DF6-4251-A5B3-2F18EF90E008}"/>
              </a:ext>
            </a:extLst>
          </p:cNvPr>
          <p:cNvSpPr>
            <a:spLocks xmlns:a="http://schemas.openxmlformats.org/drawingml/2006/main" noGrp="1"/>
          </p:cNvSpPr>
          <p:nvPr/>
        </p:nvSpPr>
        <p:spPr>
          <a:xfrm xmlns:a="http://schemas.openxmlformats.org/drawingml/2006/main">
            <a:off x="9124950" y="2114550"/>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00" b="1">
                <a:solidFill>
                  <a:srgbClr val="B8C8D4"/>
                </a:solidFill>
                <a:latin typeface="Helvetica Neue"/>
                <a:ea typeface="Helvetica Neue"/>
                <a:cs typeface="Helvetica Neue"/>
              </a:defRPr>
            </a:pPr>
            <a:r>
              <a:rPr sz="1200" b="1">
                <a:solidFill>
                  <a:srgbClr val="B8C8D4"/>
                </a:solidFill>
                <a:latin typeface="Helvetica Neue"/>
                <a:ea typeface="Helvetica Neue"/>
                <a:cs typeface="Helvetica Neue"/>
              </a:rPr>
              <a:t>Date de consultation</a:t>
            </a:r>
          </a:p>
        </p:txBody>
      </p:sp>
      <p:sp>
        <p:nvSpPr>
          <p:cNvPr id="22" name="">
            <a:extLst xmlns:a="http://schemas.openxmlformats.org/drawingml/2006/main">
              <a:ext uri="{FF2B5EF4-FFF2-40B4-BE49-F238E27FC236}">
                <a16:creationId xmlns:a16="http://schemas.microsoft.com/office/drawing/2014/main" id="{8914076D-6145-4C59-8062-6AF4BF594A70}"/>
              </a:ext>
            </a:extLst>
          </p:cNvPr>
          <p:cNvSpPr>
            <a:spLocks xmlns:a="http://schemas.openxmlformats.org/drawingml/2006/main" noGrp="1"/>
          </p:cNvSpPr>
          <p:nvPr/>
        </p:nvSpPr>
        <p:spPr>
          <a:xfrm xmlns:a="http://schemas.openxmlformats.org/drawingml/2006/main">
            <a:off x="9124950" y="2533650"/>
            <a:ext cx="2143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98000"/>
              </a:lnSpc>
              <a:buNone/>
              <a:defRPr sz="2475" b="1">
                <a:solidFill>
                  <a:srgbClr val="FFFFFF"/>
                </a:solidFill>
                <a:latin typeface="Helvetica Neue"/>
                <a:ea typeface="Helvetica Neue"/>
                <a:cs typeface="Helvetica Neue"/>
              </a:defRPr>
            </a:pPr>
            <a:r>
              <a:rPr sz="2475" b="1">
                <a:solidFill>
                  <a:srgbClr val="FFFFFF"/>
                </a:solidFill>
                <a:latin typeface="Helvetica Neue"/>
                <a:ea typeface="Helvetica Neue"/>
                <a:cs typeface="Helvetica Neue"/>
              </a:rPr>
              <a:t>18 octobre</a:t>
            </a:r>
          </a:p>
          <a:p xmlns:a="http://schemas.openxmlformats.org/drawingml/2006/main">
            <a:pPr algn="l">
              <a:lnSpc>
                <a:spcPct val="98000"/>
              </a:lnSpc>
              <a:buNone/>
              <a:defRPr sz="2475" b="1">
                <a:solidFill>
                  <a:srgbClr val="FFFFFF"/>
                </a:solidFill>
                <a:latin typeface="Helvetica Neue"/>
                <a:ea typeface="Helvetica Neue"/>
                <a:cs typeface="Helvetica Neue"/>
              </a:defRPr>
            </a:pPr>
            <a:r>
              <a:rPr sz="2475" b="1">
                <a:solidFill>
                  <a:srgbClr val="FFFFFF"/>
                </a:solidFill>
                <a:latin typeface="Helvetica Neue"/>
                <a:ea typeface="Helvetica Neue"/>
                <a:cs typeface="Helvetica Neue"/>
              </a:rPr>
              <a:t>2026</a:t>
            </a:r>
          </a:p>
        </p:txBody>
      </p:sp>
      <p:sp>
        <p:nvSpPr>
          <p:cNvPr id="23" name="">
            <a:extLst xmlns:a="http://schemas.openxmlformats.org/drawingml/2006/main">
              <a:ext uri="{FF2B5EF4-FFF2-40B4-BE49-F238E27FC236}">
                <a16:creationId xmlns:a16="http://schemas.microsoft.com/office/drawing/2014/main" id="{48E2FA64-31D3-424A-AC06-EEACE06A3047}"/>
              </a:ext>
            </a:extLst>
          </p:cNvPr>
          <p:cNvSpPr>
            <a:spLocks xmlns:a="http://schemas.openxmlformats.org/drawingml/2006/main" noGrp="1"/>
          </p:cNvSpPr>
          <p:nvPr/>
        </p:nvSpPr>
        <p:spPr>
          <a:xfrm xmlns:a="http://schemas.openxmlformats.org/drawingml/2006/main">
            <a:off x="9124950" y="3638550"/>
            <a:ext cx="581025" cy="38100"/>
          </a:xfrm>
          <a:prstGeom xmlns:a="http://schemas.openxmlformats.org/drawingml/2006/main" prst="rect">
            <a:avLst/>
          </a:prstGeom>
          <a:solidFill xmlns:a="http://schemas.openxmlformats.org/drawingml/2006/main">
            <a:srgbClr val="D5A64A"/>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2D2D08C3-E1C9-4DD6-9051-59E7BA6CEA03}"/>
              </a:ext>
            </a:extLst>
          </p:cNvPr>
          <p:cNvSpPr>
            <a:spLocks xmlns:a="http://schemas.openxmlformats.org/drawingml/2006/main" noGrp="1"/>
          </p:cNvSpPr>
          <p:nvPr/>
        </p:nvSpPr>
        <p:spPr>
          <a:xfrm xmlns:a="http://schemas.openxmlformats.org/drawingml/2006/main">
            <a:off x="9124950" y="3857625"/>
            <a:ext cx="21050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486"/>
          </a:bodyPr>
          <a:lstStyle xmlns:a="http://schemas.openxmlformats.org/drawingml/2006/main"/>
          <a:p xmlns:a="http://schemas.openxmlformats.org/drawingml/2006/main">
            <a:pPr algn="l">
              <a:lnSpc>
                <a:spcPct val="105000"/>
              </a:lnSpc>
              <a:buNone/>
              <a:defRPr sz="1200" b="0">
                <a:solidFill>
                  <a:srgbClr val="D6E0E8"/>
                </a:solidFill>
                <a:latin typeface="Helvetica Neue"/>
                <a:ea typeface="Helvetica Neue"/>
                <a:cs typeface="Helvetica Neue"/>
              </a:defRPr>
            </a:pPr>
            <a:r>
              <a:rPr sz="1200" b="0">
                <a:solidFill>
                  <a:srgbClr val="D6E0E8"/>
                </a:solidFill>
                <a:latin typeface="Helvetica Neue"/>
                <a:ea typeface="Helvetica Neue"/>
                <a:cs typeface="Helvetica Neue"/>
              </a:rPr>
              <a:t>Sources retenues pour documenter les capacités; résultats mesurés dans le projet.</a:t>
            </a:r>
          </a:p>
        </p:txBody>
      </p:sp>
      <p:sp>
        <p:nvSpPr>
          <p:cNvPr id="25" name="">
            <a:extLst xmlns:a="http://schemas.openxmlformats.org/drawingml/2006/main">
              <a:ext uri="{FF2B5EF4-FFF2-40B4-BE49-F238E27FC236}">
                <a16:creationId xmlns:a16="http://schemas.microsoft.com/office/drawing/2014/main" id="{0198D66A-2CA3-4F7E-8C59-5B56B1F64846}"/>
              </a:ext>
            </a:extLst>
          </p:cNvPr>
          <p:cNvSpPr>
            <a:spLocks xmlns:a="http://schemas.openxmlformats.org/drawingml/2006/main" noGrp="1"/>
          </p:cNvSpPr>
          <p:nvPr/>
        </p:nvSpPr>
        <p:spPr>
          <a:xfrm xmlns:a="http://schemas.openxmlformats.org/drawingml/2006/main">
            <a:off x="647700" y="5314950"/>
            <a:ext cx="10810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0">
                <a:solidFill>
                  <a:srgbClr val="66798D"/>
                </a:solidFill>
                <a:latin typeface="Helvetica Neue"/>
                <a:ea typeface="Helvetica Neue"/>
                <a:cs typeface="Helvetica Neue"/>
              </a:defRPr>
            </a:pPr>
            <a:r>
              <a:rPr sz="1275" b="0">
                <a:solidFill>
                  <a:srgbClr val="66798D"/>
                </a:solidFill>
                <a:latin typeface="Helvetica Neue"/>
                <a:ea typeface="Helvetica Neue"/>
                <a:cs typeface="Helvetica Neue"/>
              </a:rPr>
              <a:t>La veille n’est pas une revue systématique exhaustive.</a:t>
            </a:r>
          </a:p>
        </p:txBody>
      </p:sp>
    </p:spTree>
    <p:extLst>
      <p:ext uri="{BB962C8B-B14F-4D97-AF65-F5344CB8AC3E}">
        <p14:creationId xmlns:p14="http://schemas.microsoft.com/office/powerpoint/2010/main" val="31460254"/>
      </p:ext>
    </p:extLst>
  </p:cSld>
</p:sld>
</file>

<file path=ppt/slides/slide3.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09195442-06C6-4E38-87D1-DF9C07B07007}"/>
              </a:ext>
            </a:extLst>
          </p:cNvPr>
          <p:cNvSpPr>
            <a:spLocks xmlns:a="http://schemas.openxmlformats.org/drawingml/2006/main" noGrp="1"/>
          </p:cNvSpPr>
          <p:nvPr/>
        </p:nvSpPr>
        <p:spPr>
          <a:xfrm xmlns:a="http://schemas.openxmlformats.org/drawingml/2006/main">
            <a:off x="0" y="0"/>
            <a:ext cx="12192000" cy="123825"/>
          </a:xfrm>
          <a:prstGeom xmlns:a="http://schemas.openxmlformats.org/drawingml/2006/main" prst="rect">
            <a:avLst/>
          </a:prstGeom>
          <a:solidFill xmlns:a="http://schemas.openxmlformats.org/drawingml/2006/main">
            <a:srgbClr val="10263D"/>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AA08633-429D-4EB3-94F3-E931ABDA20E5}"/>
              </a:ext>
            </a:extLst>
          </p:cNvPr>
          <p:cNvSpPr>
            <a:spLocks xmlns:a="http://schemas.openxmlformats.org/drawingml/2006/main" noGrp="1"/>
          </p:cNvSpPr>
          <p:nvPr/>
        </p:nvSpPr>
        <p:spPr>
          <a:xfrm xmlns:a="http://schemas.openxmlformats.org/drawingml/2006/main">
            <a:off x="0" y="123825"/>
            <a:ext cx="2095500" cy="47625"/>
          </a:xfrm>
          <a:prstGeom xmlns:a="http://schemas.openxmlformats.org/drawingml/2006/main" prst="rect">
            <a:avLst/>
          </a:prstGeom>
          <a:solidFill xmlns:a="http://schemas.openxmlformats.org/drawingml/2006/main">
            <a:srgbClr val="D5A64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AA67076-C224-4BD1-A958-11003392CAE2}"/>
              </a:ext>
            </a:extLst>
          </p:cNvPr>
          <p:cNvSpPr>
            <a:spLocks xmlns:a="http://schemas.openxmlformats.org/drawingml/2006/main" noGrp="1"/>
          </p:cNvSpPr>
          <p:nvPr/>
        </p:nvSpPr>
        <p:spPr>
          <a:xfrm xmlns:a="http://schemas.openxmlformats.org/drawingml/2006/main">
            <a:off x="647700" y="40005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125" b="1">
                <a:solidFill>
                  <a:srgbClr val="187C78"/>
                </a:solidFill>
                <a:latin typeface="Helvetica Neue"/>
                <a:ea typeface="Helvetica Neue"/>
                <a:cs typeface="Helvetica Neue"/>
              </a:defRPr>
            </a:pPr>
            <a:r>
              <a:rPr sz="1125" b="1">
                <a:solidFill>
                  <a:srgbClr val="187C78"/>
                </a:solidFill>
                <a:latin typeface="Helvetica Neue"/>
                <a:ea typeface="Helvetica Neue"/>
                <a:cs typeface="Helvetica Neue"/>
              </a:rPr>
              <a:t>MÉTHODE</a:t>
            </a:r>
          </a:p>
        </p:txBody>
      </p:sp>
      <p:sp>
        <p:nvSpPr>
          <p:cNvPr id="4" name="">
            <a:extLst xmlns:a="http://schemas.openxmlformats.org/drawingml/2006/main">
              <a:ext uri="{FF2B5EF4-FFF2-40B4-BE49-F238E27FC236}">
                <a16:creationId xmlns:a16="http://schemas.microsoft.com/office/drawing/2014/main" id="{465DE7D2-7325-4F15-81D2-D8B0EB75D575}"/>
              </a:ext>
            </a:extLst>
          </p:cNvPr>
          <p:cNvSpPr>
            <a:spLocks xmlns:a="http://schemas.openxmlformats.org/drawingml/2006/main" noGrp="1"/>
          </p:cNvSpPr>
          <p:nvPr/>
        </p:nvSpPr>
        <p:spPr>
          <a:xfrm xmlns:a="http://schemas.openxmlformats.org/drawingml/2006/main">
            <a:off x="647700" y="685800"/>
            <a:ext cx="10896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2775" b="1">
                <a:solidFill>
                  <a:srgbClr val="10263D"/>
                </a:solidFill>
                <a:latin typeface="Helvetica Neue"/>
                <a:ea typeface="Helvetica Neue"/>
                <a:cs typeface="Helvetica Neue"/>
              </a:defRPr>
            </a:pPr>
            <a:r>
              <a:rPr sz="2775" b="1">
                <a:solidFill>
                  <a:srgbClr val="10263D"/>
                </a:solidFill>
                <a:latin typeface="Helvetica Neue"/>
                <a:ea typeface="Helvetica Neue"/>
                <a:cs typeface="Helvetica Neue"/>
              </a:rPr>
              <a:t>Un protocole commun pour comparer</a:t>
            </a:r>
          </a:p>
        </p:txBody>
      </p:sp>
      <p:sp>
        <p:nvSpPr>
          <p:cNvPr id="5" name="">
            <a:extLst xmlns:a="http://schemas.openxmlformats.org/drawingml/2006/main">
              <a:ext uri="{FF2B5EF4-FFF2-40B4-BE49-F238E27FC236}">
                <a16:creationId xmlns:a16="http://schemas.microsoft.com/office/drawing/2014/main" id="{E8164ACC-1B02-4398-A604-80AC4AEF2A52}"/>
              </a:ext>
            </a:extLst>
          </p:cNvPr>
          <p:cNvSpPr>
            <a:spLocks xmlns:a="http://schemas.openxmlformats.org/drawingml/2006/main" noGrp="1"/>
          </p:cNvSpPr>
          <p:nvPr/>
        </p:nvSpPr>
        <p:spPr>
          <a:xfrm xmlns:a="http://schemas.openxmlformats.org/drawingml/2006/main">
            <a:off x="647700" y="6286500"/>
            <a:ext cx="10896600" cy="13335"/>
          </a:xfrm>
          <a:prstGeom xmlns:a="http://schemas.openxmlformats.org/drawingml/2006/main" prst="rect">
            <a:avLst/>
          </a:prstGeom>
          <a:solidFill xmlns:a="http://schemas.openxmlformats.org/drawingml/2006/main">
            <a:srgbClr val="D9E1E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691CA28-C08D-4259-82C2-E3A9C7A807F5}"/>
              </a:ext>
            </a:extLst>
          </p:cNvPr>
          <p:cNvSpPr>
            <a:spLocks xmlns:a="http://schemas.openxmlformats.org/drawingml/2006/main" noGrp="1"/>
          </p:cNvSpPr>
          <p:nvPr/>
        </p:nvSpPr>
        <p:spPr>
          <a:xfrm xmlns:a="http://schemas.openxmlformats.org/drawingml/2006/main">
            <a:off x="647700" y="6381750"/>
            <a:ext cx="933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975" b="0">
                <a:solidFill>
                  <a:srgbClr val="66798D"/>
                </a:solidFill>
                <a:latin typeface="Helvetica Neue"/>
                <a:ea typeface="Helvetica Neue"/>
                <a:cs typeface="Helvetica Neue"/>
              </a:defRPr>
            </a:pPr>
            <a:r>
              <a:rPr sz="975" b="0">
                <a:solidFill>
                  <a:srgbClr val="66798D"/>
                </a:solidFill>
                <a:latin typeface="Helvetica Neue"/>
                <a:ea typeface="Helvetica Neue"/>
                <a:cs typeface="Helvetica Neue"/>
              </a:rPr>
              <a:t>Projet individuel • Expérience contrôlée • 2026</a:t>
            </a:r>
          </a:p>
        </p:txBody>
      </p:sp>
      <p:sp>
        <p:nvSpPr>
          <p:cNvPr id="7" name="">
            <a:extLst xmlns:a="http://schemas.openxmlformats.org/drawingml/2006/main">
              <a:ext uri="{FF2B5EF4-FFF2-40B4-BE49-F238E27FC236}">
                <a16:creationId xmlns:a16="http://schemas.microsoft.com/office/drawing/2014/main" id="{AEA35C2A-CD0F-46CE-A686-353F96830CC8}"/>
              </a:ext>
            </a:extLst>
          </p:cNvPr>
          <p:cNvSpPr>
            <a:spLocks xmlns:a="http://schemas.openxmlformats.org/drawingml/2006/main" noGrp="1"/>
          </p:cNvSpPr>
          <p:nvPr/>
        </p:nvSpPr>
        <p:spPr>
          <a:xfrm xmlns:a="http://schemas.openxmlformats.org/drawingml/2006/main">
            <a:off x="10953750" y="63817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5000"/>
              </a:lnSpc>
              <a:buNone/>
              <a:defRPr sz="975" b="0">
                <a:solidFill>
                  <a:srgbClr val="66798D"/>
                </a:solidFill>
                <a:latin typeface="Helvetica Neue"/>
                <a:ea typeface="Helvetica Neue"/>
                <a:cs typeface="Helvetica Neue"/>
              </a:defRPr>
            </a:pPr>
            <a:r>
              <a:rPr sz="975" b="0">
                <a:solidFill>
                  <a:srgbClr val="66798D"/>
                </a:solidFill>
                <a:latin typeface="Helvetica Neue"/>
                <a:ea typeface="Helvetica Neue"/>
                <a:cs typeface="Helvetica Neue"/>
              </a:rPr>
              <a:t>03</a:t>
            </a:r>
          </a:p>
        </p:txBody>
      </p:sp>
      <p:sp>
        <p:nvSpPr>
          <p:cNvPr id="8" name="">
            <a:extLst xmlns:a="http://schemas.openxmlformats.org/drawingml/2006/main">
              <a:ext uri="{FF2B5EF4-FFF2-40B4-BE49-F238E27FC236}">
                <a16:creationId xmlns:a16="http://schemas.microsoft.com/office/drawing/2014/main" id="{186A9CA0-2F95-4AEA-9C20-2365524BFB49}"/>
              </a:ext>
            </a:extLst>
          </p:cNvPr>
          <p:cNvSpPr>
            <a:spLocks xmlns:a="http://schemas.openxmlformats.org/drawingml/2006/main" noGrp="1"/>
          </p:cNvSpPr>
          <p:nvPr/>
        </p:nvSpPr>
        <p:spPr>
          <a:xfrm xmlns:a="http://schemas.openxmlformats.org/drawingml/2006/main">
            <a:off x="647700" y="1552575"/>
            <a:ext cx="3333750" cy="1171575"/>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9525">
            <a:solidFill>
              <a:srgbClr val="D9E1E8"/>
            </a:solidFill>
          </a:ln>
        </p:spPr>
      </p:sp>
      <p:sp>
        <p:nvSpPr>
          <p:cNvPr id="9" name="">
            <a:extLst xmlns:a="http://schemas.openxmlformats.org/drawingml/2006/main">
              <a:ext uri="{FF2B5EF4-FFF2-40B4-BE49-F238E27FC236}">
                <a16:creationId xmlns:a16="http://schemas.microsoft.com/office/drawing/2014/main" id="{91C573AE-95E9-40CA-B461-BF7BA979BEC7}"/>
              </a:ext>
            </a:extLst>
          </p:cNvPr>
          <p:cNvSpPr>
            <a:spLocks xmlns:a="http://schemas.openxmlformats.org/drawingml/2006/main" noGrp="1"/>
          </p:cNvSpPr>
          <p:nvPr/>
        </p:nvSpPr>
        <p:spPr>
          <a:xfrm xmlns:a="http://schemas.openxmlformats.org/drawingml/2006/main">
            <a:off x="857250" y="1685925"/>
            <a:ext cx="2914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2850" b="1">
                <a:solidFill>
                  <a:srgbClr val="10263D"/>
                </a:solidFill>
                <a:latin typeface="Helvetica Neue"/>
                <a:ea typeface="Helvetica Neue"/>
                <a:cs typeface="Helvetica Neue"/>
              </a:defRPr>
            </a:pPr>
            <a:r>
              <a:rPr sz="2850" b="1">
                <a:solidFill>
                  <a:srgbClr val="10263D"/>
                </a:solidFill>
                <a:latin typeface="Helvetica Neue"/>
                <a:ea typeface="Helvetica Neue"/>
                <a:cs typeface="Helvetica Neue"/>
              </a:rPr>
              <a:t>50 000</a:t>
            </a:r>
          </a:p>
        </p:txBody>
      </p:sp>
      <p:sp>
        <p:nvSpPr>
          <p:cNvPr id="10" name="">
            <a:extLst xmlns:a="http://schemas.openxmlformats.org/drawingml/2006/main">
              <a:ext uri="{FF2B5EF4-FFF2-40B4-BE49-F238E27FC236}">
                <a16:creationId xmlns:a16="http://schemas.microsoft.com/office/drawing/2014/main" id="{80BCB3C0-759B-4337-8CFB-93E878B39D92}"/>
              </a:ext>
            </a:extLst>
          </p:cNvPr>
          <p:cNvSpPr>
            <a:spLocks xmlns:a="http://schemas.openxmlformats.org/drawingml/2006/main" noGrp="1"/>
          </p:cNvSpPr>
          <p:nvPr/>
        </p:nvSpPr>
        <p:spPr>
          <a:xfrm xmlns:a="http://schemas.openxmlformats.org/drawingml/2006/main">
            <a:off x="857250" y="2209800"/>
            <a:ext cx="2914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0">
                <a:solidFill>
                  <a:srgbClr val="66798D"/>
                </a:solidFill>
                <a:latin typeface="Helvetica Neue"/>
                <a:ea typeface="Helvetica Neue"/>
                <a:cs typeface="Helvetica Neue"/>
              </a:defRPr>
            </a:pPr>
            <a:r>
              <a:rPr sz="1275" b="0">
                <a:solidFill>
                  <a:srgbClr val="66798D"/>
                </a:solidFill>
                <a:latin typeface="Helvetica Neue"/>
                <a:ea typeface="Helvetica Neue"/>
                <a:cs typeface="Helvetica Neue"/>
              </a:rPr>
              <a:t>commandes dans le jeu mesuré</a:t>
            </a:r>
          </a:p>
        </p:txBody>
      </p:sp>
      <p:sp>
        <p:nvSpPr>
          <p:cNvPr id="11" name="">
            <a:extLst xmlns:a="http://schemas.openxmlformats.org/drawingml/2006/main">
              <a:ext uri="{FF2B5EF4-FFF2-40B4-BE49-F238E27FC236}">
                <a16:creationId xmlns:a16="http://schemas.microsoft.com/office/drawing/2014/main" id="{86DB9F78-9C84-4E14-A5CB-0375DC61721A}"/>
              </a:ext>
            </a:extLst>
          </p:cNvPr>
          <p:cNvSpPr>
            <a:spLocks xmlns:a="http://schemas.openxmlformats.org/drawingml/2006/main" noGrp="1"/>
          </p:cNvSpPr>
          <p:nvPr/>
        </p:nvSpPr>
        <p:spPr>
          <a:xfrm xmlns:a="http://schemas.openxmlformats.org/drawingml/2006/main">
            <a:off x="4286250" y="1552575"/>
            <a:ext cx="3333750" cy="1171575"/>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9525">
            <a:solidFill>
              <a:srgbClr val="D9E1E8"/>
            </a:solidFill>
          </a:ln>
        </p:spPr>
      </p:sp>
      <p:sp>
        <p:nvSpPr>
          <p:cNvPr id="12" name="">
            <a:extLst xmlns:a="http://schemas.openxmlformats.org/drawingml/2006/main">
              <a:ext uri="{FF2B5EF4-FFF2-40B4-BE49-F238E27FC236}">
                <a16:creationId xmlns:a16="http://schemas.microsoft.com/office/drawing/2014/main" id="{2396C289-885F-4D1E-A045-8DD00E1DCC05}"/>
              </a:ext>
            </a:extLst>
          </p:cNvPr>
          <p:cNvSpPr>
            <a:spLocks xmlns:a="http://schemas.openxmlformats.org/drawingml/2006/main" noGrp="1"/>
          </p:cNvSpPr>
          <p:nvPr/>
        </p:nvSpPr>
        <p:spPr>
          <a:xfrm xmlns:a="http://schemas.openxmlformats.org/drawingml/2006/main">
            <a:off x="4495800" y="1685925"/>
            <a:ext cx="2914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2850" b="1">
                <a:solidFill>
                  <a:srgbClr val="187C78"/>
                </a:solidFill>
                <a:latin typeface="Helvetica Neue"/>
                <a:ea typeface="Helvetica Neue"/>
                <a:cs typeface="Helvetica Neue"/>
              </a:defRPr>
            </a:pPr>
            <a:r>
              <a:rPr sz="2850" b="1">
                <a:solidFill>
                  <a:srgbClr val="187C78"/>
                </a:solidFill>
                <a:latin typeface="Helvetica Neue"/>
                <a:ea typeface="Helvetica Neue"/>
                <a:cs typeface="Helvetica Neue"/>
              </a:rPr>
              <a:t>12</a:t>
            </a:r>
          </a:p>
        </p:txBody>
      </p:sp>
      <p:sp>
        <p:nvSpPr>
          <p:cNvPr id="13" name="">
            <a:extLst xmlns:a="http://schemas.openxmlformats.org/drawingml/2006/main">
              <a:ext uri="{FF2B5EF4-FFF2-40B4-BE49-F238E27FC236}">
                <a16:creationId xmlns:a16="http://schemas.microsoft.com/office/drawing/2014/main" id="{3884A6B7-B1AC-4233-AC7B-DAE636B18BE3}"/>
              </a:ext>
            </a:extLst>
          </p:cNvPr>
          <p:cNvSpPr>
            <a:spLocks xmlns:a="http://schemas.openxmlformats.org/drawingml/2006/main" noGrp="1"/>
          </p:cNvSpPr>
          <p:nvPr/>
        </p:nvSpPr>
        <p:spPr>
          <a:xfrm xmlns:a="http://schemas.openxmlformats.org/drawingml/2006/main">
            <a:off x="4495800" y="2209800"/>
            <a:ext cx="2914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0">
                <a:solidFill>
                  <a:srgbClr val="66798D"/>
                </a:solidFill>
                <a:latin typeface="Helvetica Neue"/>
                <a:ea typeface="Helvetica Neue"/>
                <a:cs typeface="Helvetica Neue"/>
              </a:defRPr>
            </a:pPr>
            <a:r>
              <a:rPr sz="1275" b="0">
                <a:solidFill>
                  <a:srgbClr val="66798D"/>
                </a:solidFill>
                <a:latin typeface="Helvetica Neue"/>
                <a:ea typeface="Helvetica Neue"/>
                <a:cs typeface="Helvetica Neue"/>
              </a:rPr>
              <a:t>règles réparties en 4 dimensions</a:t>
            </a:r>
          </a:p>
        </p:txBody>
      </p:sp>
      <p:sp>
        <p:nvSpPr>
          <p:cNvPr id="14" name="">
            <a:extLst xmlns:a="http://schemas.openxmlformats.org/drawingml/2006/main">
              <a:ext uri="{FF2B5EF4-FFF2-40B4-BE49-F238E27FC236}">
                <a16:creationId xmlns:a16="http://schemas.microsoft.com/office/drawing/2014/main" id="{5F223C2D-E007-4B4A-9148-0CCB9A398D1B}"/>
              </a:ext>
            </a:extLst>
          </p:cNvPr>
          <p:cNvSpPr>
            <a:spLocks xmlns:a="http://schemas.openxmlformats.org/drawingml/2006/main" noGrp="1"/>
          </p:cNvSpPr>
          <p:nvPr/>
        </p:nvSpPr>
        <p:spPr>
          <a:xfrm xmlns:a="http://schemas.openxmlformats.org/drawingml/2006/main">
            <a:off x="7924800" y="1552575"/>
            <a:ext cx="3333750" cy="1171575"/>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9525">
            <a:solidFill>
              <a:srgbClr val="D9E1E8"/>
            </a:solidFill>
          </a:ln>
        </p:spPr>
      </p:sp>
      <p:sp>
        <p:nvSpPr>
          <p:cNvPr id="15" name="">
            <a:extLst xmlns:a="http://schemas.openxmlformats.org/drawingml/2006/main">
              <a:ext uri="{FF2B5EF4-FFF2-40B4-BE49-F238E27FC236}">
                <a16:creationId xmlns:a16="http://schemas.microsoft.com/office/drawing/2014/main" id="{FAEDCE2A-72DB-475C-9FFA-B3924A428837}"/>
              </a:ext>
            </a:extLst>
          </p:cNvPr>
          <p:cNvSpPr>
            <a:spLocks xmlns:a="http://schemas.openxmlformats.org/drawingml/2006/main" noGrp="1"/>
          </p:cNvSpPr>
          <p:nvPr/>
        </p:nvSpPr>
        <p:spPr>
          <a:xfrm xmlns:a="http://schemas.openxmlformats.org/drawingml/2006/main">
            <a:off x="8134350" y="1685925"/>
            <a:ext cx="2914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2850" b="1">
                <a:solidFill>
                  <a:srgbClr val="D5A64A"/>
                </a:solidFill>
                <a:latin typeface="Helvetica Neue"/>
                <a:ea typeface="Helvetica Neue"/>
                <a:cs typeface="Helvetica Neue"/>
              </a:defRPr>
            </a:pPr>
            <a:r>
              <a:rPr sz="2850" b="1">
                <a:solidFill>
                  <a:srgbClr val="D5A64A"/>
                </a:solidFill>
                <a:latin typeface="Helvetica Neue"/>
                <a:ea typeface="Helvetica Neue"/>
                <a:cs typeface="Helvetica Neue"/>
              </a:rPr>
              <a:t>5 × 3</a:t>
            </a:r>
          </a:p>
        </p:txBody>
      </p:sp>
      <p:sp>
        <p:nvSpPr>
          <p:cNvPr id="16" name="">
            <a:extLst xmlns:a="http://schemas.openxmlformats.org/drawingml/2006/main">
              <a:ext uri="{FF2B5EF4-FFF2-40B4-BE49-F238E27FC236}">
                <a16:creationId xmlns:a16="http://schemas.microsoft.com/office/drawing/2014/main" id="{CE38241A-5F7C-41D4-9FC5-184447DF5450}"/>
              </a:ext>
            </a:extLst>
          </p:cNvPr>
          <p:cNvSpPr>
            <a:spLocks xmlns:a="http://schemas.openxmlformats.org/drawingml/2006/main" noGrp="1"/>
          </p:cNvSpPr>
          <p:nvPr/>
        </p:nvSpPr>
        <p:spPr>
          <a:xfrm xmlns:a="http://schemas.openxmlformats.org/drawingml/2006/main">
            <a:off x="8134350" y="2209800"/>
            <a:ext cx="2914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0">
                <a:solidFill>
                  <a:srgbClr val="66798D"/>
                </a:solidFill>
                <a:latin typeface="Helvetica Neue"/>
                <a:ea typeface="Helvetica Neue"/>
                <a:cs typeface="Helvetica Neue"/>
              </a:defRPr>
            </a:pPr>
            <a:r>
              <a:rPr sz="1275" b="0">
                <a:solidFill>
                  <a:srgbClr val="66798D"/>
                </a:solidFill>
                <a:latin typeface="Helvetica Neue"/>
                <a:ea typeface="Helvetica Neue"/>
                <a:cs typeface="Helvetica Neue"/>
              </a:rPr>
              <a:t>répétitions par outil</a:t>
            </a:r>
          </a:p>
        </p:txBody>
      </p:sp>
      <p:sp>
        <p:nvSpPr>
          <p:cNvPr id="17" name="">
            <a:extLst xmlns:a="http://schemas.openxmlformats.org/drawingml/2006/main">
              <a:ext uri="{FF2B5EF4-FFF2-40B4-BE49-F238E27FC236}">
                <a16:creationId xmlns:a16="http://schemas.microsoft.com/office/drawing/2014/main" id="{25EA6307-E113-4078-98F4-850C8DE3AA46}"/>
              </a:ext>
            </a:extLst>
          </p:cNvPr>
          <p:cNvSpPr>
            <a:spLocks xmlns:a="http://schemas.openxmlformats.org/drawingml/2006/main" noGrp="1"/>
          </p:cNvSpPr>
          <p:nvPr/>
        </p:nvSpPr>
        <p:spPr>
          <a:xfrm xmlns:a="http://schemas.openxmlformats.org/drawingml/2006/main">
            <a:off x="647700" y="3114675"/>
            <a:ext cx="4572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650" b="1">
                <a:solidFill>
                  <a:srgbClr val="10263D"/>
                </a:solidFill>
                <a:latin typeface="Helvetica Neue"/>
                <a:ea typeface="Helvetica Neue"/>
                <a:cs typeface="Helvetica Neue"/>
              </a:defRPr>
            </a:pPr>
            <a:r>
              <a:rPr sz="1650" b="1">
                <a:solidFill>
                  <a:srgbClr val="10263D"/>
                </a:solidFill>
                <a:latin typeface="Helvetica Neue"/>
                <a:ea typeface="Helvetica Neue"/>
                <a:cs typeface="Helvetica Neue"/>
              </a:rPr>
              <a:t>Séquence expérimentale</a:t>
            </a:r>
          </a:p>
        </p:txBody>
      </p:sp>
      <p:sp>
        <p:nvSpPr>
          <p:cNvPr id="18" name="">
            <a:extLst xmlns:a="http://schemas.openxmlformats.org/drawingml/2006/main">
              <a:ext uri="{FF2B5EF4-FFF2-40B4-BE49-F238E27FC236}">
                <a16:creationId xmlns:a16="http://schemas.microsoft.com/office/drawing/2014/main" id="{C8F54E7E-1B65-4CEF-8DA7-4184AB9B56EA}"/>
              </a:ext>
            </a:extLst>
          </p:cNvPr>
          <p:cNvSpPr>
            <a:spLocks xmlns:a="http://schemas.openxmlformats.org/drawingml/2006/main" noGrp="1"/>
          </p:cNvSpPr>
          <p:nvPr/>
        </p:nvSpPr>
        <p:spPr>
          <a:xfrm xmlns:a="http://schemas.openxmlformats.org/drawingml/2006/main">
            <a:off x="647700" y="3638550"/>
            <a:ext cx="2400300" cy="1333500"/>
          </a:xfrm>
          <a:prstGeom xmlns:a="http://schemas.openxmlformats.org/drawingml/2006/main" prst="roundRect">
            <a:avLst>
              <a:gd name="adj" fmla="val 8571"/>
            </a:avLst>
          </a:prstGeom>
          <a:solidFill xmlns:a="http://schemas.openxmlformats.org/drawingml/2006/main">
            <a:srgbClr val="EDF2F7"/>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380EB1A4-7C8C-4C3B-A1C0-A31D5FBC42AE}"/>
              </a:ext>
            </a:extLst>
          </p:cNvPr>
          <p:cNvSpPr>
            <a:spLocks xmlns:a="http://schemas.openxmlformats.org/drawingml/2006/main" noGrp="1"/>
          </p:cNvSpPr>
          <p:nvPr/>
        </p:nvSpPr>
        <p:spPr>
          <a:xfrm xmlns:a="http://schemas.openxmlformats.org/drawingml/2006/main">
            <a:off x="819150" y="3781425"/>
            <a:ext cx="438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425" b="1">
                <a:solidFill>
                  <a:srgbClr val="187C78"/>
                </a:solidFill>
                <a:latin typeface="Helvetica Neue"/>
                <a:ea typeface="Helvetica Neue"/>
                <a:cs typeface="Helvetica Neue"/>
              </a:defRPr>
            </a:pPr>
            <a:r>
              <a:rPr sz="1425" b="1">
                <a:solidFill>
                  <a:srgbClr val="187C78"/>
                </a:solidFill>
                <a:latin typeface="Helvetica Neue"/>
                <a:ea typeface="Helvetica Neue"/>
                <a:cs typeface="Helvetica Neue"/>
              </a:rPr>
              <a:t>01</a:t>
            </a:r>
          </a:p>
        </p:txBody>
      </p:sp>
      <p:sp>
        <p:nvSpPr>
          <p:cNvPr id="20" name="">
            <a:extLst xmlns:a="http://schemas.openxmlformats.org/drawingml/2006/main">
              <a:ext uri="{FF2B5EF4-FFF2-40B4-BE49-F238E27FC236}">
                <a16:creationId xmlns:a16="http://schemas.microsoft.com/office/drawing/2014/main" id="{28A00A20-3AB5-45B3-B266-49525A6A81A1}"/>
              </a:ext>
            </a:extLst>
          </p:cNvPr>
          <p:cNvSpPr>
            <a:spLocks xmlns:a="http://schemas.openxmlformats.org/drawingml/2006/main" noGrp="1"/>
          </p:cNvSpPr>
          <p:nvPr/>
        </p:nvSpPr>
        <p:spPr>
          <a:xfrm xmlns:a="http://schemas.openxmlformats.org/drawingml/2006/main">
            <a:off x="819150" y="412432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575" b="1">
                <a:solidFill>
                  <a:srgbClr val="10263D"/>
                </a:solidFill>
                <a:latin typeface="Helvetica Neue"/>
                <a:ea typeface="Helvetica Neue"/>
                <a:cs typeface="Helvetica Neue"/>
              </a:defRPr>
            </a:pPr>
            <a:r>
              <a:rPr sz="1575" b="1">
                <a:solidFill>
                  <a:srgbClr val="10263D"/>
                </a:solidFill>
                <a:latin typeface="Helvetica Neue"/>
                <a:ea typeface="Helvetica Neue"/>
                <a:cs typeface="Helvetica Neue"/>
              </a:rPr>
              <a:t>Générer</a:t>
            </a:r>
          </a:p>
        </p:txBody>
      </p:sp>
      <p:sp>
        <p:nvSpPr>
          <p:cNvPr id="21" name="">
            <a:extLst xmlns:a="http://schemas.openxmlformats.org/drawingml/2006/main">
              <a:ext uri="{FF2B5EF4-FFF2-40B4-BE49-F238E27FC236}">
                <a16:creationId xmlns:a16="http://schemas.microsoft.com/office/drawing/2014/main" id="{696BCA77-E17E-4B84-A8AC-82A827372207}"/>
              </a:ext>
            </a:extLst>
          </p:cNvPr>
          <p:cNvSpPr>
            <a:spLocks xmlns:a="http://schemas.openxmlformats.org/drawingml/2006/main" noGrp="1"/>
          </p:cNvSpPr>
          <p:nvPr/>
        </p:nvSpPr>
        <p:spPr>
          <a:xfrm xmlns:a="http://schemas.openxmlformats.org/drawingml/2006/main">
            <a:off x="819150" y="4457700"/>
            <a:ext cx="2057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0">
                <a:solidFill>
                  <a:srgbClr val="66798D"/>
                </a:solidFill>
                <a:latin typeface="Helvetica Neue"/>
                <a:ea typeface="Helvetica Neue"/>
                <a:cs typeface="Helvetica Neue"/>
              </a:defRPr>
            </a:pPr>
            <a:r>
              <a:rPr sz="1200" b="0">
                <a:solidFill>
                  <a:srgbClr val="66798D"/>
                </a:solidFill>
                <a:latin typeface="Helvetica Neue"/>
                <a:ea typeface="Helvetica Neue"/>
                <a:cs typeface="Helvetica Neue"/>
              </a:rPr>
              <a:t>jeu propre + anomalies contrôlées</a:t>
            </a:r>
          </a:p>
        </p:txBody>
      </p:sp>
      <p:sp>
        <p:nvSpPr>
          <p:cNvPr id="22" name="">
            <a:extLst xmlns:a="http://schemas.openxmlformats.org/drawingml/2006/main">
              <a:ext uri="{FF2B5EF4-FFF2-40B4-BE49-F238E27FC236}">
                <a16:creationId xmlns:a16="http://schemas.microsoft.com/office/drawing/2014/main" id="{502AFBD5-45CC-40F9-AC2D-214944343FBE}"/>
              </a:ext>
            </a:extLst>
          </p:cNvPr>
          <p:cNvSpPr>
            <a:spLocks xmlns:a="http://schemas.openxmlformats.org/drawingml/2006/main" noGrp="1"/>
          </p:cNvSpPr>
          <p:nvPr/>
        </p:nvSpPr>
        <p:spPr>
          <a:xfrm xmlns:a="http://schemas.openxmlformats.org/drawingml/2006/main">
            <a:off x="3067050" y="4105275"/>
            <a:ext cx="266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725" b="1">
                <a:solidFill>
                  <a:srgbClr val="D5A64A"/>
                </a:solidFill>
                <a:latin typeface="Helvetica Neue"/>
                <a:ea typeface="Helvetica Neue"/>
                <a:cs typeface="Helvetica Neue"/>
              </a:defRPr>
            </a:pPr>
            <a:r>
              <a:rPr sz="1725" b="1">
                <a:solidFill>
                  <a:srgbClr val="D5A64A"/>
                </a:solidFill>
                <a:latin typeface="Helvetica Neue"/>
                <a:ea typeface="Helvetica Neue"/>
                <a:cs typeface="Helvetica Neue"/>
              </a:rPr>
              <a:t>→</a:t>
            </a:r>
          </a:p>
        </p:txBody>
      </p:sp>
      <p:sp>
        <p:nvSpPr>
          <p:cNvPr id="23" name="">
            <a:extLst xmlns:a="http://schemas.openxmlformats.org/drawingml/2006/main">
              <a:ext uri="{FF2B5EF4-FFF2-40B4-BE49-F238E27FC236}">
                <a16:creationId xmlns:a16="http://schemas.microsoft.com/office/drawing/2014/main" id="{58534231-29D6-499E-8FA3-B40A1577B6EC}"/>
              </a:ext>
            </a:extLst>
          </p:cNvPr>
          <p:cNvSpPr>
            <a:spLocks xmlns:a="http://schemas.openxmlformats.org/drawingml/2006/main" noGrp="1"/>
          </p:cNvSpPr>
          <p:nvPr/>
        </p:nvSpPr>
        <p:spPr>
          <a:xfrm xmlns:a="http://schemas.openxmlformats.org/drawingml/2006/main">
            <a:off x="3371850" y="3638550"/>
            <a:ext cx="2400300" cy="1333500"/>
          </a:xfrm>
          <a:prstGeom xmlns:a="http://schemas.openxmlformats.org/drawingml/2006/main" prst="roundRect">
            <a:avLst>
              <a:gd name="adj" fmla="val 8571"/>
            </a:avLst>
          </a:prstGeom>
          <a:solidFill xmlns:a="http://schemas.openxmlformats.org/drawingml/2006/main">
            <a:srgbClr val="EDF2F7"/>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0EE1DE55-52AA-4B21-BF7A-9C8A0CEFD00D}"/>
              </a:ext>
            </a:extLst>
          </p:cNvPr>
          <p:cNvSpPr>
            <a:spLocks xmlns:a="http://schemas.openxmlformats.org/drawingml/2006/main" noGrp="1"/>
          </p:cNvSpPr>
          <p:nvPr/>
        </p:nvSpPr>
        <p:spPr>
          <a:xfrm xmlns:a="http://schemas.openxmlformats.org/drawingml/2006/main">
            <a:off x="3543300" y="3781425"/>
            <a:ext cx="438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425" b="1">
                <a:solidFill>
                  <a:srgbClr val="187C78"/>
                </a:solidFill>
                <a:latin typeface="Helvetica Neue"/>
                <a:ea typeface="Helvetica Neue"/>
                <a:cs typeface="Helvetica Neue"/>
              </a:defRPr>
            </a:pPr>
            <a:r>
              <a:rPr sz="1425" b="1">
                <a:solidFill>
                  <a:srgbClr val="187C78"/>
                </a:solidFill>
                <a:latin typeface="Helvetica Neue"/>
                <a:ea typeface="Helvetica Neue"/>
                <a:cs typeface="Helvetica Neue"/>
              </a:rPr>
              <a:t>02</a:t>
            </a:r>
          </a:p>
        </p:txBody>
      </p:sp>
      <p:sp>
        <p:nvSpPr>
          <p:cNvPr id="25" name="">
            <a:extLst xmlns:a="http://schemas.openxmlformats.org/drawingml/2006/main">
              <a:ext uri="{FF2B5EF4-FFF2-40B4-BE49-F238E27FC236}">
                <a16:creationId xmlns:a16="http://schemas.microsoft.com/office/drawing/2014/main" id="{1B2C31DF-409B-4AA3-AD3B-849719C9422A}"/>
              </a:ext>
            </a:extLst>
          </p:cNvPr>
          <p:cNvSpPr>
            <a:spLocks xmlns:a="http://schemas.openxmlformats.org/drawingml/2006/main" noGrp="1"/>
          </p:cNvSpPr>
          <p:nvPr/>
        </p:nvSpPr>
        <p:spPr>
          <a:xfrm xmlns:a="http://schemas.openxmlformats.org/drawingml/2006/main">
            <a:off x="3543300" y="412432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575" b="1">
                <a:solidFill>
                  <a:srgbClr val="10263D"/>
                </a:solidFill>
                <a:latin typeface="Helvetica Neue"/>
                <a:ea typeface="Helvetica Neue"/>
                <a:cs typeface="Helvetica Neue"/>
              </a:defRPr>
            </a:pPr>
            <a:r>
              <a:rPr sz="1575" b="1">
                <a:solidFill>
                  <a:srgbClr val="10263D"/>
                </a:solidFill>
                <a:latin typeface="Helvetica Neue"/>
                <a:ea typeface="Helvetica Neue"/>
                <a:cs typeface="Helvetica Neue"/>
              </a:rPr>
              <a:t>Exécuter</a:t>
            </a:r>
          </a:p>
        </p:txBody>
      </p:sp>
      <p:sp>
        <p:nvSpPr>
          <p:cNvPr id="26" name="">
            <a:extLst xmlns:a="http://schemas.openxmlformats.org/drawingml/2006/main">
              <a:ext uri="{FF2B5EF4-FFF2-40B4-BE49-F238E27FC236}">
                <a16:creationId xmlns:a16="http://schemas.microsoft.com/office/drawing/2014/main" id="{6B50F14F-19F8-4364-8B32-96FBF38F8C77}"/>
              </a:ext>
            </a:extLst>
          </p:cNvPr>
          <p:cNvSpPr>
            <a:spLocks xmlns:a="http://schemas.openxmlformats.org/drawingml/2006/main" noGrp="1"/>
          </p:cNvSpPr>
          <p:nvPr/>
        </p:nvSpPr>
        <p:spPr>
          <a:xfrm xmlns:a="http://schemas.openxmlformats.org/drawingml/2006/main">
            <a:off x="3543300" y="4457700"/>
            <a:ext cx="2057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0">
                <a:solidFill>
                  <a:srgbClr val="66798D"/>
                </a:solidFill>
                <a:latin typeface="Helvetica Neue"/>
                <a:ea typeface="Helvetica Neue"/>
                <a:cs typeface="Helvetica Neue"/>
              </a:defRPr>
            </a:pPr>
            <a:r>
              <a:rPr sz="1200" b="0">
                <a:solidFill>
                  <a:srgbClr val="66798D"/>
                </a:solidFill>
                <a:latin typeface="Helvetica Neue"/>
                <a:ea typeface="Helvetica Neue"/>
                <a:cs typeface="Helvetica Neue"/>
              </a:rPr>
              <a:t>mêmes 12 règles dans chaque outil</a:t>
            </a:r>
          </a:p>
        </p:txBody>
      </p:sp>
      <p:sp>
        <p:nvSpPr>
          <p:cNvPr id="27" name="">
            <a:extLst xmlns:a="http://schemas.openxmlformats.org/drawingml/2006/main">
              <a:ext uri="{FF2B5EF4-FFF2-40B4-BE49-F238E27FC236}">
                <a16:creationId xmlns:a16="http://schemas.microsoft.com/office/drawing/2014/main" id="{29A3AB2E-664A-41A9-A657-2DE31655826E}"/>
              </a:ext>
            </a:extLst>
          </p:cNvPr>
          <p:cNvSpPr>
            <a:spLocks xmlns:a="http://schemas.openxmlformats.org/drawingml/2006/main" noGrp="1"/>
          </p:cNvSpPr>
          <p:nvPr/>
        </p:nvSpPr>
        <p:spPr>
          <a:xfrm xmlns:a="http://schemas.openxmlformats.org/drawingml/2006/main">
            <a:off x="5791200" y="4105275"/>
            <a:ext cx="266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725" b="1">
                <a:solidFill>
                  <a:srgbClr val="D5A64A"/>
                </a:solidFill>
                <a:latin typeface="Helvetica Neue"/>
                <a:ea typeface="Helvetica Neue"/>
                <a:cs typeface="Helvetica Neue"/>
              </a:defRPr>
            </a:pPr>
            <a:r>
              <a:rPr sz="1725" b="1">
                <a:solidFill>
                  <a:srgbClr val="D5A64A"/>
                </a:solidFill>
                <a:latin typeface="Helvetica Neue"/>
                <a:ea typeface="Helvetica Neue"/>
                <a:cs typeface="Helvetica Neue"/>
              </a:rPr>
              <a:t>→</a:t>
            </a:r>
          </a:p>
        </p:txBody>
      </p:sp>
      <p:sp>
        <p:nvSpPr>
          <p:cNvPr id="28" name="">
            <a:extLst xmlns:a="http://schemas.openxmlformats.org/drawingml/2006/main">
              <a:ext uri="{FF2B5EF4-FFF2-40B4-BE49-F238E27FC236}">
                <a16:creationId xmlns:a16="http://schemas.microsoft.com/office/drawing/2014/main" id="{8FE0C3BA-191D-43A4-A16D-7C73AAEBFEDC}"/>
              </a:ext>
            </a:extLst>
          </p:cNvPr>
          <p:cNvSpPr>
            <a:spLocks xmlns:a="http://schemas.openxmlformats.org/drawingml/2006/main" noGrp="1"/>
          </p:cNvSpPr>
          <p:nvPr/>
        </p:nvSpPr>
        <p:spPr>
          <a:xfrm xmlns:a="http://schemas.openxmlformats.org/drawingml/2006/main">
            <a:off x="6096000" y="3638550"/>
            <a:ext cx="2400300" cy="1333500"/>
          </a:xfrm>
          <a:prstGeom xmlns:a="http://schemas.openxmlformats.org/drawingml/2006/main" prst="roundRect">
            <a:avLst>
              <a:gd name="adj" fmla="val 8571"/>
            </a:avLst>
          </a:prstGeom>
          <a:solidFill xmlns:a="http://schemas.openxmlformats.org/drawingml/2006/main">
            <a:srgbClr val="EDF2F7"/>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A9AA5AD0-F6EA-4578-B4D1-79D9F877E838}"/>
              </a:ext>
            </a:extLst>
          </p:cNvPr>
          <p:cNvSpPr>
            <a:spLocks xmlns:a="http://schemas.openxmlformats.org/drawingml/2006/main" noGrp="1"/>
          </p:cNvSpPr>
          <p:nvPr/>
        </p:nvSpPr>
        <p:spPr>
          <a:xfrm xmlns:a="http://schemas.openxmlformats.org/drawingml/2006/main">
            <a:off x="6267450" y="3781425"/>
            <a:ext cx="438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425" b="1">
                <a:solidFill>
                  <a:srgbClr val="187C78"/>
                </a:solidFill>
                <a:latin typeface="Helvetica Neue"/>
                <a:ea typeface="Helvetica Neue"/>
                <a:cs typeface="Helvetica Neue"/>
              </a:defRPr>
            </a:pPr>
            <a:r>
              <a:rPr sz="1425" b="1">
                <a:solidFill>
                  <a:srgbClr val="187C78"/>
                </a:solidFill>
                <a:latin typeface="Helvetica Neue"/>
                <a:ea typeface="Helvetica Neue"/>
                <a:cs typeface="Helvetica Neue"/>
              </a:rPr>
              <a:t>03</a:t>
            </a:r>
          </a:p>
        </p:txBody>
      </p:sp>
      <p:sp>
        <p:nvSpPr>
          <p:cNvPr id="30" name="">
            <a:extLst xmlns:a="http://schemas.openxmlformats.org/drawingml/2006/main">
              <a:ext uri="{FF2B5EF4-FFF2-40B4-BE49-F238E27FC236}">
                <a16:creationId xmlns:a16="http://schemas.microsoft.com/office/drawing/2014/main" id="{53FF25E1-1829-4057-A84C-A5B0CA3C56DB}"/>
              </a:ext>
            </a:extLst>
          </p:cNvPr>
          <p:cNvSpPr>
            <a:spLocks xmlns:a="http://schemas.openxmlformats.org/drawingml/2006/main" noGrp="1"/>
          </p:cNvSpPr>
          <p:nvPr/>
        </p:nvSpPr>
        <p:spPr>
          <a:xfrm xmlns:a="http://schemas.openxmlformats.org/drawingml/2006/main">
            <a:off x="6267450" y="412432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575" b="1">
                <a:solidFill>
                  <a:srgbClr val="10263D"/>
                </a:solidFill>
                <a:latin typeface="Helvetica Neue"/>
                <a:ea typeface="Helvetica Neue"/>
                <a:cs typeface="Helvetica Neue"/>
              </a:defRPr>
            </a:pPr>
            <a:r>
              <a:rPr sz="1575" b="1">
                <a:solidFill>
                  <a:srgbClr val="10263D"/>
                </a:solidFill>
                <a:latin typeface="Helvetica Neue"/>
                <a:ea typeface="Helvetica Neue"/>
                <a:cs typeface="Helvetica Neue"/>
              </a:rPr>
              <a:t>Répéter</a:t>
            </a:r>
          </a:p>
        </p:txBody>
      </p:sp>
      <p:sp>
        <p:nvSpPr>
          <p:cNvPr id="31" name="">
            <a:extLst xmlns:a="http://schemas.openxmlformats.org/drawingml/2006/main">
              <a:ext uri="{FF2B5EF4-FFF2-40B4-BE49-F238E27FC236}">
                <a16:creationId xmlns:a16="http://schemas.microsoft.com/office/drawing/2014/main" id="{A4D00F13-DED3-400E-A3A5-A966DFFA28C5}"/>
              </a:ext>
            </a:extLst>
          </p:cNvPr>
          <p:cNvSpPr>
            <a:spLocks xmlns:a="http://schemas.openxmlformats.org/drawingml/2006/main" noGrp="1"/>
          </p:cNvSpPr>
          <p:nvPr/>
        </p:nvSpPr>
        <p:spPr>
          <a:xfrm xmlns:a="http://schemas.openxmlformats.org/drawingml/2006/main">
            <a:off x="6267450" y="4457700"/>
            <a:ext cx="2057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0">
                <a:solidFill>
                  <a:srgbClr val="66798D"/>
                </a:solidFill>
                <a:latin typeface="Helvetica Neue"/>
                <a:ea typeface="Helvetica Neue"/>
                <a:cs typeface="Helvetica Neue"/>
              </a:defRPr>
            </a:pPr>
            <a:r>
              <a:rPr sz="1200" b="0">
                <a:solidFill>
                  <a:srgbClr val="66798D"/>
                </a:solidFill>
                <a:latin typeface="Helvetica Neue"/>
                <a:ea typeface="Helvetica Neue"/>
                <a:cs typeface="Helvetica Neue"/>
              </a:rPr>
              <a:t>5 passages, médiane des durées</a:t>
            </a:r>
          </a:p>
        </p:txBody>
      </p:sp>
      <p:sp>
        <p:nvSpPr>
          <p:cNvPr id="32" name="">
            <a:extLst xmlns:a="http://schemas.openxmlformats.org/drawingml/2006/main">
              <a:ext uri="{FF2B5EF4-FFF2-40B4-BE49-F238E27FC236}">
                <a16:creationId xmlns:a16="http://schemas.microsoft.com/office/drawing/2014/main" id="{FCD4A80D-9A67-427B-AC20-11BF1CB3F7B6}"/>
              </a:ext>
            </a:extLst>
          </p:cNvPr>
          <p:cNvSpPr>
            <a:spLocks xmlns:a="http://schemas.openxmlformats.org/drawingml/2006/main" noGrp="1"/>
          </p:cNvSpPr>
          <p:nvPr/>
        </p:nvSpPr>
        <p:spPr>
          <a:xfrm xmlns:a="http://schemas.openxmlformats.org/drawingml/2006/main">
            <a:off x="8515350" y="4105275"/>
            <a:ext cx="266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725" b="1">
                <a:solidFill>
                  <a:srgbClr val="D5A64A"/>
                </a:solidFill>
                <a:latin typeface="Helvetica Neue"/>
                <a:ea typeface="Helvetica Neue"/>
                <a:cs typeface="Helvetica Neue"/>
              </a:defRPr>
            </a:pPr>
            <a:r>
              <a:rPr sz="1725" b="1">
                <a:solidFill>
                  <a:srgbClr val="D5A64A"/>
                </a:solidFill>
                <a:latin typeface="Helvetica Neue"/>
                <a:ea typeface="Helvetica Neue"/>
                <a:cs typeface="Helvetica Neue"/>
              </a:rPr>
              <a:t>→</a:t>
            </a:r>
          </a:p>
        </p:txBody>
      </p:sp>
      <p:sp>
        <p:nvSpPr>
          <p:cNvPr id="33" name="">
            <a:extLst xmlns:a="http://schemas.openxmlformats.org/drawingml/2006/main">
              <a:ext uri="{FF2B5EF4-FFF2-40B4-BE49-F238E27FC236}">
                <a16:creationId xmlns:a16="http://schemas.microsoft.com/office/drawing/2014/main" id="{F831E99B-9308-4ED4-AC9E-C680381554C8}"/>
              </a:ext>
            </a:extLst>
          </p:cNvPr>
          <p:cNvSpPr>
            <a:spLocks xmlns:a="http://schemas.openxmlformats.org/drawingml/2006/main" noGrp="1"/>
          </p:cNvSpPr>
          <p:nvPr/>
        </p:nvSpPr>
        <p:spPr>
          <a:xfrm xmlns:a="http://schemas.openxmlformats.org/drawingml/2006/main">
            <a:off x="8820150" y="3638550"/>
            <a:ext cx="2400300" cy="1333500"/>
          </a:xfrm>
          <a:prstGeom xmlns:a="http://schemas.openxmlformats.org/drawingml/2006/main" prst="roundRect">
            <a:avLst>
              <a:gd name="adj" fmla="val 8571"/>
            </a:avLst>
          </a:prstGeom>
          <a:solidFill xmlns:a="http://schemas.openxmlformats.org/drawingml/2006/main">
            <a:srgbClr val="E9F3F1"/>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C364838D-16A5-45CC-8E7A-5771C6E15223}"/>
              </a:ext>
            </a:extLst>
          </p:cNvPr>
          <p:cNvSpPr>
            <a:spLocks xmlns:a="http://schemas.openxmlformats.org/drawingml/2006/main" noGrp="1"/>
          </p:cNvSpPr>
          <p:nvPr/>
        </p:nvSpPr>
        <p:spPr>
          <a:xfrm xmlns:a="http://schemas.openxmlformats.org/drawingml/2006/main">
            <a:off x="8991600" y="3781425"/>
            <a:ext cx="438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425" b="1">
                <a:solidFill>
                  <a:srgbClr val="187C78"/>
                </a:solidFill>
                <a:latin typeface="Helvetica Neue"/>
                <a:ea typeface="Helvetica Neue"/>
                <a:cs typeface="Helvetica Neue"/>
              </a:defRPr>
            </a:pPr>
            <a:r>
              <a:rPr sz="1425" b="1">
                <a:solidFill>
                  <a:srgbClr val="187C78"/>
                </a:solidFill>
                <a:latin typeface="Helvetica Neue"/>
                <a:ea typeface="Helvetica Neue"/>
                <a:cs typeface="Helvetica Neue"/>
              </a:rPr>
              <a:t>04</a:t>
            </a:r>
          </a:p>
        </p:txBody>
      </p:sp>
      <p:sp>
        <p:nvSpPr>
          <p:cNvPr id="35" name="">
            <a:extLst xmlns:a="http://schemas.openxmlformats.org/drawingml/2006/main">
              <a:ext uri="{FF2B5EF4-FFF2-40B4-BE49-F238E27FC236}">
                <a16:creationId xmlns:a16="http://schemas.microsoft.com/office/drawing/2014/main" id="{08C085F5-4887-482C-945D-F0C491AB1AE0}"/>
              </a:ext>
            </a:extLst>
          </p:cNvPr>
          <p:cNvSpPr>
            <a:spLocks xmlns:a="http://schemas.openxmlformats.org/drawingml/2006/main" noGrp="1"/>
          </p:cNvSpPr>
          <p:nvPr/>
        </p:nvSpPr>
        <p:spPr>
          <a:xfrm xmlns:a="http://schemas.openxmlformats.org/drawingml/2006/main">
            <a:off x="8991600" y="412432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575" b="1">
                <a:solidFill>
                  <a:srgbClr val="10263D"/>
                </a:solidFill>
                <a:latin typeface="Helvetica Neue"/>
                <a:ea typeface="Helvetica Neue"/>
                <a:cs typeface="Helvetica Neue"/>
              </a:defRPr>
            </a:pPr>
            <a:r>
              <a:rPr sz="1575" b="1">
                <a:solidFill>
                  <a:srgbClr val="10263D"/>
                </a:solidFill>
                <a:latin typeface="Helvetica Neue"/>
                <a:ea typeface="Helvetica Neue"/>
                <a:cs typeface="Helvetica Neue"/>
              </a:rPr>
              <a:t>Comparer</a:t>
            </a:r>
          </a:p>
        </p:txBody>
      </p:sp>
      <p:sp>
        <p:nvSpPr>
          <p:cNvPr id="36" name="">
            <a:extLst xmlns:a="http://schemas.openxmlformats.org/drawingml/2006/main">
              <a:ext uri="{FF2B5EF4-FFF2-40B4-BE49-F238E27FC236}">
                <a16:creationId xmlns:a16="http://schemas.microsoft.com/office/drawing/2014/main" id="{B693F976-C71A-44D7-A44D-3C2F47D0651D}"/>
              </a:ext>
            </a:extLst>
          </p:cNvPr>
          <p:cNvSpPr>
            <a:spLocks xmlns:a="http://schemas.openxmlformats.org/drawingml/2006/main" noGrp="1"/>
          </p:cNvSpPr>
          <p:nvPr/>
        </p:nvSpPr>
        <p:spPr>
          <a:xfrm xmlns:a="http://schemas.openxmlformats.org/drawingml/2006/main">
            <a:off x="8991600" y="4457700"/>
            <a:ext cx="2057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0">
                <a:solidFill>
                  <a:srgbClr val="66798D"/>
                </a:solidFill>
                <a:latin typeface="Helvetica Neue"/>
                <a:ea typeface="Helvetica Neue"/>
                <a:cs typeface="Helvetica Neue"/>
              </a:defRPr>
            </a:pPr>
            <a:r>
              <a:rPr sz="1200" b="0">
                <a:solidFill>
                  <a:srgbClr val="66798D"/>
                </a:solidFill>
                <a:latin typeface="Helvetica Neue"/>
                <a:ea typeface="Helvetica Neue"/>
                <a:cs typeface="Helvetica Neue"/>
              </a:rPr>
              <a:t>comptes et sorties conservées</a:t>
            </a:r>
          </a:p>
        </p:txBody>
      </p:sp>
      <p:sp>
        <p:nvSpPr>
          <p:cNvPr id="37" name="">
            <a:extLst xmlns:a="http://schemas.openxmlformats.org/drawingml/2006/main">
              <a:ext uri="{FF2B5EF4-FFF2-40B4-BE49-F238E27FC236}">
                <a16:creationId xmlns:a16="http://schemas.microsoft.com/office/drawing/2014/main" id="{B7787D1E-692A-48B0-A0C0-6934D8CAD978}"/>
              </a:ext>
            </a:extLst>
          </p:cNvPr>
          <p:cNvSpPr>
            <a:spLocks xmlns:a="http://schemas.openxmlformats.org/drawingml/2006/main" noGrp="1"/>
          </p:cNvSpPr>
          <p:nvPr/>
        </p:nvSpPr>
        <p:spPr>
          <a:xfrm xmlns:a="http://schemas.openxmlformats.org/drawingml/2006/main">
            <a:off x="647700" y="533400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0">
                <a:solidFill>
                  <a:srgbClr val="66798D"/>
                </a:solidFill>
                <a:latin typeface="Helvetica Neue"/>
                <a:ea typeface="Helvetica Neue"/>
                <a:cs typeface="Helvetica Neue"/>
              </a:defRPr>
            </a:pPr>
            <a:r>
              <a:rPr sz="1275" b="0">
                <a:solidFill>
                  <a:srgbClr val="66798D"/>
                </a:solidFill>
                <a:latin typeface="Helvetica Neue"/>
                <a:ea typeface="Helvetica Neue"/>
                <a:cs typeface="Helvetica Neue"/>
              </a:rPr>
              <a:t>Jeu synthétique, graine fixe 20261018 • mesures locales • coûts de chargement / initialisation inclus</a:t>
            </a:r>
          </a:p>
        </p:txBody>
      </p:sp>
    </p:spTree>
    <p:extLst>
      <p:ext uri="{BB962C8B-B14F-4D97-AF65-F5344CB8AC3E}">
        <p14:creationId xmlns:p14="http://schemas.microsoft.com/office/powerpoint/2010/main" val="341382498"/>
      </p:ext>
    </p:extLst>
  </p:cSld>
</p:sld>
</file>

<file path=ppt/slides/slide4.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9C2C89C8-51D8-48B4-8AB3-BB4065C30BEE}"/>
              </a:ext>
            </a:extLst>
          </p:cNvPr>
          <p:cNvSpPr>
            <a:spLocks xmlns:a="http://schemas.openxmlformats.org/drawingml/2006/main" noGrp="1"/>
          </p:cNvSpPr>
          <p:nvPr/>
        </p:nvSpPr>
        <p:spPr>
          <a:xfrm xmlns:a="http://schemas.openxmlformats.org/drawingml/2006/main">
            <a:off x="0" y="0"/>
            <a:ext cx="12192000" cy="123825"/>
          </a:xfrm>
          <a:prstGeom xmlns:a="http://schemas.openxmlformats.org/drawingml/2006/main" prst="rect">
            <a:avLst/>
          </a:prstGeom>
          <a:solidFill xmlns:a="http://schemas.openxmlformats.org/drawingml/2006/main">
            <a:srgbClr val="10263D"/>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0A6844A-B984-49CA-91B1-2D307CED1B2A}"/>
              </a:ext>
            </a:extLst>
          </p:cNvPr>
          <p:cNvSpPr>
            <a:spLocks xmlns:a="http://schemas.openxmlformats.org/drawingml/2006/main" noGrp="1"/>
          </p:cNvSpPr>
          <p:nvPr/>
        </p:nvSpPr>
        <p:spPr>
          <a:xfrm xmlns:a="http://schemas.openxmlformats.org/drawingml/2006/main">
            <a:off x="0" y="123825"/>
            <a:ext cx="2095500" cy="47625"/>
          </a:xfrm>
          <a:prstGeom xmlns:a="http://schemas.openxmlformats.org/drawingml/2006/main" prst="rect">
            <a:avLst/>
          </a:prstGeom>
          <a:solidFill xmlns:a="http://schemas.openxmlformats.org/drawingml/2006/main">
            <a:srgbClr val="D5A64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E41A123-EF31-4E7D-A5E6-B1CAEBB9C0DA}"/>
              </a:ext>
            </a:extLst>
          </p:cNvPr>
          <p:cNvSpPr>
            <a:spLocks xmlns:a="http://schemas.openxmlformats.org/drawingml/2006/main" noGrp="1"/>
          </p:cNvSpPr>
          <p:nvPr/>
        </p:nvSpPr>
        <p:spPr>
          <a:xfrm xmlns:a="http://schemas.openxmlformats.org/drawingml/2006/main">
            <a:off x="647700" y="40005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125" b="1">
                <a:solidFill>
                  <a:srgbClr val="187C78"/>
                </a:solidFill>
                <a:latin typeface="Helvetica Neue"/>
                <a:ea typeface="Helvetica Neue"/>
                <a:cs typeface="Helvetica Neue"/>
              </a:defRPr>
            </a:pPr>
            <a:r>
              <a:rPr sz="1125" b="1">
                <a:solidFill>
                  <a:srgbClr val="187C78"/>
                </a:solidFill>
                <a:latin typeface="Helvetica Neue"/>
                <a:ea typeface="Helvetica Neue"/>
                <a:cs typeface="Helvetica Neue"/>
              </a:rPr>
              <a:t>PÉRIMÈTRE DES CONTRÔLES</a:t>
            </a:r>
          </a:p>
        </p:txBody>
      </p:sp>
      <p:sp>
        <p:nvSpPr>
          <p:cNvPr id="4" name="">
            <a:extLst xmlns:a="http://schemas.openxmlformats.org/drawingml/2006/main">
              <a:ext uri="{FF2B5EF4-FFF2-40B4-BE49-F238E27FC236}">
                <a16:creationId xmlns:a16="http://schemas.microsoft.com/office/drawing/2014/main" id="{B7F42273-FEC6-4CF9-A193-508FD0AF5A82}"/>
              </a:ext>
            </a:extLst>
          </p:cNvPr>
          <p:cNvSpPr>
            <a:spLocks xmlns:a="http://schemas.openxmlformats.org/drawingml/2006/main" noGrp="1"/>
          </p:cNvSpPr>
          <p:nvPr/>
        </p:nvSpPr>
        <p:spPr>
          <a:xfrm xmlns:a="http://schemas.openxmlformats.org/drawingml/2006/main">
            <a:off x="647700" y="685800"/>
            <a:ext cx="10896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2775" b="1">
                <a:solidFill>
                  <a:srgbClr val="10263D"/>
                </a:solidFill>
                <a:latin typeface="Helvetica Neue"/>
                <a:ea typeface="Helvetica Neue"/>
                <a:cs typeface="Helvetica Neue"/>
              </a:defRPr>
            </a:pPr>
            <a:r>
              <a:rPr sz="2775" b="1">
                <a:solidFill>
                  <a:srgbClr val="10263D"/>
                </a:solidFill>
                <a:latin typeface="Helvetica Neue"/>
                <a:ea typeface="Helvetica Neue"/>
                <a:cs typeface="Helvetica Neue"/>
              </a:rPr>
              <a:t>Les 12 règles couvrent quatre dimensions</a:t>
            </a:r>
          </a:p>
        </p:txBody>
      </p:sp>
      <p:sp>
        <p:nvSpPr>
          <p:cNvPr id="5" name="">
            <a:extLst xmlns:a="http://schemas.openxmlformats.org/drawingml/2006/main">
              <a:ext uri="{FF2B5EF4-FFF2-40B4-BE49-F238E27FC236}">
                <a16:creationId xmlns:a16="http://schemas.microsoft.com/office/drawing/2014/main" id="{4AC11168-DFE2-44D6-A7D2-736D3483284B}"/>
              </a:ext>
            </a:extLst>
          </p:cNvPr>
          <p:cNvSpPr>
            <a:spLocks xmlns:a="http://schemas.openxmlformats.org/drawingml/2006/main" noGrp="1"/>
          </p:cNvSpPr>
          <p:nvPr/>
        </p:nvSpPr>
        <p:spPr>
          <a:xfrm xmlns:a="http://schemas.openxmlformats.org/drawingml/2006/main">
            <a:off x="647700" y="6286500"/>
            <a:ext cx="10896600" cy="13335"/>
          </a:xfrm>
          <a:prstGeom xmlns:a="http://schemas.openxmlformats.org/drawingml/2006/main" prst="rect">
            <a:avLst/>
          </a:prstGeom>
          <a:solidFill xmlns:a="http://schemas.openxmlformats.org/drawingml/2006/main">
            <a:srgbClr val="D9E1E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514AF13-2216-4777-B6FF-B5A623F56D1C}"/>
              </a:ext>
            </a:extLst>
          </p:cNvPr>
          <p:cNvSpPr>
            <a:spLocks xmlns:a="http://schemas.openxmlformats.org/drawingml/2006/main" noGrp="1"/>
          </p:cNvSpPr>
          <p:nvPr/>
        </p:nvSpPr>
        <p:spPr>
          <a:xfrm xmlns:a="http://schemas.openxmlformats.org/drawingml/2006/main">
            <a:off x="647700" y="6381750"/>
            <a:ext cx="933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975" b="0">
                <a:solidFill>
                  <a:srgbClr val="66798D"/>
                </a:solidFill>
                <a:latin typeface="Helvetica Neue"/>
                <a:ea typeface="Helvetica Neue"/>
                <a:cs typeface="Helvetica Neue"/>
              </a:defRPr>
            </a:pPr>
            <a:r>
              <a:rPr sz="975" b="0">
                <a:solidFill>
                  <a:srgbClr val="66798D"/>
                </a:solidFill>
                <a:latin typeface="Helvetica Neue"/>
                <a:ea typeface="Helvetica Neue"/>
                <a:cs typeface="Helvetica Neue"/>
              </a:rPr>
              <a:t>Projet individuel • Expérience contrôlée • 2026</a:t>
            </a:r>
          </a:p>
        </p:txBody>
      </p:sp>
      <p:sp>
        <p:nvSpPr>
          <p:cNvPr id="7" name="">
            <a:extLst xmlns:a="http://schemas.openxmlformats.org/drawingml/2006/main">
              <a:ext uri="{FF2B5EF4-FFF2-40B4-BE49-F238E27FC236}">
                <a16:creationId xmlns:a16="http://schemas.microsoft.com/office/drawing/2014/main" id="{809FE500-7DCC-418D-B779-FF32D87432E6}"/>
              </a:ext>
            </a:extLst>
          </p:cNvPr>
          <p:cNvSpPr>
            <a:spLocks xmlns:a="http://schemas.openxmlformats.org/drawingml/2006/main" noGrp="1"/>
          </p:cNvSpPr>
          <p:nvPr/>
        </p:nvSpPr>
        <p:spPr>
          <a:xfrm xmlns:a="http://schemas.openxmlformats.org/drawingml/2006/main">
            <a:off x="10953750" y="63817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5000"/>
              </a:lnSpc>
              <a:buNone/>
              <a:defRPr sz="975" b="0">
                <a:solidFill>
                  <a:srgbClr val="66798D"/>
                </a:solidFill>
                <a:latin typeface="Helvetica Neue"/>
                <a:ea typeface="Helvetica Neue"/>
                <a:cs typeface="Helvetica Neue"/>
              </a:defRPr>
            </a:pPr>
            <a:r>
              <a:rPr sz="975" b="0">
                <a:solidFill>
                  <a:srgbClr val="66798D"/>
                </a:solidFill>
                <a:latin typeface="Helvetica Neue"/>
                <a:ea typeface="Helvetica Neue"/>
                <a:cs typeface="Helvetica Neue"/>
              </a:rPr>
              <a:t>04</a:t>
            </a:r>
          </a:p>
        </p:txBody>
      </p:sp>
      <p:graphicFrame>
        <p:nvGraphicFramePr>
          <p:cNvPr id="22" name=""/>
          <p:cNvGraphicFramePr/>
          <p:nvPr/>
        </p:nvGraphicFramePr>
        <p:xfrm>
          <a:off xmlns:a="http://schemas.openxmlformats.org/drawingml/2006/main" x="647700" y="1524000"/>
          <a:ext xmlns:a="http://schemas.openxmlformats.org/drawingml/2006/main" cx="6858000" cy="3667125"/>
        </p:xfrm>
        <a:graphic xmlns:a="http://schemas.openxmlformats.org/drawingml/2006/main">
          <a:graphicData uri="http://schemas.openxmlformats.org/drawingml/2006/table">
            <a:tbl>
              <a:tblPr firstRow="1" bandRow="1"/>
              <a:tblGrid>
                <a:gridCol w="2095500"/>
                <a:gridCol w="1047750"/>
                <a:gridCol w="3714750"/>
              </a:tblGrid>
              <a:tr h="457200">
                <a:tc>
                  <a:txBody>
                    <a:bodyPr/>
                    <a:lstStyle/>
                    <a:p>
                      <a:r>
                        <a:rPr sz="1275" b="1">
                          <a:solidFill>
                            <a:srgbClr val="FFFFFF"/>
                          </a:solidFill>
                          <a:latin typeface="Helvetica Neue"/>
                          <a:ea typeface="Helvetica Neue"/>
                          <a:cs typeface="Helvetica Neue"/>
                        </a:rPr>
                        <a:t>Dimension</a:t>
                      </a:r>
                    </a:p>
                  </a:txBody>
                  <a:tcPr marL="91440" marR="91440" marT="45720" marB="45720" anchor="ctr">
                    <a:solidFill>
                      <a:srgbClr val="10263D"/>
                    </a:solidFill>
                  </a:tcPr>
                </a:tc>
                <a:tc>
                  <a:txBody>
                    <a:bodyPr/>
                    <a:lstStyle/>
                    <a:p>
                      <a:r>
                        <a:rPr sz="1275" b="1">
                          <a:solidFill>
                            <a:srgbClr val="FFFFFF"/>
                          </a:solidFill>
                          <a:latin typeface="Helvetica Neue"/>
                          <a:ea typeface="Helvetica Neue"/>
                          <a:cs typeface="Helvetica Neue"/>
                        </a:rPr>
                        <a:t>Règles</a:t>
                      </a:r>
                    </a:p>
                  </a:txBody>
                  <a:tcPr marL="91440" marR="91440" marT="45720" marB="45720" anchor="ctr">
                    <a:solidFill>
                      <a:srgbClr val="10263D"/>
                    </a:solidFill>
                  </a:tcPr>
                </a:tc>
                <a:tc>
                  <a:txBody>
                    <a:bodyPr/>
                    <a:lstStyle/>
                    <a:p>
                      <a:r>
                        <a:rPr sz="1275" b="1">
                          <a:solidFill>
                            <a:srgbClr val="FFFFFF"/>
                          </a:solidFill>
                          <a:latin typeface="Helvetica Neue"/>
                          <a:ea typeface="Helvetica Neue"/>
                          <a:cs typeface="Helvetica Neue"/>
                        </a:rPr>
                        <a:t>Exemples</a:t>
                      </a:r>
                    </a:p>
                  </a:txBody>
                  <a:tcPr marL="91440" marR="91440" marT="45720" marB="45720" anchor="ctr">
                    <a:solidFill>
                      <a:srgbClr val="10263D"/>
                    </a:solidFill>
                  </a:tcPr>
                </a:tc>
              </a:tr>
              <a:tr h="800100">
                <a:tc>
                  <a:txBody>
                    <a:bodyPr/>
                    <a:lstStyle/>
                    <a:p>
                      <a:r>
                        <a:rPr sz="1350" b="0">
                          <a:solidFill>
                            <a:srgbClr val="203247"/>
                          </a:solidFill>
                          <a:latin typeface="Helvetica Neue"/>
                          <a:ea typeface="Helvetica Neue"/>
                          <a:cs typeface="Helvetica Neue"/>
                        </a:rPr>
                        <a:t>Complétude</a:t>
                      </a:r>
                    </a:p>
                  </a:txBody>
                  <a:tcPr marL="91440" marR="91440" marT="45720" marB="45720" anchor="ctr"/>
                </a:tc>
                <a:tc>
                  <a:txBody>
                    <a:bodyPr/>
                    <a:lstStyle/>
                    <a:p>
                      <a:r>
                        <a:rPr sz="1350" b="0">
                          <a:solidFill>
                            <a:srgbClr val="203247"/>
                          </a:solidFill>
                          <a:latin typeface="Helvetica Neue"/>
                          <a:ea typeface="Helvetica Neue"/>
                          <a:cs typeface="Helvetica Neue"/>
                        </a:rPr>
                        <a:t>3</a:t>
                      </a:r>
                    </a:p>
                  </a:txBody>
                  <a:tcPr marL="91440" marR="91440" marT="45720" marB="45720" anchor="ctr"/>
                </a:tc>
                <a:tc>
                  <a:txBody>
                    <a:bodyPr/>
                    <a:lstStyle/>
                    <a:p>
                      <a:r>
                        <a:rPr sz="1350" b="0">
                          <a:solidFill>
                            <a:srgbClr val="203247"/>
                          </a:solidFill>
                          <a:latin typeface="Helvetica Neue"/>
                          <a:ea typeface="Helvetica Neue"/>
                          <a:cs typeface="Helvetica Neue"/>
                        </a:rPr>
                        <a:t>Client, date et montant obligatoires</a:t>
                      </a:r>
                    </a:p>
                  </a:txBody>
                  <a:tcPr marL="91440" marR="91440" marT="45720" marB="45720" anchor="ctr"/>
                </a:tc>
              </a:tr>
              <a:tr h="800100">
                <a:tc>
                  <a:txBody>
                    <a:bodyPr/>
                    <a:lstStyle/>
                    <a:p>
                      <a:r>
                        <a:rPr sz="1350" b="0">
                          <a:solidFill>
                            <a:srgbClr val="203247"/>
                          </a:solidFill>
                          <a:latin typeface="Helvetica Neue"/>
                          <a:ea typeface="Helvetica Neue"/>
                          <a:cs typeface="Helvetica Neue"/>
                        </a:rPr>
                        <a:t>Unicité</a:t>
                      </a:r>
                    </a:p>
                  </a:txBody>
                  <a:tcPr marL="91440" marR="91440" marT="45720" marB="45720" anchor="ctr"/>
                </a:tc>
                <a:tc>
                  <a:txBody>
                    <a:bodyPr/>
                    <a:lstStyle/>
                    <a:p>
                      <a:r>
                        <a:rPr sz="1350" b="0">
                          <a:solidFill>
                            <a:srgbClr val="203247"/>
                          </a:solidFill>
                          <a:latin typeface="Helvetica Neue"/>
                          <a:ea typeface="Helvetica Neue"/>
                          <a:cs typeface="Helvetica Neue"/>
                        </a:rPr>
                        <a:t>2</a:t>
                      </a:r>
                    </a:p>
                  </a:txBody>
                  <a:tcPr marL="91440" marR="91440" marT="45720" marB="45720" anchor="ctr"/>
                </a:tc>
                <a:tc>
                  <a:txBody>
                    <a:bodyPr/>
                    <a:lstStyle/>
                    <a:p>
                      <a:r>
                        <a:rPr sz="1350" b="0">
                          <a:solidFill>
                            <a:srgbClr val="203247"/>
                          </a:solidFill>
                          <a:latin typeface="Helvetica Neue"/>
                          <a:ea typeface="Helvetica Neue"/>
                          <a:cs typeface="Helvetica Neue"/>
                        </a:rPr>
                        <a:t>Commande et référence de paiement</a:t>
                      </a:r>
                    </a:p>
                  </a:txBody>
                  <a:tcPr marL="91440" marR="91440" marT="45720" marB="45720" anchor="ctr"/>
                </a:tc>
              </a:tr>
              <a:tr h="800100">
                <a:tc>
                  <a:txBody>
                    <a:bodyPr/>
                    <a:lstStyle/>
                    <a:p>
                      <a:r>
                        <a:rPr sz="1350" b="0">
                          <a:solidFill>
                            <a:srgbClr val="203247"/>
                          </a:solidFill>
                          <a:latin typeface="Helvetica Neue"/>
                          <a:ea typeface="Helvetica Neue"/>
                          <a:cs typeface="Helvetica Neue"/>
                        </a:rPr>
                        <a:t>Validité</a:t>
                      </a:r>
                    </a:p>
                  </a:txBody>
                  <a:tcPr marL="91440" marR="91440" marT="45720" marB="45720" anchor="ctr"/>
                </a:tc>
                <a:tc>
                  <a:txBody>
                    <a:bodyPr/>
                    <a:lstStyle/>
                    <a:p>
                      <a:r>
                        <a:rPr sz="1350" b="0">
                          <a:solidFill>
                            <a:srgbClr val="203247"/>
                          </a:solidFill>
                          <a:latin typeface="Helvetica Neue"/>
                          <a:ea typeface="Helvetica Neue"/>
                          <a:cs typeface="Helvetica Neue"/>
                        </a:rPr>
                        <a:t>4</a:t>
                      </a:r>
                    </a:p>
                  </a:txBody>
                  <a:tcPr marL="91440" marR="91440" marT="45720" marB="45720" anchor="ctr"/>
                </a:tc>
                <a:tc>
                  <a:txBody>
                    <a:bodyPr/>
                    <a:lstStyle/>
                    <a:p>
                      <a:r>
                        <a:rPr sz="1350" b="0">
                          <a:solidFill>
                            <a:srgbClr val="203247"/>
                          </a:solidFill>
                          <a:latin typeface="Helvetica Neue"/>
                          <a:ea typeface="Helvetica Neue"/>
                          <a:cs typeface="Helvetica Neue"/>
                        </a:rPr>
                        <a:t>Quantité, prix, devise et statut</a:t>
                      </a:r>
                    </a:p>
                  </a:txBody>
                  <a:tcPr marL="91440" marR="91440" marT="45720" marB="45720" anchor="ctr"/>
                </a:tc>
              </a:tr>
              <a:tr h="800100">
                <a:tc>
                  <a:txBody>
                    <a:bodyPr/>
                    <a:lstStyle/>
                    <a:p>
                      <a:r>
                        <a:rPr sz="1350" b="0">
                          <a:solidFill>
                            <a:srgbClr val="203247"/>
                          </a:solidFill>
                          <a:latin typeface="Helvetica Neue"/>
                          <a:ea typeface="Helvetica Neue"/>
                          <a:cs typeface="Helvetica Neue"/>
                        </a:rPr>
                        <a:t>Cohérence</a:t>
                      </a:r>
                    </a:p>
                  </a:txBody>
                  <a:tcPr marL="91440" marR="91440" marT="45720" marB="45720" anchor="ctr"/>
                </a:tc>
                <a:tc>
                  <a:txBody>
                    <a:bodyPr/>
                    <a:lstStyle/>
                    <a:p>
                      <a:r>
                        <a:rPr sz="1350" b="0">
                          <a:solidFill>
                            <a:srgbClr val="203247"/>
                          </a:solidFill>
                          <a:latin typeface="Helvetica Neue"/>
                          <a:ea typeface="Helvetica Neue"/>
                          <a:cs typeface="Helvetica Neue"/>
                        </a:rPr>
                        <a:t>3</a:t>
                      </a:r>
                    </a:p>
                  </a:txBody>
                  <a:tcPr marL="91440" marR="91440" marT="45720" marB="45720" anchor="ctr"/>
                </a:tc>
                <a:tc>
                  <a:txBody>
                    <a:bodyPr/>
                    <a:lstStyle/>
                    <a:p>
                      <a:r>
                        <a:rPr sz="1350" b="0">
                          <a:solidFill>
                            <a:srgbClr val="203247"/>
                          </a:solidFill>
                          <a:latin typeface="Helvetica Neue"/>
                          <a:ea typeface="Helvetica Neue"/>
                          <a:cs typeface="Helvetica Neue"/>
                        </a:rPr>
                        <a:t>Montant, paiement et expédition</a:t>
                      </a:r>
                    </a:p>
                  </a:txBody>
                  <a:tcPr marL="91440" marR="91440" marT="45720" marB="45720" anchor="ctr"/>
                </a:tc>
              </a:tr>
            </a:tbl>
          </a:graphicData>
        </a:graphic>
      </p:graphicFrame>
      <p:sp>
        <p:nvSpPr>
          <p:cNvPr id="9" name="">
            <a:extLst xmlns:a="http://schemas.openxmlformats.org/drawingml/2006/main">
              <a:ext uri="{FF2B5EF4-FFF2-40B4-BE49-F238E27FC236}">
                <a16:creationId xmlns:a16="http://schemas.microsoft.com/office/drawing/2014/main" id="{45C17C05-7964-4874-A624-4B27B983F466}"/>
              </a:ext>
            </a:extLst>
          </p:cNvPr>
          <p:cNvSpPr>
            <a:spLocks xmlns:a="http://schemas.openxmlformats.org/drawingml/2006/main" noGrp="1"/>
          </p:cNvSpPr>
          <p:nvPr/>
        </p:nvSpPr>
        <p:spPr>
          <a:xfrm xmlns:a="http://schemas.openxmlformats.org/drawingml/2006/main">
            <a:off x="7858125" y="1524000"/>
            <a:ext cx="3686175" cy="3667125"/>
          </a:xfrm>
          <a:prstGeom xmlns:a="http://schemas.openxmlformats.org/drawingml/2006/main" prst="roundRect">
            <a:avLst>
              <a:gd name="adj" fmla="val 3636"/>
            </a:avLst>
          </a:prstGeom>
          <a:solidFill xmlns:a="http://schemas.openxmlformats.org/drawingml/2006/main">
            <a:srgbClr val="10263D"/>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5DD1DB6-C916-46A5-97B1-836BDB71053A}"/>
              </a:ext>
            </a:extLst>
          </p:cNvPr>
          <p:cNvSpPr>
            <a:spLocks xmlns:a="http://schemas.openxmlformats.org/drawingml/2006/main" noGrp="1"/>
          </p:cNvSpPr>
          <p:nvPr/>
        </p:nvSpPr>
        <p:spPr>
          <a:xfrm xmlns:a="http://schemas.openxmlformats.org/drawingml/2006/main">
            <a:off x="8172450" y="1828800"/>
            <a:ext cx="3048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3450" b="1">
                <a:solidFill>
                  <a:srgbClr val="FFFFFF"/>
                </a:solidFill>
                <a:latin typeface="Helvetica Neue"/>
                <a:ea typeface="Helvetica Neue"/>
                <a:cs typeface="Helvetica Neue"/>
              </a:defRPr>
            </a:pPr>
            <a:r>
              <a:rPr sz="3450" b="1">
                <a:solidFill>
                  <a:srgbClr val="FFFFFF"/>
                </a:solidFill>
                <a:latin typeface="Helvetica Neue"/>
                <a:ea typeface="Helvetica Neue"/>
                <a:cs typeface="Helvetica Neue"/>
              </a:rPr>
              <a:t>2 800</a:t>
            </a:r>
          </a:p>
        </p:txBody>
      </p:sp>
      <p:sp>
        <p:nvSpPr>
          <p:cNvPr id="11" name="">
            <a:extLst xmlns:a="http://schemas.openxmlformats.org/drawingml/2006/main">
              <a:ext uri="{FF2B5EF4-FFF2-40B4-BE49-F238E27FC236}">
                <a16:creationId xmlns:a16="http://schemas.microsoft.com/office/drawing/2014/main" id="{2D444250-8275-45C6-9835-0C39BFF08D5D}"/>
              </a:ext>
            </a:extLst>
          </p:cNvPr>
          <p:cNvSpPr>
            <a:spLocks xmlns:a="http://schemas.openxmlformats.org/drawingml/2006/main" noGrp="1"/>
          </p:cNvSpPr>
          <p:nvPr/>
        </p:nvSpPr>
        <p:spPr>
          <a:xfrm xmlns:a="http://schemas.openxmlformats.org/drawingml/2006/main">
            <a:off x="8172450" y="2505075"/>
            <a:ext cx="304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425" b="0">
                <a:solidFill>
                  <a:srgbClr val="C9D7E2"/>
                </a:solidFill>
                <a:latin typeface="Helvetica Neue"/>
                <a:ea typeface="Helvetica Neue"/>
                <a:cs typeface="Helvetica Neue"/>
              </a:defRPr>
            </a:pPr>
            <a:r>
              <a:rPr sz="1425" b="0">
                <a:solidFill>
                  <a:srgbClr val="C9D7E2"/>
                </a:solidFill>
                <a:latin typeface="Helvetica Neue"/>
                <a:ea typeface="Helvetica Neue"/>
                <a:cs typeface="Helvetica Neue"/>
              </a:rPr>
              <a:t>couples ligne–règle injectés</a:t>
            </a:r>
          </a:p>
        </p:txBody>
      </p:sp>
      <p:sp>
        <p:nvSpPr>
          <p:cNvPr id="12" name="">
            <a:extLst xmlns:a="http://schemas.openxmlformats.org/drawingml/2006/main">
              <a:ext uri="{FF2B5EF4-FFF2-40B4-BE49-F238E27FC236}">
                <a16:creationId xmlns:a16="http://schemas.microsoft.com/office/drawing/2014/main" id="{0A2337A8-C6BF-474B-BAB0-7666DF9620FA}"/>
              </a:ext>
            </a:extLst>
          </p:cNvPr>
          <p:cNvSpPr>
            <a:spLocks xmlns:a="http://schemas.openxmlformats.org/drawingml/2006/main" noGrp="1"/>
          </p:cNvSpPr>
          <p:nvPr/>
        </p:nvSpPr>
        <p:spPr>
          <a:xfrm xmlns:a="http://schemas.openxmlformats.org/drawingml/2006/main">
            <a:off x="8172450" y="3076575"/>
            <a:ext cx="666750" cy="38100"/>
          </a:xfrm>
          <a:prstGeom xmlns:a="http://schemas.openxmlformats.org/drawingml/2006/main" prst="rect">
            <a:avLst/>
          </a:prstGeom>
          <a:solidFill xmlns:a="http://schemas.openxmlformats.org/drawingml/2006/main">
            <a:srgbClr val="D5A64A"/>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582373CD-8E4F-4B1B-91F6-E81988A50A2A}"/>
              </a:ext>
            </a:extLst>
          </p:cNvPr>
          <p:cNvSpPr>
            <a:spLocks xmlns:a="http://schemas.openxmlformats.org/drawingml/2006/main" noGrp="1"/>
          </p:cNvSpPr>
          <p:nvPr/>
        </p:nvSpPr>
        <p:spPr>
          <a:xfrm xmlns:a="http://schemas.openxmlformats.org/drawingml/2006/main">
            <a:off x="8172450" y="3305175"/>
            <a:ext cx="3048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425" b="0">
                <a:solidFill>
                  <a:srgbClr val="FFFFFF"/>
                </a:solidFill>
                <a:latin typeface="Helvetica Neue"/>
                <a:ea typeface="Helvetica Neue"/>
                <a:cs typeface="Helvetica Neue"/>
              </a:defRPr>
            </a:pPr>
            <a:r>
              <a:rPr sz="1425" b="0">
                <a:solidFill>
                  <a:srgbClr val="FFFFFF"/>
                </a:solidFill>
                <a:latin typeface="Helvetica Neue"/>
                <a:ea typeface="Helvetica Neue"/>
                <a:cs typeface="Helvetica Neue"/>
              </a:rPr>
              <a:t>Anomalies réparties sans chevauchement pour faciliter l’attribution.</a:t>
            </a:r>
          </a:p>
        </p:txBody>
      </p:sp>
      <p:sp>
        <p:nvSpPr>
          <p:cNvPr id="14" name="">
            <a:extLst xmlns:a="http://schemas.openxmlformats.org/drawingml/2006/main">
              <a:ext uri="{FF2B5EF4-FFF2-40B4-BE49-F238E27FC236}">
                <a16:creationId xmlns:a16="http://schemas.microsoft.com/office/drawing/2014/main" id="{08F2BDA4-9A9C-4DB0-956A-F7E7B0031BC6}"/>
              </a:ext>
            </a:extLst>
          </p:cNvPr>
          <p:cNvSpPr>
            <a:spLocks xmlns:a="http://schemas.openxmlformats.org/drawingml/2006/main" noGrp="1"/>
          </p:cNvSpPr>
          <p:nvPr/>
        </p:nvSpPr>
        <p:spPr>
          <a:xfrm xmlns:a="http://schemas.openxmlformats.org/drawingml/2006/main">
            <a:off x="8172450" y="4343400"/>
            <a:ext cx="3048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75" b="0">
                <a:solidFill>
                  <a:srgbClr val="C9D7E2"/>
                </a:solidFill>
                <a:latin typeface="Helvetica Neue"/>
                <a:ea typeface="Helvetica Neue"/>
                <a:cs typeface="Helvetica Neue"/>
              </a:defRPr>
            </a:pPr>
            <a:r>
              <a:rPr sz="1275" b="0">
                <a:solidFill>
                  <a:srgbClr val="C9D7E2"/>
                </a:solidFill>
                <a:latin typeface="Helvetica Neue"/>
                <a:ea typeface="Helvetica Neue"/>
                <a:cs typeface="Helvetica Neue"/>
              </a:rPr>
              <a:t>U1 et U2 : 400 lignes affectées par règle.</a:t>
            </a:r>
          </a:p>
          <a:p xmlns:a="http://schemas.openxmlformats.org/drawingml/2006/main">
            <a:pPr algn="l">
              <a:lnSpc>
                <a:spcPct val="105000"/>
              </a:lnSpc>
              <a:buNone/>
              <a:defRPr sz="1275" b="0">
                <a:solidFill>
                  <a:srgbClr val="C9D7E2"/>
                </a:solidFill>
                <a:latin typeface="Helvetica Neue"/>
                <a:ea typeface="Helvetica Neue"/>
                <a:cs typeface="Helvetica Neue"/>
              </a:defRPr>
            </a:pPr>
            <a:r>
              <a:rPr sz="1275" b="0">
                <a:solidFill>
                  <a:srgbClr val="C9D7E2"/>
                </a:solidFill>
                <a:latin typeface="Helvetica Neue"/>
                <a:ea typeface="Helvetica Neue"/>
                <a:cs typeface="Helvetica Neue"/>
              </a:rPr>
              <a:t>Dix autres règles : 200 lignes par règle.</a:t>
            </a:r>
          </a:p>
        </p:txBody>
      </p:sp>
    </p:spTree>
    <p:extLst>
      <p:ext uri="{BB962C8B-B14F-4D97-AF65-F5344CB8AC3E}">
        <p14:creationId xmlns:p14="http://schemas.microsoft.com/office/powerpoint/2010/main" val="1545834386"/>
      </p:ext>
    </p:extLst>
  </p:cSld>
</p:sld>
</file>

<file path=ppt/slides/slide5.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91C17377-9DD3-4E35-B7E0-AD5F4BB62D1B}"/>
              </a:ext>
            </a:extLst>
          </p:cNvPr>
          <p:cNvSpPr>
            <a:spLocks xmlns:a="http://schemas.openxmlformats.org/drawingml/2006/main" noGrp="1"/>
          </p:cNvSpPr>
          <p:nvPr/>
        </p:nvSpPr>
        <p:spPr>
          <a:xfrm xmlns:a="http://schemas.openxmlformats.org/drawingml/2006/main">
            <a:off x="0" y="0"/>
            <a:ext cx="12192000" cy="123825"/>
          </a:xfrm>
          <a:prstGeom xmlns:a="http://schemas.openxmlformats.org/drawingml/2006/main" prst="rect">
            <a:avLst/>
          </a:prstGeom>
          <a:solidFill xmlns:a="http://schemas.openxmlformats.org/drawingml/2006/main">
            <a:srgbClr val="10263D"/>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3C46B5C-3A34-4095-BB28-F030A81F876F}"/>
              </a:ext>
            </a:extLst>
          </p:cNvPr>
          <p:cNvSpPr>
            <a:spLocks xmlns:a="http://schemas.openxmlformats.org/drawingml/2006/main" noGrp="1"/>
          </p:cNvSpPr>
          <p:nvPr/>
        </p:nvSpPr>
        <p:spPr>
          <a:xfrm xmlns:a="http://schemas.openxmlformats.org/drawingml/2006/main">
            <a:off x="0" y="123825"/>
            <a:ext cx="2095500" cy="47625"/>
          </a:xfrm>
          <a:prstGeom xmlns:a="http://schemas.openxmlformats.org/drawingml/2006/main" prst="rect">
            <a:avLst/>
          </a:prstGeom>
          <a:solidFill xmlns:a="http://schemas.openxmlformats.org/drawingml/2006/main">
            <a:srgbClr val="D5A64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35D9F12-9901-408E-9B3E-A61284FE5664}"/>
              </a:ext>
            </a:extLst>
          </p:cNvPr>
          <p:cNvSpPr>
            <a:spLocks xmlns:a="http://schemas.openxmlformats.org/drawingml/2006/main" noGrp="1"/>
          </p:cNvSpPr>
          <p:nvPr/>
        </p:nvSpPr>
        <p:spPr>
          <a:xfrm xmlns:a="http://schemas.openxmlformats.org/drawingml/2006/main">
            <a:off x="647700" y="40005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125" b="1">
                <a:solidFill>
                  <a:srgbClr val="187C78"/>
                </a:solidFill>
                <a:latin typeface="Helvetica Neue"/>
                <a:ea typeface="Helvetica Neue"/>
                <a:cs typeface="Helvetica Neue"/>
              </a:defRPr>
            </a:pPr>
            <a:r>
              <a:rPr sz="1125" b="1">
                <a:solidFill>
                  <a:srgbClr val="187C78"/>
                </a:solidFill>
                <a:latin typeface="Helvetica Neue"/>
                <a:ea typeface="Helvetica Neue"/>
                <a:cs typeface="Helvetica Neue"/>
              </a:rPr>
              <a:t>RÉSULTATS — DÉTECTION</a:t>
            </a:r>
          </a:p>
        </p:txBody>
      </p:sp>
      <p:sp>
        <p:nvSpPr>
          <p:cNvPr id="4" name="">
            <a:extLst xmlns:a="http://schemas.openxmlformats.org/drawingml/2006/main">
              <a:ext uri="{FF2B5EF4-FFF2-40B4-BE49-F238E27FC236}">
                <a16:creationId xmlns:a16="http://schemas.microsoft.com/office/drawing/2014/main" id="{6C890699-DCF1-43D1-8178-8C9FEDE389B2}"/>
              </a:ext>
            </a:extLst>
          </p:cNvPr>
          <p:cNvSpPr>
            <a:spLocks xmlns:a="http://schemas.openxmlformats.org/drawingml/2006/main" noGrp="1"/>
          </p:cNvSpPr>
          <p:nvPr/>
        </p:nvSpPr>
        <p:spPr>
          <a:xfrm xmlns:a="http://schemas.openxmlformats.org/drawingml/2006/main">
            <a:off x="647700" y="685800"/>
            <a:ext cx="10896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2775" b="1">
                <a:solidFill>
                  <a:srgbClr val="10263D"/>
                </a:solidFill>
                <a:latin typeface="Helvetica Neue"/>
                <a:ea typeface="Helvetica Neue"/>
                <a:cs typeface="Helvetica Neue"/>
              </a:defRPr>
            </a:pPr>
            <a:r>
              <a:rPr sz="2775" b="1">
                <a:solidFill>
                  <a:srgbClr val="10263D"/>
                </a:solidFill>
                <a:latin typeface="Helvetica Neue"/>
                <a:ea typeface="Helvetica Neue"/>
                <a:cs typeface="Helvetica Neue"/>
              </a:rPr>
              <a:t>Les trois outils retrouvent les comptes attendus</a:t>
            </a:r>
          </a:p>
        </p:txBody>
      </p:sp>
      <p:sp>
        <p:nvSpPr>
          <p:cNvPr id="5" name="">
            <a:extLst xmlns:a="http://schemas.openxmlformats.org/drawingml/2006/main">
              <a:ext uri="{FF2B5EF4-FFF2-40B4-BE49-F238E27FC236}">
                <a16:creationId xmlns:a16="http://schemas.microsoft.com/office/drawing/2014/main" id="{2DB3FA82-CF93-447E-8BF4-CECE8B0C6145}"/>
              </a:ext>
            </a:extLst>
          </p:cNvPr>
          <p:cNvSpPr>
            <a:spLocks xmlns:a="http://schemas.openxmlformats.org/drawingml/2006/main" noGrp="1"/>
          </p:cNvSpPr>
          <p:nvPr/>
        </p:nvSpPr>
        <p:spPr>
          <a:xfrm xmlns:a="http://schemas.openxmlformats.org/drawingml/2006/main">
            <a:off x="647700" y="6286500"/>
            <a:ext cx="10896600" cy="13335"/>
          </a:xfrm>
          <a:prstGeom xmlns:a="http://schemas.openxmlformats.org/drawingml/2006/main" prst="rect">
            <a:avLst/>
          </a:prstGeom>
          <a:solidFill xmlns:a="http://schemas.openxmlformats.org/drawingml/2006/main">
            <a:srgbClr val="D9E1E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C486A47-9FBF-4B46-9D84-CAFA75AA633B}"/>
              </a:ext>
            </a:extLst>
          </p:cNvPr>
          <p:cNvSpPr>
            <a:spLocks xmlns:a="http://schemas.openxmlformats.org/drawingml/2006/main" noGrp="1"/>
          </p:cNvSpPr>
          <p:nvPr/>
        </p:nvSpPr>
        <p:spPr>
          <a:xfrm xmlns:a="http://schemas.openxmlformats.org/drawingml/2006/main">
            <a:off x="647700" y="6381750"/>
            <a:ext cx="933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975" b="0">
                <a:solidFill>
                  <a:srgbClr val="66798D"/>
                </a:solidFill>
                <a:latin typeface="Helvetica Neue"/>
                <a:ea typeface="Helvetica Neue"/>
                <a:cs typeface="Helvetica Neue"/>
              </a:defRPr>
            </a:pPr>
            <a:r>
              <a:rPr sz="975" b="0">
                <a:solidFill>
                  <a:srgbClr val="66798D"/>
                </a:solidFill>
                <a:latin typeface="Helvetica Neue"/>
                <a:ea typeface="Helvetica Neue"/>
                <a:cs typeface="Helvetica Neue"/>
              </a:rPr>
              <a:t>Projet individuel • Expérience contrôlée • 2026</a:t>
            </a:r>
          </a:p>
        </p:txBody>
      </p:sp>
      <p:sp>
        <p:nvSpPr>
          <p:cNvPr id="7" name="">
            <a:extLst xmlns:a="http://schemas.openxmlformats.org/drawingml/2006/main">
              <a:ext uri="{FF2B5EF4-FFF2-40B4-BE49-F238E27FC236}">
                <a16:creationId xmlns:a16="http://schemas.microsoft.com/office/drawing/2014/main" id="{31A275B8-8700-4F28-B5D4-29BBD87D9E9B}"/>
              </a:ext>
            </a:extLst>
          </p:cNvPr>
          <p:cNvSpPr>
            <a:spLocks xmlns:a="http://schemas.openxmlformats.org/drawingml/2006/main" noGrp="1"/>
          </p:cNvSpPr>
          <p:nvPr/>
        </p:nvSpPr>
        <p:spPr>
          <a:xfrm xmlns:a="http://schemas.openxmlformats.org/drawingml/2006/main">
            <a:off x="10953750" y="63817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5000"/>
              </a:lnSpc>
              <a:buNone/>
              <a:defRPr sz="975" b="0">
                <a:solidFill>
                  <a:srgbClr val="66798D"/>
                </a:solidFill>
                <a:latin typeface="Helvetica Neue"/>
                <a:ea typeface="Helvetica Neue"/>
                <a:cs typeface="Helvetica Neue"/>
              </a:defRPr>
            </a:pPr>
            <a:r>
              <a:rPr sz="975" b="0">
                <a:solidFill>
                  <a:srgbClr val="66798D"/>
                </a:solidFill>
                <a:latin typeface="Helvetica Neue"/>
                <a:ea typeface="Helvetica Neue"/>
                <a:cs typeface="Helvetica Neue"/>
              </a:rPr>
              <a:t>05</a:t>
            </a:r>
          </a:p>
        </p:txBody>
      </p:sp>
      <p:graphicFrame>
        <p:nvGraphicFramePr>
          <p:cNvPr id="23" name=""/>
          <p:cNvGraphicFramePr/>
          <p:nvPr/>
        </p:nvGraphicFramePr>
        <p:xfrm>
          <a:off xmlns:a="http://schemas.openxmlformats.org/drawingml/2006/main" x="647700" y="1571625"/>
          <a:ext xmlns:a="http://schemas.openxmlformats.org/drawingml/2006/main" cx="7143750" cy="2628900"/>
        </p:xfrm>
        <a:graphic xmlns:a="http://schemas.openxmlformats.org/drawingml/2006/main">
          <a:graphicData uri="http://schemas.openxmlformats.org/drawingml/2006/table">
            <a:tbl>
              <a:tblPr firstRow="1" bandRow="1"/>
              <a:tblGrid>
                <a:gridCol w="2238375"/>
                <a:gridCol w="2333625"/>
                <a:gridCol w="2571750"/>
              </a:tblGrid>
              <a:tr h="457200">
                <a:tc>
                  <a:txBody>
                    <a:bodyPr/>
                    <a:lstStyle/>
                    <a:p>
                      <a:r>
                        <a:rPr sz="1275" b="1">
                          <a:solidFill>
                            <a:srgbClr val="FFFFFF"/>
                          </a:solidFill>
                          <a:latin typeface="Helvetica Neue"/>
                          <a:ea typeface="Helvetica Neue"/>
                          <a:cs typeface="Helvetica Neue"/>
                        </a:rPr>
                        <a:t>Outil</a:t>
                      </a:r>
                    </a:p>
                  </a:txBody>
                  <a:tcPr marL="91440" marR="91440" marT="45720" marB="45720" anchor="ctr">
                    <a:solidFill>
                      <a:srgbClr val="10263D"/>
                    </a:solidFill>
                  </a:tcPr>
                </a:tc>
                <a:tc>
                  <a:txBody>
                    <a:bodyPr/>
                    <a:lstStyle/>
                    <a:p>
                      <a:r>
                        <a:rPr sz="1275" b="1">
                          <a:solidFill>
                            <a:srgbClr val="FFFFFF"/>
                          </a:solidFill>
                          <a:latin typeface="Helvetica Neue"/>
                          <a:ea typeface="Helvetica Neue"/>
                          <a:cs typeface="Helvetica Neue"/>
                        </a:rPr>
                        <a:t>Comptes concordants</a:t>
                      </a:r>
                    </a:p>
                  </a:txBody>
                  <a:tcPr marL="91440" marR="91440" marT="45720" marB="45720" anchor="ctr">
                    <a:solidFill>
                      <a:srgbClr val="10263D"/>
                    </a:solidFill>
                  </a:tcPr>
                </a:tc>
                <a:tc>
                  <a:txBody>
                    <a:bodyPr/>
                    <a:lstStyle/>
                    <a:p>
                      <a:r>
                        <a:rPr sz="1275" b="1">
                          <a:solidFill>
                            <a:srgbClr val="FFFFFF"/>
                          </a:solidFill>
                          <a:latin typeface="Helvetica Neue"/>
                          <a:ea typeface="Helvetica Neue"/>
                          <a:cs typeface="Helvetica Neue"/>
                        </a:rPr>
                        <a:t>Limite observée</a:t>
                      </a:r>
                    </a:p>
                  </a:txBody>
                  <a:tcPr marL="91440" marR="91440" marT="45720" marB="45720" anchor="ctr">
                    <a:solidFill>
                      <a:srgbClr val="10263D"/>
                    </a:solidFill>
                  </a:tcPr>
                </a:tc>
              </a:tr>
              <a:tr h="723900">
                <a:tc>
                  <a:txBody>
                    <a:bodyPr/>
                    <a:lstStyle/>
                    <a:p>
                      <a:r>
                        <a:rPr sz="1350" b="0">
                          <a:solidFill>
                            <a:srgbClr val="203247"/>
                          </a:solidFill>
                          <a:latin typeface="Helvetica Neue"/>
                          <a:ea typeface="Helvetica Neue"/>
                          <a:cs typeface="Helvetica Neue"/>
                        </a:rPr>
                        <a:t>Great Expectations</a:t>
                      </a:r>
                    </a:p>
                  </a:txBody>
                  <a:tcPr marL="91440" marR="91440" marT="45720" marB="45720" anchor="ctr"/>
                </a:tc>
                <a:tc>
                  <a:txBody>
                    <a:bodyPr/>
                    <a:lstStyle/>
                    <a:p>
                      <a:r>
                        <a:rPr sz="1350" b="0">
                          <a:solidFill>
                            <a:srgbClr val="203247"/>
                          </a:solidFill>
                          <a:latin typeface="Helvetica Neue"/>
                          <a:ea typeface="Helvetica Neue"/>
                          <a:cs typeface="Helvetica Neue"/>
                        </a:rPr>
                        <a:t>60 / 60</a:t>
                      </a:r>
                    </a:p>
                  </a:txBody>
                  <a:tcPr marL="91440" marR="91440" marT="45720" marB="45720" anchor="ctr"/>
                </a:tc>
                <a:tc>
                  <a:txBody>
                    <a:bodyPr/>
                    <a:lstStyle/>
                    <a:p>
                      <a:r>
                        <a:rPr sz="1350" b="0">
                          <a:solidFill>
                            <a:srgbClr val="203247"/>
                          </a:solidFill>
                          <a:latin typeface="Helvetica Neue"/>
                          <a:ea typeface="Helvetica Neue"/>
                          <a:cs typeface="Helvetica Neue"/>
                        </a:rPr>
                        <a:t>Comptes agrégés par règle</a:t>
                      </a:r>
                    </a:p>
                  </a:txBody>
                  <a:tcPr marL="91440" marR="91440" marT="45720" marB="45720" anchor="ctr"/>
                </a:tc>
              </a:tr>
              <a:tr h="723900">
                <a:tc>
                  <a:txBody>
                    <a:bodyPr/>
                    <a:lstStyle/>
                    <a:p>
                      <a:r>
                        <a:rPr sz="1350" b="0">
                          <a:solidFill>
                            <a:srgbClr val="203247"/>
                          </a:solidFill>
                          <a:latin typeface="Helvetica Neue"/>
                          <a:ea typeface="Helvetica Neue"/>
                          <a:cs typeface="Helvetica Neue"/>
                        </a:rPr>
                        <a:t>Soda Core</a:t>
                      </a:r>
                    </a:p>
                  </a:txBody>
                  <a:tcPr marL="91440" marR="91440" marT="45720" marB="45720" anchor="ctr"/>
                </a:tc>
                <a:tc>
                  <a:txBody>
                    <a:bodyPr/>
                    <a:lstStyle/>
                    <a:p>
                      <a:r>
                        <a:rPr sz="1350" b="0">
                          <a:solidFill>
                            <a:srgbClr val="203247"/>
                          </a:solidFill>
                          <a:latin typeface="Helvetica Neue"/>
                          <a:ea typeface="Helvetica Neue"/>
                          <a:cs typeface="Helvetica Neue"/>
                        </a:rPr>
                        <a:t>60 / 60</a:t>
                      </a:r>
                    </a:p>
                  </a:txBody>
                  <a:tcPr marL="91440" marR="91440" marT="45720" marB="45720" anchor="ctr"/>
                </a:tc>
                <a:tc>
                  <a:txBody>
                    <a:bodyPr/>
                    <a:lstStyle/>
                    <a:p>
                      <a:r>
                        <a:rPr sz="1350" b="0">
                          <a:solidFill>
                            <a:srgbClr val="203247"/>
                          </a:solidFill>
                          <a:latin typeface="Helvetica Neue"/>
                          <a:ea typeface="Helvetica Neue"/>
                          <a:cs typeface="Helvetica Neue"/>
                        </a:rPr>
                        <a:t>Doublons normalisés en lignes</a:t>
                      </a:r>
                    </a:p>
                  </a:txBody>
                  <a:tcPr marL="91440" marR="91440" marT="45720" marB="45720" anchor="ctr"/>
                </a:tc>
              </a:tr>
              <a:tr h="723900">
                <a:tc>
                  <a:txBody>
                    <a:bodyPr/>
                    <a:lstStyle/>
                    <a:p>
                      <a:r>
                        <a:rPr sz="1350" b="0">
                          <a:solidFill>
                            <a:srgbClr val="203247"/>
                          </a:solidFill>
                          <a:latin typeface="Helvetica Neue"/>
                          <a:ea typeface="Helvetica Neue"/>
                          <a:cs typeface="Helvetica Neue"/>
                        </a:rPr>
                        <a:t>PyDeequ / Deequ</a:t>
                      </a:r>
                    </a:p>
                  </a:txBody>
                  <a:tcPr marL="91440" marR="91440" marT="45720" marB="45720" anchor="ctr"/>
                </a:tc>
                <a:tc>
                  <a:txBody>
                    <a:bodyPr/>
                    <a:lstStyle/>
                    <a:p>
                      <a:r>
                        <a:rPr sz="1350" b="0">
                          <a:solidFill>
                            <a:srgbClr val="203247"/>
                          </a:solidFill>
                          <a:latin typeface="Helvetica Neue"/>
                          <a:ea typeface="Helvetica Neue"/>
                          <a:cs typeface="Helvetica Neue"/>
                        </a:rPr>
                        <a:t>60 / 60</a:t>
                      </a:r>
                    </a:p>
                  </a:txBody>
                  <a:tcPr marL="91440" marR="91440" marT="45720" marB="45720" anchor="ctr"/>
                </a:tc>
                <a:tc>
                  <a:txBody>
                    <a:bodyPr/>
                    <a:lstStyle/>
                    <a:p>
                      <a:r>
                        <a:rPr sz="1350" b="0">
                          <a:solidFill>
                            <a:srgbClr val="203247"/>
                          </a:solidFill>
                          <a:latin typeface="Helvetica Neue"/>
                          <a:ea typeface="Helvetica Neue"/>
                          <a:cs typeface="Helvetica Neue"/>
                        </a:rPr>
                        <a:t>Comptes agrégés par règle</a:t>
                      </a:r>
                    </a:p>
                  </a:txBody>
                  <a:tcPr marL="91440" marR="91440" marT="45720" marB="45720" anchor="ctr"/>
                </a:tc>
              </a:tr>
            </a:tbl>
          </a:graphicData>
        </a:graphic>
      </p:graphicFrame>
      <p:sp>
        <p:nvSpPr>
          <p:cNvPr id="9" name="">
            <a:extLst xmlns:a="http://schemas.openxmlformats.org/drawingml/2006/main">
              <a:ext uri="{FF2B5EF4-FFF2-40B4-BE49-F238E27FC236}">
                <a16:creationId xmlns:a16="http://schemas.microsoft.com/office/drawing/2014/main" id="{7F292E0C-BDDA-4A74-AD06-89880BF44F2D}"/>
              </a:ext>
            </a:extLst>
          </p:cNvPr>
          <p:cNvSpPr>
            <a:spLocks xmlns:a="http://schemas.openxmlformats.org/drawingml/2006/main" noGrp="1"/>
          </p:cNvSpPr>
          <p:nvPr/>
        </p:nvSpPr>
        <p:spPr>
          <a:xfrm xmlns:a="http://schemas.openxmlformats.org/drawingml/2006/main">
            <a:off x="8172450" y="1571625"/>
            <a:ext cx="3371850" cy="2628900"/>
          </a:xfrm>
          <a:prstGeom xmlns:a="http://schemas.openxmlformats.org/drawingml/2006/main" prst="roundRect">
            <a:avLst>
              <a:gd name="adj" fmla="val 5072"/>
            </a:avLst>
          </a:prstGeom>
          <a:solidFill xmlns:a="http://schemas.openxmlformats.org/drawingml/2006/main">
            <a:srgbClr val="E9F3F1"/>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E95BF6D-84F8-4C0D-90DE-BEB6F92D6A30}"/>
              </a:ext>
            </a:extLst>
          </p:cNvPr>
          <p:cNvSpPr>
            <a:spLocks xmlns:a="http://schemas.openxmlformats.org/drawingml/2006/main" noGrp="1"/>
          </p:cNvSpPr>
          <p:nvPr/>
        </p:nvSpPr>
        <p:spPr>
          <a:xfrm xmlns:a="http://schemas.openxmlformats.org/drawingml/2006/main">
            <a:off x="8439150" y="1885950"/>
            <a:ext cx="2809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2850" b="1">
                <a:solidFill>
                  <a:srgbClr val="187C78"/>
                </a:solidFill>
                <a:latin typeface="Helvetica Neue"/>
                <a:ea typeface="Helvetica Neue"/>
                <a:cs typeface="Helvetica Neue"/>
              </a:defRPr>
            </a:pPr>
            <a:r>
              <a:rPr sz="2850" b="1">
                <a:solidFill>
                  <a:srgbClr val="187C78"/>
                </a:solidFill>
                <a:latin typeface="Helvetica Neue"/>
                <a:ea typeface="Helvetica Neue"/>
                <a:cs typeface="Helvetica Neue"/>
              </a:rPr>
              <a:t>180 / 180</a:t>
            </a:r>
          </a:p>
        </p:txBody>
      </p:sp>
      <p:sp>
        <p:nvSpPr>
          <p:cNvPr id="11" name="">
            <a:extLst xmlns:a="http://schemas.openxmlformats.org/drawingml/2006/main">
              <a:ext uri="{FF2B5EF4-FFF2-40B4-BE49-F238E27FC236}">
                <a16:creationId xmlns:a16="http://schemas.microsoft.com/office/drawing/2014/main" id="{B82ABE70-44FD-420F-A35F-D308CB5FFBB4}"/>
              </a:ext>
            </a:extLst>
          </p:cNvPr>
          <p:cNvSpPr>
            <a:spLocks xmlns:a="http://schemas.openxmlformats.org/drawingml/2006/main" noGrp="1"/>
          </p:cNvSpPr>
          <p:nvPr/>
        </p:nvSpPr>
        <p:spPr>
          <a:xfrm xmlns:a="http://schemas.openxmlformats.org/drawingml/2006/main">
            <a:off x="8439150" y="2524125"/>
            <a:ext cx="27241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425" b="1">
                <a:solidFill>
                  <a:srgbClr val="10263D"/>
                </a:solidFill>
                <a:latin typeface="Helvetica Neue"/>
                <a:ea typeface="Helvetica Neue"/>
                <a:cs typeface="Helvetica Neue"/>
              </a:defRPr>
            </a:pPr>
            <a:r>
              <a:rPr sz="1425" b="1">
                <a:solidFill>
                  <a:srgbClr val="10263D"/>
                </a:solidFill>
                <a:latin typeface="Helvetica Neue"/>
                <a:ea typeface="Helvetica Neue"/>
                <a:cs typeface="Helvetica Neue"/>
              </a:rPr>
              <a:t>comparaisons règle–passage concordantes</a:t>
            </a:r>
          </a:p>
        </p:txBody>
      </p:sp>
      <p:sp>
        <p:nvSpPr>
          <p:cNvPr id="12" name="">
            <a:extLst xmlns:a="http://schemas.openxmlformats.org/drawingml/2006/main">
              <a:ext uri="{FF2B5EF4-FFF2-40B4-BE49-F238E27FC236}">
                <a16:creationId xmlns:a16="http://schemas.microsoft.com/office/drawing/2014/main" id="{93A7E8BB-3BC5-467C-ABB6-CB3FC6B6EC54}"/>
              </a:ext>
            </a:extLst>
          </p:cNvPr>
          <p:cNvSpPr>
            <a:spLocks xmlns:a="http://schemas.openxmlformats.org/drawingml/2006/main" noGrp="1"/>
          </p:cNvSpPr>
          <p:nvPr/>
        </p:nvSpPr>
        <p:spPr>
          <a:xfrm xmlns:a="http://schemas.openxmlformats.org/drawingml/2006/main">
            <a:off x="8439150" y="3333750"/>
            <a:ext cx="2724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00" b="0">
                <a:solidFill>
                  <a:srgbClr val="66798D"/>
                </a:solidFill>
                <a:latin typeface="Helvetica Neue"/>
                <a:ea typeface="Helvetica Neue"/>
                <a:cs typeface="Helvetica Neue"/>
              </a:defRPr>
            </a:pPr>
            <a:r>
              <a:rPr sz="1200" b="0">
                <a:solidFill>
                  <a:srgbClr val="66798D"/>
                </a:solidFill>
                <a:latin typeface="Helvetica Neue"/>
                <a:ea typeface="Helvetica Neue"/>
                <a:cs typeface="Helvetica Neue"/>
              </a:rPr>
              <a:t>12 règles × 5 passages × 3 outils</a:t>
            </a:r>
          </a:p>
        </p:txBody>
      </p:sp>
      <p:sp>
        <p:nvSpPr>
          <p:cNvPr id="13" name="">
            <a:extLst xmlns:a="http://schemas.openxmlformats.org/drawingml/2006/main">
              <a:ext uri="{FF2B5EF4-FFF2-40B4-BE49-F238E27FC236}">
                <a16:creationId xmlns:a16="http://schemas.microsoft.com/office/drawing/2014/main" id="{54FE6B60-7237-4171-98C5-B739D937BF66}"/>
              </a:ext>
            </a:extLst>
          </p:cNvPr>
          <p:cNvSpPr>
            <a:spLocks xmlns:a="http://schemas.openxmlformats.org/drawingml/2006/main" noGrp="1"/>
          </p:cNvSpPr>
          <p:nvPr/>
        </p:nvSpPr>
        <p:spPr>
          <a:xfrm xmlns:a="http://schemas.openxmlformats.org/drawingml/2006/main">
            <a:off x="647700" y="4552950"/>
            <a:ext cx="10896600" cy="1085850"/>
          </a:xfrm>
          <a:prstGeom xmlns:a="http://schemas.openxmlformats.org/drawingml/2006/main" prst="roundRect">
            <a:avLst>
              <a:gd name="adj" fmla="val 10526"/>
            </a:avLst>
          </a:prstGeom>
          <a:solidFill xmlns:a="http://schemas.openxmlformats.org/drawingml/2006/main">
            <a:srgbClr val="FFFFFF"/>
          </a:solidFill>
          <a:ln xmlns:a="http://schemas.openxmlformats.org/drawingml/2006/main" w="9525">
            <a:solidFill>
              <a:srgbClr val="D9E1E8"/>
            </a:solidFill>
          </a:ln>
        </p:spPr>
      </p:sp>
      <p:sp>
        <p:nvSpPr>
          <p:cNvPr id="14" name="">
            <a:extLst xmlns:a="http://schemas.openxmlformats.org/drawingml/2006/main">
              <a:ext uri="{FF2B5EF4-FFF2-40B4-BE49-F238E27FC236}">
                <a16:creationId xmlns:a16="http://schemas.microsoft.com/office/drawing/2014/main" id="{880EB1FC-8F30-4DFE-B881-0B79F653994D}"/>
              </a:ext>
            </a:extLst>
          </p:cNvPr>
          <p:cNvSpPr>
            <a:spLocks xmlns:a="http://schemas.openxmlformats.org/drawingml/2006/main" noGrp="1"/>
          </p:cNvSpPr>
          <p:nvPr/>
        </p:nvSpPr>
        <p:spPr>
          <a:xfrm xmlns:a="http://schemas.openxmlformats.org/drawingml/2006/main">
            <a:off x="876300" y="4743450"/>
            <a:ext cx="1809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350" b="1">
                <a:solidFill>
                  <a:srgbClr val="10263D"/>
                </a:solidFill>
                <a:latin typeface="Helvetica Neue"/>
                <a:ea typeface="Helvetica Neue"/>
                <a:cs typeface="Helvetica Neue"/>
              </a:defRPr>
            </a:pPr>
            <a:r>
              <a:rPr sz="1350" b="1">
                <a:solidFill>
                  <a:srgbClr val="10263D"/>
                </a:solidFill>
                <a:latin typeface="Helvetica Neue"/>
                <a:ea typeface="Helvetica Neue"/>
                <a:cs typeface="Helvetica Neue"/>
              </a:rPr>
              <a:t>Interprétation</a:t>
            </a:r>
          </a:p>
        </p:txBody>
      </p:sp>
      <p:sp>
        <p:nvSpPr>
          <p:cNvPr id="15" name="">
            <a:extLst xmlns:a="http://schemas.openxmlformats.org/drawingml/2006/main">
              <a:ext uri="{FF2B5EF4-FFF2-40B4-BE49-F238E27FC236}">
                <a16:creationId xmlns:a16="http://schemas.microsoft.com/office/drawing/2014/main" id="{293E8AF6-9D27-409C-A1E3-15495435AA30}"/>
              </a:ext>
            </a:extLst>
          </p:cNvPr>
          <p:cNvSpPr>
            <a:spLocks xmlns:a="http://schemas.openxmlformats.org/drawingml/2006/main" noGrp="1"/>
          </p:cNvSpPr>
          <p:nvPr/>
        </p:nvSpPr>
        <p:spPr>
          <a:xfrm xmlns:a="http://schemas.openxmlformats.org/drawingml/2006/main">
            <a:off x="876300" y="5095875"/>
            <a:ext cx="1028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2593"/>
          </a:bodyPr>
          <a:lstStyle xmlns:a="http://schemas.openxmlformats.org/drawingml/2006/main"/>
          <a:p xmlns:a="http://schemas.openxmlformats.org/drawingml/2006/main">
            <a:pPr algn="l">
              <a:lnSpc>
                <a:spcPct val="105000"/>
              </a:lnSpc>
              <a:buNone/>
              <a:defRPr sz="1350" b="0">
                <a:solidFill>
                  <a:srgbClr val="203247"/>
                </a:solidFill>
                <a:latin typeface="Helvetica Neue"/>
                <a:ea typeface="Helvetica Neue"/>
                <a:cs typeface="Helvetica Neue"/>
              </a:defRPr>
            </a:pPr>
            <a:r>
              <a:rPr sz="1350" b="0">
                <a:solidFill>
                  <a:srgbClr val="203247"/>
                </a:solidFill>
                <a:latin typeface="Helvetica Neue"/>
                <a:ea typeface="Helvetica Neue"/>
                <a:cs typeface="Helvetica Neue"/>
              </a:rPr>
              <a:t>La concordance porte sur le nombre de violations. Sans identifiants fautifs produits par les adaptateurs, elle ne démontre pas la précision ni le rappel par ligne.</a:t>
            </a:r>
          </a:p>
        </p:txBody>
      </p:sp>
    </p:spTree>
    <p:extLst>
      <p:ext uri="{BB962C8B-B14F-4D97-AF65-F5344CB8AC3E}">
        <p14:creationId xmlns:p14="http://schemas.microsoft.com/office/powerpoint/2010/main" val="570482388"/>
      </p:ext>
    </p:extLst>
  </p:cSld>
</p:sld>
</file>

<file path=ppt/slides/slide6.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B3EB54D7-CBAB-428C-9440-094E3C4F90BD}"/>
              </a:ext>
            </a:extLst>
          </p:cNvPr>
          <p:cNvSpPr>
            <a:spLocks xmlns:a="http://schemas.openxmlformats.org/drawingml/2006/main" noGrp="1"/>
          </p:cNvSpPr>
          <p:nvPr/>
        </p:nvSpPr>
        <p:spPr>
          <a:xfrm xmlns:a="http://schemas.openxmlformats.org/drawingml/2006/main">
            <a:off x="0" y="0"/>
            <a:ext cx="12192000" cy="123825"/>
          </a:xfrm>
          <a:prstGeom xmlns:a="http://schemas.openxmlformats.org/drawingml/2006/main" prst="rect">
            <a:avLst/>
          </a:prstGeom>
          <a:solidFill xmlns:a="http://schemas.openxmlformats.org/drawingml/2006/main">
            <a:srgbClr val="10263D"/>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BB6C00E-E438-4F4A-AD8B-588BEC893310}"/>
              </a:ext>
            </a:extLst>
          </p:cNvPr>
          <p:cNvSpPr>
            <a:spLocks xmlns:a="http://schemas.openxmlformats.org/drawingml/2006/main" noGrp="1"/>
          </p:cNvSpPr>
          <p:nvPr/>
        </p:nvSpPr>
        <p:spPr>
          <a:xfrm xmlns:a="http://schemas.openxmlformats.org/drawingml/2006/main">
            <a:off x="0" y="123825"/>
            <a:ext cx="2095500" cy="47625"/>
          </a:xfrm>
          <a:prstGeom xmlns:a="http://schemas.openxmlformats.org/drawingml/2006/main" prst="rect">
            <a:avLst/>
          </a:prstGeom>
          <a:solidFill xmlns:a="http://schemas.openxmlformats.org/drawingml/2006/main">
            <a:srgbClr val="D5A64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1DEACD9-3869-46B5-87F9-1DF795F611EC}"/>
              </a:ext>
            </a:extLst>
          </p:cNvPr>
          <p:cNvSpPr>
            <a:spLocks xmlns:a="http://schemas.openxmlformats.org/drawingml/2006/main" noGrp="1"/>
          </p:cNvSpPr>
          <p:nvPr/>
        </p:nvSpPr>
        <p:spPr>
          <a:xfrm xmlns:a="http://schemas.openxmlformats.org/drawingml/2006/main">
            <a:off x="647700" y="40005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125" b="1">
                <a:solidFill>
                  <a:srgbClr val="187C78"/>
                </a:solidFill>
                <a:latin typeface="Helvetica Neue"/>
                <a:ea typeface="Helvetica Neue"/>
                <a:cs typeface="Helvetica Neue"/>
              </a:defRPr>
            </a:pPr>
            <a:r>
              <a:rPr sz="1125" b="1">
                <a:solidFill>
                  <a:srgbClr val="187C78"/>
                </a:solidFill>
                <a:latin typeface="Helvetica Neue"/>
                <a:ea typeface="Helvetica Neue"/>
                <a:cs typeface="Helvetica Neue"/>
              </a:rPr>
              <a:t>RÉSULTATS — DURÉE</a:t>
            </a:r>
          </a:p>
        </p:txBody>
      </p:sp>
      <p:sp>
        <p:nvSpPr>
          <p:cNvPr id="4" name="">
            <a:extLst xmlns:a="http://schemas.openxmlformats.org/drawingml/2006/main">
              <a:ext uri="{FF2B5EF4-FFF2-40B4-BE49-F238E27FC236}">
                <a16:creationId xmlns:a16="http://schemas.microsoft.com/office/drawing/2014/main" id="{591DF6F1-7C1B-4515-AD45-A0A3E21A4F69}"/>
              </a:ext>
            </a:extLst>
          </p:cNvPr>
          <p:cNvSpPr>
            <a:spLocks xmlns:a="http://schemas.openxmlformats.org/drawingml/2006/main" noGrp="1"/>
          </p:cNvSpPr>
          <p:nvPr/>
        </p:nvSpPr>
        <p:spPr>
          <a:xfrm xmlns:a="http://schemas.openxmlformats.org/drawingml/2006/main">
            <a:off x="647700" y="685800"/>
            <a:ext cx="10896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2775" b="1">
                <a:solidFill>
                  <a:srgbClr val="10263D"/>
                </a:solidFill>
                <a:latin typeface="Helvetica Neue"/>
                <a:ea typeface="Helvetica Neue"/>
                <a:cs typeface="Helvetica Neue"/>
              </a:defRPr>
            </a:pPr>
            <a:r>
              <a:rPr sz="2775" b="1">
                <a:solidFill>
                  <a:srgbClr val="10263D"/>
                </a:solidFill>
                <a:latin typeface="Helvetica Neue"/>
                <a:ea typeface="Helvetica Neue"/>
                <a:cs typeface="Helvetica Neue"/>
              </a:rPr>
              <a:t>Le temps dépend fortement de l’outil et du contexte</a:t>
            </a:r>
          </a:p>
        </p:txBody>
      </p:sp>
      <p:sp>
        <p:nvSpPr>
          <p:cNvPr id="5" name="">
            <a:extLst xmlns:a="http://schemas.openxmlformats.org/drawingml/2006/main">
              <a:ext uri="{FF2B5EF4-FFF2-40B4-BE49-F238E27FC236}">
                <a16:creationId xmlns:a16="http://schemas.microsoft.com/office/drawing/2014/main" id="{A4A162DF-6EF2-4C4E-8788-F23D6F190AB5}"/>
              </a:ext>
            </a:extLst>
          </p:cNvPr>
          <p:cNvSpPr>
            <a:spLocks xmlns:a="http://schemas.openxmlformats.org/drawingml/2006/main" noGrp="1"/>
          </p:cNvSpPr>
          <p:nvPr/>
        </p:nvSpPr>
        <p:spPr>
          <a:xfrm xmlns:a="http://schemas.openxmlformats.org/drawingml/2006/main">
            <a:off x="647700" y="6286500"/>
            <a:ext cx="10896600" cy="13335"/>
          </a:xfrm>
          <a:prstGeom xmlns:a="http://schemas.openxmlformats.org/drawingml/2006/main" prst="rect">
            <a:avLst/>
          </a:prstGeom>
          <a:solidFill xmlns:a="http://schemas.openxmlformats.org/drawingml/2006/main">
            <a:srgbClr val="D9E1E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7AA4F17-7DC0-4C87-9517-6B684743400F}"/>
              </a:ext>
            </a:extLst>
          </p:cNvPr>
          <p:cNvSpPr>
            <a:spLocks xmlns:a="http://schemas.openxmlformats.org/drawingml/2006/main" noGrp="1"/>
          </p:cNvSpPr>
          <p:nvPr/>
        </p:nvSpPr>
        <p:spPr>
          <a:xfrm xmlns:a="http://schemas.openxmlformats.org/drawingml/2006/main">
            <a:off x="647700" y="6381750"/>
            <a:ext cx="933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975" b="0">
                <a:solidFill>
                  <a:srgbClr val="66798D"/>
                </a:solidFill>
                <a:latin typeface="Helvetica Neue"/>
                <a:ea typeface="Helvetica Neue"/>
                <a:cs typeface="Helvetica Neue"/>
              </a:defRPr>
            </a:pPr>
            <a:r>
              <a:rPr sz="975" b="0">
                <a:solidFill>
                  <a:srgbClr val="66798D"/>
                </a:solidFill>
                <a:latin typeface="Helvetica Neue"/>
                <a:ea typeface="Helvetica Neue"/>
                <a:cs typeface="Helvetica Neue"/>
              </a:rPr>
              <a:t>Projet individuel • Expérience contrôlée • 2026</a:t>
            </a:r>
          </a:p>
        </p:txBody>
      </p:sp>
      <p:sp>
        <p:nvSpPr>
          <p:cNvPr id="7" name="">
            <a:extLst xmlns:a="http://schemas.openxmlformats.org/drawingml/2006/main">
              <a:ext uri="{FF2B5EF4-FFF2-40B4-BE49-F238E27FC236}">
                <a16:creationId xmlns:a16="http://schemas.microsoft.com/office/drawing/2014/main" id="{754EB75C-9797-4A04-B40C-5F3151CE4ECA}"/>
              </a:ext>
            </a:extLst>
          </p:cNvPr>
          <p:cNvSpPr>
            <a:spLocks xmlns:a="http://schemas.openxmlformats.org/drawingml/2006/main" noGrp="1"/>
          </p:cNvSpPr>
          <p:nvPr/>
        </p:nvSpPr>
        <p:spPr>
          <a:xfrm xmlns:a="http://schemas.openxmlformats.org/drawingml/2006/main">
            <a:off x="10953750" y="63817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5000"/>
              </a:lnSpc>
              <a:buNone/>
              <a:defRPr sz="975" b="0">
                <a:solidFill>
                  <a:srgbClr val="66798D"/>
                </a:solidFill>
                <a:latin typeface="Helvetica Neue"/>
                <a:ea typeface="Helvetica Neue"/>
                <a:cs typeface="Helvetica Neue"/>
              </a:defRPr>
            </a:pPr>
            <a:r>
              <a:rPr sz="975" b="0">
                <a:solidFill>
                  <a:srgbClr val="66798D"/>
                </a:solidFill>
                <a:latin typeface="Helvetica Neue"/>
                <a:ea typeface="Helvetica Neue"/>
                <a:cs typeface="Helvetica Neue"/>
              </a:rPr>
              <a:t>06</a:t>
            </a:r>
          </a:p>
        </p:txBody>
      </p:sp>
      <p:sp>
        <p:nvSpPr>
          <p:cNvPr id="8" name="">
            <a:extLst xmlns:a="http://schemas.openxmlformats.org/drawingml/2006/main">
              <a:ext uri="{FF2B5EF4-FFF2-40B4-BE49-F238E27FC236}">
                <a16:creationId xmlns:a16="http://schemas.microsoft.com/office/drawing/2014/main" id="{A623B4D6-0A0B-4C97-A8CD-65996E776476}"/>
              </a:ext>
            </a:extLst>
          </p:cNvPr>
          <p:cNvSpPr>
            <a:spLocks xmlns:a="http://schemas.openxmlformats.org/drawingml/2006/main" noGrp="1"/>
          </p:cNvSpPr>
          <p:nvPr/>
        </p:nvSpPr>
        <p:spPr>
          <a:xfrm xmlns:a="http://schemas.openxmlformats.org/drawingml/2006/main">
            <a:off x="647700" y="1447800"/>
            <a:ext cx="8572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500" b="1">
                <a:solidFill>
                  <a:srgbClr val="203247"/>
                </a:solidFill>
                <a:latin typeface="Helvetica Neue"/>
                <a:ea typeface="Helvetica Neue"/>
                <a:cs typeface="Helvetica Neue"/>
              </a:defRPr>
            </a:pPr>
            <a:r>
              <a:rPr sz="1500" b="1">
                <a:solidFill>
                  <a:srgbClr val="203247"/>
                </a:solidFill>
                <a:latin typeface="Helvetica Neue"/>
                <a:ea typeface="Helvetica Neue"/>
                <a:cs typeface="Helvetica Neue"/>
              </a:rPr>
              <a:t>Temps total médian sur 50 000 lignes (secondes)</a:t>
            </a:r>
          </a:p>
        </p:txBody>
      </p:sp>
      <p:graphicFrame>
        <p:nvGraphicFramePr>
          <p:cNvPr id="27" name="Chart"/>
          <p:cNvGraphicFramePr/>
          <p:nvPr/>
        </p:nvGraphicFramePr>
        <p:xfrm>
          <a:off xmlns:a="http://schemas.openxmlformats.org/drawingml/2006/main" x="590550" y="1857375"/>
          <a:ext xmlns:a="http://schemas.openxmlformats.org/drawingml/2006/main" cx="7381875" cy="3286125"/>
        </p:xfrm>
        <a:graphic xmlns:a="http://schemas.openxmlformats.org/drawingml/2006/main">
          <a:graphicData uri="http://schemas.openxmlformats.org/drawingml/2006/chart">
            <c:chart xmlns:r="http://schemas.openxmlformats.org/officeDocument/2006/relationships" xmlns:c="http://schemas.openxmlformats.org/drawingml/2006/chart" r:id="R373f1b9aa4684e6c"/>
          </a:graphicData>
        </a:graphic>
      </p:graphicFrame>
      <p:sp>
        <p:nvSpPr>
          <p:cNvPr id="10" name="">
            <a:extLst xmlns:a="http://schemas.openxmlformats.org/drawingml/2006/main">
              <a:ext uri="{FF2B5EF4-FFF2-40B4-BE49-F238E27FC236}">
                <a16:creationId xmlns:a16="http://schemas.microsoft.com/office/drawing/2014/main" id="{901CD545-9E9D-49C0-B2F8-D4668CC53205}"/>
              </a:ext>
            </a:extLst>
          </p:cNvPr>
          <p:cNvSpPr>
            <a:spLocks xmlns:a="http://schemas.openxmlformats.org/drawingml/2006/main" noGrp="1"/>
          </p:cNvSpPr>
          <p:nvPr/>
        </p:nvSpPr>
        <p:spPr>
          <a:xfrm xmlns:a="http://schemas.openxmlformats.org/drawingml/2006/main">
            <a:off x="7029450" y="2343150"/>
            <a:ext cx="8382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00" b="1">
                <a:solidFill>
                  <a:srgbClr val="10263D"/>
                </a:solidFill>
                <a:latin typeface="Helvetica Neue"/>
                <a:ea typeface="Helvetica Neue"/>
                <a:cs typeface="Helvetica Neue"/>
              </a:defRPr>
            </a:pPr>
            <a:r>
              <a:rPr sz="1200" b="1">
                <a:solidFill>
                  <a:srgbClr val="10263D"/>
                </a:solidFill>
                <a:latin typeface="Helvetica Neue"/>
                <a:ea typeface="Helvetica Neue"/>
                <a:cs typeface="Helvetica Neue"/>
              </a:rPr>
              <a:t>10,20</a:t>
            </a:r>
          </a:p>
        </p:txBody>
      </p:sp>
      <p:sp>
        <p:nvSpPr>
          <p:cNvPr id="11" name="">
            <a:extLst xmlns:a="http://schemas.openxmlformats.org/drawingml/2006/main">
              <a:ext uri="{FF2B5EF4-FFF2-40B4-BE49-F238E27FC236}">
                <a16:creationId xmlns:a16="http://schemas.microsoft.com/office/drawing/2014/main" id="{FC3EA2DB-FCF2-491A-A058-11A61DD2CBB8}"/>
              </a:ext>
            </a:extLst>
          </p:cNvPr>
          <p:cNvSpPr>
            <a:spLocks xmlns:a="http://schemas.openxmlformats.org/drawingml/2006/main" noGrp="1"/>
          </p:cNvSpPr>
          <p:nvPr/>
        </p:nvSpPr>
        <p:spPr>
          <a:xfrm xmlns:a="http://schemas.openxmlformats.org/drawingml/2006/main">
            <a:off x="4676775" y="3324225"/>
            <a:ext cx="7429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00" b="1">
                <a:solidFill>
                  <a:srgbClr val="10263D"/>
                </a:solidFill>
                <a:latin typeface="Helvetica Neue"/>
                <a:ea typeface="Helvetica Neue"/>
                <a:cs typeface="Helvetica Neue"/>
              </a:defRPr>
            </a:pPr>
            <a:r>
              <a:rPr sz="1200" b="1">
                <a:solidFill>
                  <a:srgbClr val="10263D"/>
                </a:solidFill>
                <a:latin typeface="Helvetica Neue"/>
                <a:ea typeface="Helvetica Neue"/>
                <a:cs typeface="Helvetica Neue"/>
              </a:rPr>
              <a:t>5,32</a:t>
            </a:r>
          </a:p>
        </p:txBody>
      </p:sp>
      <p:sp>
        <p:nvSpPr>
          <p:cNvPr id="12" name="">
            <a:extLst xmlns:a="http://schemas.openxmlformats.org/drawingml/2006/main">
              <a:ext uri="{FF2B5EF4-FFF2-40B4-BE49-F238E27FC236}">
                <a16:creationId xmlns:a16="http://schemas.microsoft.com/office/drawing/2014/main" id="{716EDCC5-759B-4006-B4FB-922E2031ED87}"/>
              </a:ext>
            </a:extLst>
          </p:cNvPr>
          <p:cNvSpPr>
            <a:spLocks xmlns:a="http://schemas.openxmlformats.org/drawingml/2006/main" noGrp="1"/>
          </p:cNvSpPr>
          <p:nvPr/>
        </p:nvSpPr>
        <p:spPr>
          <a:xfrm xmlns:a="http://schemas.openxmlformats.org/drawingml/2006/main">
            <a:off x="2333625" y="4305300"/>
            <a:ext cx="685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00" b="1">
                <a:solidFill>
                  <a:srgbClr val="10263D"/>
                </a:solidFill>
                <a:latin typeface="Helvetica Neue"/>
                <a:ea typeface="Helvetica Neue"/>
                <a:cs typeface="Helvetica Neue"/>
              </a:defRPr>
            </a:pPr>
            <a:r>
              <a:rPr sz="1200" b="1">
                <a:solidFill>
                  <a:srgbClr val="10263D"/>
                </a:solidFill>
                <a:latin typeface="Helvetica Neue"/>
                <a:ea typeface="Helvetica Neue"/>
                <a:cs typeface="Helvetica Neue"/>
              </a:rPr>
              <a:t>0,46</a:t>
            </a:r>
          </a:p>
        </p:txBody>
      </p:sp>
      <p:sp>
        <p:nvSpPr>
          <p:cNvPr id="13" name="">
            <a:extLst xmlns:a="http://schemas.openxmlformats.org/drawingml/2006/main">
              <a:ext uri="{FF2B5EF4-FFF2-40B4-BE49-F238E27FC236}">
                <a16:creationId xmlns:a16="http://schemas.microsoft.com/office/drawing/2014/main" id="{C8111393-4596-4E67-B0BB-C8A55EF6DAE5}"/>
              </a:ext>
            </a:extLst>
          </p:cNvPr>
          <p:cNvSpPr>
            <a:spLocks xmlns:a="http://schemas.openxmlformats.org/drawingml/2006/main" noGrp="1"/>
          </p:cNvSpPr>
          <p:nvPr/>
        </p:nvSpPr>
        <p:spPr>
          <a:xfrm xmlns:a="http://schemas.openxmlformats.org/drawingml/2006/main">
            <a:off x="8353425" y="1724025"/>
            <a:ext cx="3190875" cy="3228975"/>
          </a:xfrm>
          <a:prstGeom xmlns:a="http://schemas.openxmlformats.org/drawingml/2006/main" prst="roundRect">
            <a:avLst>
              <a:gd name="adj" fmla="val 4179"/>
            </a:avLst>
          </a:prstGeom>
          <a:solidFill xmlns:a="http://schemas.openxmlformats.org/drawingml/2006/main">
            <a:srgbClr val="10263D"/>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96D58C38-690D-4619-A142-5F925135CB43}"/>
              </a:ext>
            </a:extLst>
          </p:cNvPr>
          <p:cNvSpPr>
            <a:spLocks xmlns:a="http://schemas.openxmlformats.org/drawingml/2006/main" noGrp="1"/>
          </p:cNvSpPr>
          <p:nvPr/>
        </p:nvSpPr>
        <p:spPr>
          <a:xfrm xmlns:a="http://schemas.openxmlformats.org/drawingml/2006/main">
            <a:off x="8639175" y="2038350"/>
            <a:ext cx="2571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3150" b="1">
                <a:solidFill>
                  <a:srgbClr val="D5A64A"/>
                </a:solidFill>
                <a:latin typeface="Helvetica Neue"/>
                <a:ea typeface="Helvetica Neue"/>
                <a:cs typeface="Helvetica Neue"/>
              </a:defRPr>
            </a:pPr>
            <a:r>
              <a:rPr sz="3150" b="1">
                <a:solidFill>
                  <a:srgbClr val="D5A64A"/>
                </a:solidFill>
                <a:latin typeface="Helvetica Neue"/>
                <a:ea typeface="Helvetica Neue"/>
                <a:cs typeface="Helvetica Neue"/>
              </a:rPr>
              <a:t>≈ 22×</a:t>
            </a:r>
          </a:p>
        </p:txBody>
      </p:sp>
      <p:sp>
        <p:nvSpPr>
          <p:cNvPr id="15" name="">
            <a:extLst xmlns:a="http://schemas.openxmlformats.org/drawingml/2006/main">
              <a:ext uri="{FF2B5EF4-FFF2-40B4-BE49-F238E27FC236}">
                <a16:creationId xmlns:a16="http://schemas.microsoft.com/office/drawing/2014/main" id="{2B3A17A7-2FE2-4FC9-81E4-1F1ED062C5FF}"/>
              </a:ext>
            </a:extLst>
          </p:cNvPr>
          <p:cNvSpPr>
            <a:spLocks xmlns:a="http://schemas.openxmlformats.org/drawingml/2006/main" noGrp="1"/>
          </p:cNvSpPr>
          <p:nvPr/>
        </p:nvSpPr>
        <p:spPr>
          <a:xfrm xmlns:a="http://schemas.openxmlformats.org/drawingml/2006/main">
            <a:off x="8639175" y="2647950"/>
            <a:ext cx="25146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425" b="0">
                <a:solidFill>
                  <a:srgbClr val="FFFFFF"/>
                </a:solidFill>
                <a:latin typeface="Helvetica Neue"/>
                <a:ea typeface="Helvetica Neue"/>
                <a:cs typeface="Helvetica Neue"/>
              </a:defRPr>
            </a:pPr>
            <a:r>
              <a:rPr sz="1425" b="0">
                <a:solidFill>
                  <a:srgbClr val="FFFFFF"/>
                </a:solidFill>
                <a:latin typeface="Helvetica Neue"/>
                <a:ea typeface="Helvetica Neue"/>
                <a:cs typeface="Helvetica Neue"/>
              </a:rPr>
              <a:t>plus rapide pour Soda que GX dans cet essai</a:t>
            </a:r>
          </a:p>
        </p:txBody>
      </p:sp>
      <p:sp>
        <p:nvSpPr>
          <p:cNvPr id="16" name="">
            <a:extLst xmlns:a="http://schemas.openxmlformats.org/drawingml/2006/main">
              <a:ext uri="{FF2B5EF4-FFF2-40B4-BE49-F238E27FC236}">
                <a16:creationId xmlns:a16="http://schemas.microsoft.com/office/drawing/2014/main" id="{7A4C4FA9-342F-4ECB-BF43-F804BB698F34}"/>
              </a:ext>
            </a:extLst>
          </p:cNvPr>
          <p:cNvSpPr>
            <a:spLocks xmlns:a="http://schemas.openxmlformats.org/drawingml/2006/main" noGrp="1"/>
          </p:cNvSpPr>
          <p:nvPr/>
        </p:nvSpPr>
        <p:spPr>
          <a:xfrm xmlns:a="http://schemas.openxmlformats.org/drawingml/2006/main">
            <a:off x="8639175" y="3438525"/>
            <a:ext cx="666750" cy="38100"/>
          </a:xfrm>
          <a:prstGeom xmlns:a="http://schemas.openxmlformats.org/drawingml/2006/main" prst="rect">
            <a:avLst/>
          </a:prstGeom>
          <a:solidFill xmlns:a="http://schemas.openxmlformats.org/drawingml/2006/main">
            <a:srgbClr val="D5A64A"/>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1432E6D0-11CB-4F13-8D16-D8044E7CE04D}"/>
              </a:ext>
            </a:extLst>
          </p:cNvPr>
          <p:cNvSpPr>
            <a:spLocks xmlns:a="http://schemas.openxmlformats.org/drawingml/2006/main" noGrp="1"/>
          </p:cNvSpPr>
          <p:nvPr/>
        </p:nvSpPr>
        <p:spPr>
          <a:xfrm xmlns:a="http://schemas.openxmlformats.org/drawingml/2006/main">
            <a:off x="8639175" y="3676650"/>
            <a:ext cx="25050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75" b="0">
                <a:solidFill>
                  <a:srgbClr val="D6E0E8"/>
                </a:solidFill>
                <a:latin typeface="Helvetica Neue"/>
                <a:ea typeface="Helvetica Neue"/>
                <a:cs typeface="Helvetica Neue"/>
              </a:defRPr>
            </a:pPr>
            <a:r>
              <a:rPr sz="1275" b="0">
                <a:solidFill>
                  <a:srgbClr val="D6E0E8"/>
                </a:solidFill>
                <a:latin typeface="Helvetica Neue"/>
                <a:ea typeface="Helvetica Neue"/>
                <a:cs typeface="Helvetica Neue"/>
              </a:rPr>
              <a:t>Ce rapport compare des durées locales, avec coûts d’initialisation inclus.</a:t>
            </a:r>
          </a:p>
        </p:txBody>
      </p:sp>
      <p:sp>
        <p:nvSpPr>
          <p:cNvPr id="18" name="">
            <a:extLst xmlns:a="http://schemas.openxmlformats.org/drawingml/2006/main">
              <a:ext uri="{FF2B5EF4-FFF2-40B4-BE49-F238E27FC236}">
                <a16:creationId xmlns:a16="http://schemas.microsoft.com/office/drawing/2014/main" id="{FC691636-5934-4D0A-9BD1-EE10B67359CC}"/>
              </a:ext>
            </a:extLst>
          </p:cNvPr>
          <p:cNvSpPr>
            <a:spLocks xmlns:a="http://schemas.openxmlformats.org/drawingml/2006/main" noGrp="1"/>
          </p:cNvSpPr>
          <p:nvPr/>
        </p:nvSpPr>
        <p:spPr>
          <a:xfrm xmlns:a="http://schemas.openxmlformats.org/drawingml/2006/main">
            <a:off x="647700" y="5410200"/>
            <a:ext cx="107156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0">
                <a:solidFill>
                  <a:srgbClr val="66798D"/>
                </a:solidFill>
                <a:latin typeface="Helvetica Neue"/>
                <a:ea typeface="Helvetica Neue"/>
                <a:cs typeface="Helvetica Neue"/>
              </a:defRPr>
            </a:pPr>
            <a:r>
              <a:rPr sz="1275" b="0">
                <a:solidFill>
                  <a:srgbClr val="66798D"/>
                </a:solidFill>
                <a:latin typeface="Helvetica Neue"/>
                <a:ea typeface="Helvetica Neue"/>
                <a:cs typeface="Helvetica Neue"/>
              </a:rPr>
              <a:t>Il ne constitue pas un classement général de performance.</a:t>
            </a:r>
          </a:p>
        </p:txBody>
      </p:sp>
    </p:spTree>
    <p:extLst>
      <p:ext uri="{BB962C8B-B14F-4D97-AF65-F5344CB8AC3E}">
        <p14:creationId xmlns:p14="http://schemas.microsoft.com/office/powerpoint/2010/main" val="1048066432"/>
      </p:ext>
    </p:extLst>
  </p:cSld>
</p:sld>
</file>

<file path=ppt/slides/slide7.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823143C6-4A4B-4E91-82E8-A5A78A88EEF4}"/>
              </a:ext>
            </a:extLst>
          </p:cNvPr>
          <p:cNvSpPr>
            <a:spLocks xmlns:a="http://schemas.openxmlformats.org/drawingml/2006/main" noGrp="1"/>
          </p:cNvSpPr>
          <p:nvPr/>
        </p:nvSpPr>
        <p:spPr>
          <a:xfrm xmlns:a="http://schemas.openxmlformats.org/drawingml/2006/main">
            <a:off x="0" y="0"/>
            <a:ext cx="12192000" cy="123825"/>
          </a:xfrm>
          <a:prstGeom xmlns:a="http://schemas.openxmlformats.org/drawingml/2006/main" prst="rect">
            <a:avLst/>
          </a:prstGeom>
          <a:solidFill xmlns:a="http://schemas.openxmlformats.org/drawingml/2006/main">
            <a:srgbClr val="10263D"/>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A8D1EEC-2067-4759-9E4F-B4A886E32DBE}"/>
              </a:ext>
            </a:extLst>
          </p:cNvPr>
          <p:cNvSpPr>
            <a:spLocks xmlns:a="http://schemas.openxmlformats.org/drawingml/2006/main" noGrp="1"/>
          </p:cNvSpPr>
          <p:nvPr/>
        </p:nvSpPr>
        <p:spPr>
          <a:xfrm xmlns:a="http://schemas.openxmlformats.org/drawingml/2006/main">
            <a:off x="0" y="123825"/>
            <a:ext cx="2095500" cy="47625"/>
          </a:xfrm>
          <a:prstGeom xmlns:a="http://schemas.openxmlformats.org/drawingml/2006/main" prst="rect">
            <a:avLst/>
          </a:prstGeom>
          <a:solidFill xmlns:a="http://schemas.openxmlformats.org/drawingml/2006/main">
            <a:srgbClr val="D5A64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678614D-60FC-4628-A624-406530ED304D}"/>
              </a:ext>
            </a:extLst>
          </p:cNvPr>
          <p:cNvSpPr>
            <a:spLocks xmlns:a="http://schemas.openxmlformats.org/drawingml/2006/main" noGrp="1"/>
          </p:cNvSpPr>
          <p:nvPr/>
        </p:nvSpPr>
        <p:spPr>
          <a:xfrm xmlns:a="http://schemas.openxmlformats.org/drawingml/2006/main">
            <a:off x="647700" y="40005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125" b="1">
                <a:solidFill>
                  <a:srgbClr val="187C78"/>
                </a:solidFill>
                <a:latin typeface="Helvetica Neue"/>
                <a:ea typeface="Helvetica Neue"/>
                <a:cs typeface="Helvetica Neue"/>
              </a:defRPr>
            </a:pPr>
            <a:r>
              <a:rPr sz="1125" b="1">
                <a:solidFill>
                  <a:srgbClr val="187C78"/>
                </a:solidFill>
                <a:latin typeface="Helvetica Neue"/>
                <a:ea typeface="Helvetica Neue"/>
                <a:cs typeface="Helvetica Neue"/>
              </a:rPr>
              <a:t>RÉSULTATS — SORTIES SAUVEGARDÉES</a:t>
            </a:r>
          </a:p>
        </p:txBody>
      </p:sp>
      <p:sp>
        <p:nvSpPr>
          <p:cNvPr id="4" name="">
            <a:extLst xmlns:a="http://schemas.openxmlformats.org/drawingml/2006/main">
              <a:ext uri="{FF2B5EF4-FFF2-40B4-BE49-F238E27FC236}">
                <a16:creationId xmlns:a16="http://schemas.microsoft.com/office/drawing/2014/main" id="{21503610-4BBB-4013-B60F-997AC0AF0A9E}"/>
              </a:ext>
            </a:extLst>
          </p:cNvPr>
          <p:cNvSpPr>
            <a:spLocks xmlns:a="http://schemas.openxmlformats.org/drawingml/2006/main" noGrp="1"/>
          </p:cNvSpPr>
          <p:nvPr/>
        </p:nvSpPr>
        <p:spPr>
          <a:xfrm xmlns:a="http://schemas.openxmlformats.org/drawingml/2006/main">
            <a:off x="647700" y="685800"/>
            <a:ext cx="10896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2775" b="1">
                <a:solidFill>
                  <a:srgbClr val="10263D"/>
                </a:solidFill>
                <a:latin typeface="Helvetica Neue"/>
                <a:ea typeface="Helvetica Neue"/>
                <a:cs typeface="Helvetica Neue"/>
              </a:defRPr>
            </a:pPr>
            <a:r>
              <a:rPr sz="2775" b="1">
                <a:solidFill>
                  <a:srgbClr val="10263D"/>
                </a:solidFill>
                <a:latin typeface="Helvetica Neue"/>
                <a:ea typeface="Helvetica Neue"/>
                <a:cs typeface="Helvetica Neue"/>
              </a:rPr>
              <a:t>Les artefacts Soda sont les plus lisibles dans cet essai</a:t>
            </a:r>
          </a:p>
        </p:txBody>
      </p:sp>
      <p:sp>
        <p:nvSpPr>
          <p:cNvPr id="5" name="">
            <a:extLst xmlns:a="http://schemas.openxmlformats.org/drawingml/2006/main">
              <a:ext uri="{FF2B5EF4-FFF2-40B4-BE49-F238E27FC236}">
                <a16:creationId xmlns:a16="http://schemas.microsoft.com/office/drawing/2014/main" id="{EE20482E-2A9D-4D0E-B91E-8C70F20F4608}"/>
              </a:ext>
            </a:extLst>
          </p:cNvPr>
          <p:cNvSpPr>
            <a:spLocks xmlns:a="http://schemas.openxmlformats.org/drawingml/2006/main" noGrp="1"/>
          </p:cNvSpPr>
          <p:nvPr/>
        </p:nvSpPr>
        <p:spPr>
          <a:xfrm xmlns:a="http://schemas.openxmlformats.org/drawingml/2006/main">
            <a:off x="647700" y="6286500"/>
            <a:ext cx="10896600" cy="13335"/>
          </a:xfrm>
          <a:prstGeom xmlns:a="http://schemas.openxmlformats.org/drawingml/2006/main" prst="rect">
            <a:avLst/>
          </a:prstGeom>
          <a:solidFill xmlns:a="http://schemas.openxmlformats.org/drawingml/2006/main">
            <a:srgbClr val="D9E1E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A3F6BDF-3067-4865-BEF3-ABC892A78295}"/>
              </a:ext>
            </a:extLst>
          </p:cNvPr>
          <p:cNvSpPr>
            <a:spLocks xmlns:a="http://schemas.openxmlformats.org/drawingml/2006/main" noGrp="1"/>
          </p:cNvSpPr>
          <p:nvPr/>
        </p:nvSpPr>
        <p:spPr>
          <a:xfrm xmlns:a="http://schemas.openxmlformats.org/drawingml/2006/main">
            <a:off x="647700" y="6381750"/>
            <a:ext cx="933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975" b="0">
                <a:solidFill>
                  <a:srgbClr val="66798D"/>
                </a:solidFill>
                <a:latin typeface="Helvetica Neue"/>
                <a:ea typeface="Helvetica Neue"/>
                <a:cs typeface="Helvetica Neue"/>
              </a:defRPr>
            </a:pPr>
            <a:r>
              <a:rPr sz="975" b="0">
                <a:solidFill>
                  <a:srgbClr val="66798D"/>
                </a:solidFill>
                <a:latin typeface="Helvetica Neue"/>
                <a:ea typeface="Helvetica Neue"/>
                <a:cs typeface="Helvetica Neue"/>
              </a:rPr>
              <a:t>Projet individuel • Expérience contrôlée • 2026</a:t>
            </a:r>
          </a:p>
        </p:txBody>
      </p:sp>
      <p:sp>
        <p:nvSpPr>
          <p:cNvPr id="7" name="">
            <a:extLst xmlns:a="http://schemas.openxmlformats.org/drawingml/2006/main">
              <a:ext uri="{FF2B5EF4-FFF2-40B4-BE49-F238E27FC236}">
                <a16:creationId xmlns:a16="http://schemas.microsoft.com/office/drawing/2014/main" id="{B8EC1AF1-8FA4-46F8-85C6-2384DFE7BE1F}"/>
              </a:ext>
            </a:extLst>
          </p:cNvPr>
          <p:cNvSpPr>
            <a:spLocks xmlns:a="http://schemas.openxmlformats.org/drawingml/2006/main" noGrp="1"/>
          </p:cNvSpPr>
          <p:nvPr/>
        </p:nvSpPr>
        <p:spPr>
          <a:xfrm xmlns:a="http://schemas.openxmlformats.org/drawingml/2006/main">
            <a:off x="10953750" y="63817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5000"/>
              </a:lnSpc>
              <a:buNone/>
              <a:defRPr sz="975" b="0">
                <a:solidFill>
                  <a:srgbClr val="66798D"/>
                </a:solidFill>
                <a:latin typeface="Helvetica Neue"/>
                <a:ea typeface="Helvetica Neue"/>
                <a:cs typeface="Helvetica Neue"/>
              </a:defRPr>
            </a:pPr>
            <a:r>
              <a:rPr sz="975" b="0">
                <a:solidFill>
                  <a:srgbClr val="66798D"/>
                </a:solidFill>
                <a:latin typeface="Helvetica Neue"/>
                <a:ea typeface="Helvetica Neue"/>
                <a:cs typeface="Helvetica Neue"/>
              </a:rPr>
              <a:t>07</a:t>
            </a:r>
          </a:p>
        </p:txBody>
      </p:sp>
      <p:graphicFrame>
        <p:nvGraphicFramePr>
          <p:cNvPr id="26" name=""/>
          <p:cNvGraphicFramePr/>
          <p:nvPr/>
        </p:nvGraphicFramePr>
        <p:xfrm>
          <a:off xmlns:a="http://schemas.openxmlformats.org/drawingml/2006/main" x="647700" y="1609725"/>
          <a:ext xmlns:a="http://schemas.openxmlformats.org/drawingml/2006/main" cx="6381750" cy="3000375"/>
        </p:xfrm>
        <a:graphic xmlns:a="http://schemas.openxmlformats.org/drawingml/2006/main">
          <a:graphicData uri="http://schemas.openxmlformats.org/drawingml/2006/table">
            <a:tbl>
              <a:tblPr firstRow="1" bandRow="1"/>
              <a:tblGrid>
                <a:gridCol w="2952750"/>
                <a:gridCol w="1476375"/>
                <a:gridCol w="1952625"/>
              </a:tblGrid>
              <a:tr h="457200">
                <a:tc>
                  <a:txBody>
                    <a:bodyPr/>
                    <a:lstStyle/>
                    <a:p>
                      <a:r>
                        <a:rPr sz="1275" b="1">
                          <a:solidFill>
                            <a:srgbClr val="FFFFFF"/>
                          </a:solidFill>
                          <a:latin typeface="Helvetica Neue"/>
                          <a:ea typeface="Helvetica Neue"/>
                          <a:cs typeface="Helvetica Neue"/>
                        </a:rPr>
                        <a:t>Outil</a:t>
                      </a:r>
                    </a:p>
                  </a:txBody>
                  <a:tcPr marL="91440" marR="91440" marT="45720" marB="45720" anchor="ctr">
                    <a:solidFill>
                      <a:srgbClr val="10263D"/>
                    </a:solidFill>
                  </a:tcPr>
                </a:tc>
                <a:tc>
                  <a:txBody>
                    <a:bodyPr/>
                    <a:lstStyle/>
                    <a:p>
                      <a:r>
                        <a:rPr sz="1275" b="1">
                          <a:solidFill>
                            <a:srgbClr val="FFFFFF"/>
                          </a:solidFill>
                          <a:latin typeface="Helvetica Neue"/>
                          <a:ea typeface="Helvetica Neue"/>
                          <a:cs typeface="Helvetica Neue"/>
                        </a:rPr>
                        <a:t>Moyenne / 5</a:t>
                      </a:r>
                    </a:p>
                  </a:txBody>
                  <a:tcPr marL="91440" marR="91440" marT="45720" marB="45720" anchor="ctr">
                    <a:solidFill>
                      <a:srgbClr val="10263D"/>
                    </a:solidFill>
                  </a:tcPr>
                </a:tc>
                <a:tc>
                  <a:txBody>
                    <a:bodyPr/>
                    <a:lstStyle/>
                    <a:p>
                      <a:r>
                        <a:rPr sz="1275" b="1">
                          <a:solidFill>
                            <a:srgbClr val="FFFFFF"/>
                          </a:solidFill>
                          <a:latin typeface="Helvetica Neue"/>
                          <a:ea typeface="Helvetica Neue"/>
                          <a:cs typeface="Helvetica Neue"/>
                        </a:rPr>
                        <a:t>Lecture synthétique</a:t>
                      </a:r>
                    </a:p>
                  </a:txBody>
                  <a:tcPr marL="91440" marR="91440" marT="45720" marB="45720" anchor="ctr">
                    <a:solidFill>
                      <a:srgbClr val="10263D"/>
                    </a:solidFill>
                  </a:tcPr>
                </a:tc>
              </a:tr>
              <a:tr h="847725">
                <a:tc>
                  <a:txBody>
                    <a:bodyPr/>
                    <a:lstStyle/>
                    <a:p>
                      <a:r>
                        <a:rPr sz="1350" b="0">
                          <a:solidFill>
                            <a:srgbClr val="203247"/>
                          </a:solidFill>
                          <a:latin typeface="Helvetica Neue"/>
                          <a:ea typeface="Helvetica Neue"/>
                          <a:cs typeface="Helvetica Neue"/>
                        </a:rPr>
                        <a:t>Great Expectations</a:t>
                      </a:r>
                    </a:p>
                  </a:txBody>
                  <a:tcPr marL="91440" marR="91440" marT="45720" marB="45720" anchor="ctr"/>
                </a:tc>
                <a:tc>
                  <a:txBody>
                    <a:bodyPr/>
                    <a:lstStyle/>
                    <a:p>
                      <a:r>
                        <a:rPr sz="1350" b="0">
                          <a:solidFill>
                            <a:srgbClr val="203247"/>
                          </a:solidFill>
                          <a:latin typeface="Helvetica Neue"/>
                          <a:ea typeface="Helvetica Neue"/>
                          <a:cs typeface="Helvetica Neue"/>
                        </a:rPr>
                        <a:t>3,00</a:t>
                      </a:r>
                    </a:p>
                  </a:txBody>
                  <a:tcPr marL="91440" marR="91440" marT="45720" marB="45720" anchor="ctr"/>
                </a:tc>
                <a:tc>
                  <a:txBody>
                    <a:bodyPr/>
                    <a:lstStyle/>
                    <a:p>
                      <a:r>
                        <a:rPr sz="1350" b="0">
                          <a:solidFill>
                            <a:srgbClr val="203247"/>
                          </a:solidFill>
                          <a:latin typeface="Helvetica Neue"/>
                          <a:ea typeface="Helvetica Neue"/>
                          <a:cs typeface="Helvetica Neue"/>
                        </a:rPr>
                        <a:t>Statut + nombre</a:t>
                      </a:r>
                    </a:p>
                  </a:txBody>
                  <a:tcPr marL="91440" marR="91440" marT="45720" marB="45720" anchor="ctr"/>
                </a:tc>
              </a:tr>
              <a:tr h="847725">
                <a:tc>
                  <a:txBody>
                    <a:bodyPr/>
                    <a:lstStyle/>
                    <a:p>
                      <a:r>
                        <a:rPr sz="1350" b="0">
                          <a:solidFill>
                            <a:srgbClr val="203247"/>
                          </a:solidFill>
                          <a:latin typeface="Helvetica Neue"/>
                          <a:ea typeface="Helvetica Neue"/>
                          <a:cs typeface="Helvetica Neue"/>
                        </a:rPr>
                        <a:t>Soda Core</a:t>
                      </a:r>
                    </a:p>
                  </a:txBody>
                  <a:tcPr marL="91440" marR="91440" marT="45720" marB="45720" anchor="ctr"/>
                </a:tc>
                <a:tc>
                  <a:txBody>
                    <a:bodyPr/>
                    <a:lstStyle/>
                    <a:p>
                      <a:r>
                        <a:rPr sz="1350" b="0">
                          <a:solidFill>
                            <a:srgbClr val="203247"/>
                          </a:solidFill>
                          <a:latin typeface="Helvetica Neue"/>
                          <a:ea typeface="Helvetica Neue"/>
                          <a:cs typeface="Helvetica Neue"/>
                        </a:rPr>
                        <a:t>3,75</a:t>
                      </a:r>
                    </a:p>
                  </a:txBody>
                  <a:tcPr marL="91440" marR="91440" marT="45720" marB="45720" anchor="ctr"/>
                </a:tc>
                <a:tc>
                  <a:txBody>
                    <a:bodyPr/>
                    <a:lstStyle/>
                    <a:p>
                      <a:r>
                        <a:rPr sz="1350" b="0">
                          <a:solidFill>
                            <a:srgbClr val="203247"/>
                          </a:solidFill>
                          <a:latin typeface="Helvetica Neue"/>
                          <a:ea typeface="Helvetica Neue"/>
                          <a:cs typeface="Helvetica Neue"/>
                        </a:rPr>
                        <a:t>Nom + taux + volume</a:t>
                      </a:r>
                    </a:p>
                  </a:txBody>
                  <a:tcPr marL="91440" marR="91440" marT="45720" marB="45720" anchor="ctr"/>
                </a:tc>
              </a:tr>
              <a:tr h="847725">
                <a:tc>
                  <a:txBody>
                    <a:bodyPr/>
                    <a:lstStyle/>
                    <a:p>
                      <a:r>
                        <a:rPr sz="1350" b="0">
                          <a:solidFill>
                            <a:srgbClr val="203247"/>
                          </a:solidFill>
                          <a:latin typeface="Helvetica Neue"/>
                          <a:ea typeface="Helvetica Neue"/>
                          <a:cs typeface="Helvetica Neue"/>
                        </a:rPr>
                        <a:t>PyDeequ / Deequ</a:t>
                      </a:r>
                    </a:p>
                  </a:txBody>
                  <a:tcPr marL="91440" marR="91440" marT="45720" marB="45720" anchor="ctr"/>
                </a:tc>
                <a:tc>
                  <a:txBody>
                    <a:bodyPr/>
                    <a:lstStyle/>
                    <a:p>
                      <a:r>
                        <a:rPr sz="1350" b="0">
                          <a:solidFill>
                            <a:srgbClr val="203247"/>
                          </a:solidFill>
                          <a:latin typeface="Helvetica Neue"/>
                          <a:ea typeface="Helvetica Neue"/>
                          <a:cs typeface="Helvetica Neue"/>
                        </a:rPr>
                        <a:t>3,25</a:t>
                      </a:r>
                    </a:p>
                  </a:txBody>
                  <a:tcPr marL="91440" marR="91440" marT="45720" marB="45720" anchor="ctr"/>
                </a:tc>
                <a:tc>
                  <a:txBody>
                    <a:bodyPr/>
                    <a:lstStyle/>
                    <a:p>
                      <a:r>
                        <a:rPr sz="1350" b="0">
                          <a:solidFill>
                            <a:srgbClr val="203247"/>
                          </a:solidFill>
                          <a:latin typeface="Helvetica Neue"/>
                          <a:ea typeface="Helvetica Neue"/>
                          <a:cs typeface="Helvetica Neue"/>
                        </a:rPr>
                        <a:t>Contrainte + fraction</a:t>
                      </a:r>
                    </a:p>
                  </a:txBody>
                  <a:tcPr marL="91440" marR="91440" marT="45720" marB="45720" anchor="ctr"/>
                </a:tc>
              </a:tr>
            </a:tbl>
          </a:graphicData>
        </a:graphic>
      </p:graphicFrame>
      <p:sp>
        <p:nvSpPr>
          <p:cNvPr id="9" name="">
            <a:extLst xmlns:a="http://schemas.openxmlformats.org/drawingml/2006/main">
              <a:ext uri="{FF2B5EF4-FFF2-40B4-BE49-F238E27FC236}">
                <a16:creationId xmlns:a16="http://schemas.microsoft.com/office/drawing/2014/main" id="{F0E9C121-C910-438A-9DCA-2A8D9263F330}"/>
              </a:ext>
            </a:extLst>
          </p:cNvPr>
          <p:cNvSpPr>
            <a:spLocks xmlns:a="http://schemas.openxmlformats.org/drawingml/2006/main" noGrp="1"/>
          </p:cNvSpPr>
          <p:nvPr/>
        </p:nvSpPr>
        <p:spPr>
          <a:xfrm xmlns:a="http://schemas.openxmlformats.org/drawingml/2006/main">
            <a:off x="7429500" y="1609725"/>
            <a:ext cx="4114800" cy="1400175"/>
          </a:xfrm>
          <a:prstGeom xmlns:a="http://schemas.openxmlformats.org/drawingml/2006/main" prst="roundRect">
            <a:avLst>
              <a:gd name="adj" fmla="val 8163"/>
            </a:avLst>
          </a:prstGeom>
          <a:solidFill xmlns:a="http://schemas.openxmlformats.org/drawingml/2006/main">
            <a:srgbClr val="FFFFFF"/>
          </a:solidFill>
          <a:ln xmlns:a="http://schemas.openxmlformats.org/drawingml/2006/main" w="9525">
            <a:solidFill>
              <a:srgbClr val="D9E1E8"/>
            </a:solidFill>
          </a:ln>
        </p:spPr>
      </p:sp>
      <p:sp>
        <p:nvSpPr>
          <p:cNvPr id="10" name="">
            <a:extLst xmlns:a="http://schemas.openxmlformats.org/drawingml/2006/main">
              <a:ext uri="{FF2B5EF4-FFF2-40B4-BE49-F238E27FC236}">
                <a16:creationId xmlns:a16="http://schemas.microsoft.com/office/drawing/2014/main" id="{618504A7-2F58-47BC-AAA2-12F2D04E7B3F}"/>
              </a:ext>
            </a:extLst>
          </p:cNvPr>
          <p:cNvSpPr>
            <a:spLocks xmlns:a="http://schemas.openxmlformats.org/drawingml/2006/main" noGrp="1"/>
          </p:cNvSpPr>
          <p:nvPr/>
        </p:nvSpPr>
        <p:spPr>
          <a:xfrm xmlns:a="http://schemas.openxmlformats.org/drawingml/2006/main">
            <a:off x="7429500" y="1609725"/>
            <a:ext cx="66675" cy="1400175"/>
          </a:xfrm>
          <a:prstGeom xmlns:a="http://schemas.openxmlformats.org/drawingml/2006/main" prst="rect">
            <a:avLst/>
          </a:prstGeom>
          <a:solidFill xmlns:a="http://schemas.openxmlformats.org/drawingml/2006/main">
            <a:srgbClr val="187C7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AAB0D8A-3865-4585-9EE4-A9554FB6A783}"/>
              </a:ext>
            </a:extLst>
          </p:cNvPr>
          <p:cNvSpPr>
            <a:spLocks xmlns:a="http://schemas.openxmlformats.org/drawingml/2006/main" noGrp="1"/>
          </p:cNvSpPr>
          <p:nvPr/>
        </p:nvSpPr>
        <p:spPr>
          <a:xfrm xmlns:a="http://schemas.openxmlformats.org/drawingml/2006/main">
            <a:off x="7658100" y="1771650"/>
            <a:ext cx="36861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575" b="1">
                <a:solidFill>
                  <a:srgbClr val="10263D"/>
                </a:solidFill>
                <a:latin typeface="Helvetica Neue"/>
                <a:ea typeface="Helvetica Neue"/>
                <a:cs typeface="Helvetica Neue"/>
              </a:defRPr>
            </a:pPr>
            <a:r>
              <a:rPr sz="1575" b="1">
                <a:solidFill>
                  <a:srgbClr val="10263D"/>
                </a:solidFill>
                <a:latin typeface="Helvetica Neue"/>
                <a:ea typeface="Helvetica Neue"/>
                <a:cs typeface="Helvetica Neue"/>
              </a:rPr>
              <a:t>Atout de Soda</a:t>
            </a:r>
          </a:p>
        </p:txBody>
      </p:sp>
      <p:sp>
        <p:nvSpPr>
          <p:cNvPr id="12" name="">
            <a:extLst xmlns:a="http://schemas.openxmlformats.org/drawingml/2006/main">
              <a:ext uri="{FF2B5EF4-FFF2-40B4-BE49-F238E27FC236}">
                <a16:creationId xmlns:a16="http://schemas.microsoft.com/office/drawing/2014/main" id="{B978815F-D159-49A6-86D9-604B7F328C3D}"/>
              </a:ext>
            </a:extLst>
          </p:cNvPr>
          <p:cNvSpPr>
            <a:spLocks xmlns:a="http://schemas.openxmlformats.org/drawingml/2006/main" noGrp="1"/>
          </p:cNvSpPr>
          <p:nvPr/>
        </p:nvSpPr>
        <p:spPr>
          <a:xfrm xmlns:a="http://schemas.openxmlformats.org/drawingml/2006/main">
            <a:off x="7658100" y="2152650"/>
            <a:ext cx="36576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203247"/>
                </a:solidFill>
                <a:latin typeface="Helvetica Neue"/>
                <a:ea typeface="Helvetica Neue"/>
                <a:cs typeface="Helvetica Neue"/>
              </a:defRPr>
            </a:pPr>
            <a:r>
              <a:rPr sz="1350" b="0">
                <a:solidFill>
                  <a:srgbClr val="203247"/>
                </a:solidFill>
                <a:latin typeface="Helvetica Neue"/>
                <a:ea typeface="Helvetica Neue"/>
                <a:cs typeface="Helvetica Neue"/>
              </a:rPr>
              <a:t>Le résultat C1 nomme le contrôle et donne nombre, taux et volume vérifié.</a:t>
            </a:r>
          </a:p>
        </p:txBody>
      </p:sp>
      <p:sp>
        <p:nvSpPr>
          <p:cNvPr id="13" name="">
            <a:extLst xmlns:a="http://schemas.openxmlformats.org/drawingml/2006/main">
              <a:ext uri="{FF2B5EF4-FFF2-40B4-BE49-F238E27FC236}">
                <a16:creationId xmlns:a16="http://schemas.microsoft.com/office/drawing/2014/main" id="{32C8F5E9-5F6D-469A-B678-92446B453DBE}"/>
              </a:ext>
            </a:extLst>
          </p:cNvPr>
          <p:cNvSpPr>
            <a:spLocks xmlns:a="http://schemas.openxmlformats.org/drawingml/2006/main" noGrp="1"/>
          </p:cNvSpPr>
          <p:nvPr/>
        </p:nvSpPr>
        <p:spPr>
          <a:xfrm xmlns:a="http://schemas.openxmlformats.org/drawingml/2006/main">
            <a:off x="7429500" y="3209925"/>
            <a:ext cx="4114800" cy="1400175"/>
          </a:xfrm>
          <a:prstGeom xmlns:a="http://schemas.openxmlformats.org/drawingml/2006/main" prst="roundRect">
            <a:avLst>
              <a:gd name="adj" fmla="val 8163"/>
            </a:avLst>
          </a:prstGeom>
          <a:solidFill xmlns:a="http://schemas.openxmlformats.org/drawingml/2006/main">
            <a:srgbClr val="FFFFFF"/>
          </a:solidFill>
          <a:ln xmlns:a="http://schemas.openxmlformats.org/drawingml/2006/main" w="9525">
            <a:solidFill>
              <a:srgbClr val="D9E1E8"/>
            </a:solidFill>
          </a:ln>
        </p:spPr>
      </p:sp>
      <p:sp>
        <p:nvSpPr>
          <p:cNvPr id="14" name="">
            <a:extLst xmlns:a="http://schemas.openxmlformats.org/drawingml/2006/main">
              <a:ext uri="{FF2B5EF4-FFF2-40B4-BE49-F238E27FC236}">
                <a16:creationId xmlns:a16="http://schemas.microsoft.com/office/drawing/2014/main" id="{7159B471-4E5C-4949-AD22-AEFF2FAB58C5}"/>
              </a:ext>
            </a:extLst>
          </p:cNvPr>
          <p:cNvSpPr>
            <a:spLocks xmlns:a="http://schemas.openxmlformats.org/drawingml/2006/main" noGrp="1"/>
          </p:cNvSpPr>
          <p:nvPr/>
        </p:nvSpPr>
        <p:spPr>
          <a:xfrm xmlns:a="http://schemas.openxmlformats.org/drawingml/2006/main">
            <a:off x="7429500" y="3209925"/>
            <a:ext cx="66675" cy="1400175"/>
          </a:xfrm>
          <a:prstGeom xmlns:a="http://schemas.openxmlformats.org/drawingml/2006/main" prst="rect">
            <a:avLst/>
          </a:prstGeom>
          <a:solidFill xmlns:a="http://schemas.openxmlformats.org/drawingml/2006/main">
            <a:srgbClr val="D5A64A"/>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DFD918F1-0011-4D1A-ADFE-10916462942E}"/>
              </a:ext>
            </a:extLst>
          </p:cNvPr>
          <p:cNvSpPr>
            <a:spLocks xmlns:a="http://schemas.openxmlformats.org/drawingml/2006/main" noGrp="1"/>
          </p:cNvSpPr>
          <p:nvPr/>
        </p:nvSpPr>
        <p:spPr>
          <a:xfrm xmlns:a="http://schemas.openxmlformats.org/drawingml/2006/main">
            <a:off x="7658100" y="3371850"/>
            <a:ext cx="36861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575" b="1">
                <a:solidFill>
                  <a:srgbClr val="10263D"/>
                </a:solidFill>
                <a:latin typeface="Helvetica Neue"/>
                <a:ea typeface="Helvetica Neue"/>
                <a:cs typeface="Helvetica Neue"/>
              </a:defRPr>
            </a:pPr>
            <a:r>
              <a:rPr sz="1575" b="1">
                <a:solidFill>
                  <a:srgbClr val="10263D"/>
                </a:solidFill>
                <a:latin typeface="Helvetica Neue"/>
                <a:ea typeface="Helvetica Neue"/>
                <a:cs typeface="Helvetica Neue"/>
              </a:rPr>
              <a:t>Réserve méthodologique</a:t>
            </a:r>
          </a:p>
        </p:txBody>
      </p:sp>
      <p:sp>
        <p:nvSpPr>
          <p:cNvPr id="16" name="">
            <a:extLst xmlns:a="http://schemas.openxmlformats.org/drawingml/2006/main">
              <a:ext uri="{FF2B5EF4-FFF2-40B4-BE49-F238E27FC236}">
                <a16:creationId xmlns:a16="http://schemas.microsoft.com/office/drawing/2014/main" id="{996C3DEE-016F-419F-AB70-164B7E4F23A9}"/>
              </a:ext>
            </a:extLst>
          </p:cNvPr>
          <p:cNvSpPr>
            <a:spLocks xmlns:a="http://schemas.openxmlformats.org/drawingml/2006/main" noGrp="1"/>
          </p:cNvSpPr>
          <p:nvPr/>
        </p:nvSpPr>
        <p:spPr>
          <a:xfrm xmlns:a="http://schemas.openxmlformats.org/drawingml/2006/main">
            <a:off x="7658100" y="3752850"/>
            <a:ext cx="36576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203247"/>
                </a:solidFill>
                <a:latin typeface="Helvetica Neue"/>
                <a:ea typeface="Helvetica Neue"/>
                <a:cs typeface="Helvetica Neue"/>
              </a:defRPr>
            </a:pPr>
            <a:r>
              <a:rPr sz="1350" b="0">
                <a:solidFill>
                  <a:srgbClr val="203247"/>
                </a:solidFill>
                <a:latin typeface="Helvetica Neue"/>
                <a:ea typeface="Helvetica Neue"/>
                <a:cs typeface="Helvetica Neue"/>
              </a:rPr>
              <a:t>Une seule évaluatrice; la grille porte sur les exports JSON et Markdown conservés.</a:t>
            </a:r>
          </a:p>
        </p:txBody>
      </p:sp>
      <p:sp>
        <p:nvSpPr>
          <p:cNvPr id="17" name="">
            <a:extLst xmlns:a="http://schemas.openxmlformats.org/drawingml/2006/main">
              <a:ext uri="{FF2B5EF4-FFF2-40B4-BE49-F238E27FC236}">
                <a16:creationId xmlns:a16="http://schemas.microsoft.com/office/drawing/2014/main" id="{A8637636-CBA5-41C5-B87C-F1FF27E42F9D}"/>
              </a:ext>
            </a:extLst>
          </p:cNvPr>
          <p:cNvSpPr>
            <a:spLocks xmlns:a="http://schemas.openxmlformats.org/drawingml/2006/main" noGrp="1"/>
          </p:cNvSpPr>
          <p:nvPr/>
        </p:nvSpPr>
        <p:spPr>
          <a:xfrm xmlns:a="http://schemas.openxmlformats.org/drawingml/2006/main">
            <a:off x="647700" y="5019675"/>
            <a:ext cx="10896600" cy="742950"/>
          </a:xfrm>
          <a:prstGeom xmlns:a="http://schemas.openxmlformats.org/drawingml/2006/main" prst="roundRect">
            <a:avLst>
              <a:gd name="adj" fmla="val 15385"/>
            </a:avLst>
          </a:prstGeom>
          <a:solidFill xmlns:a="http://schemas.openxmlformats.org/drawingml/2006/main">
            <a:srgbClr val="F6ECE9"/>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7C634C7E-5FDF-471B-8FD4-3ADFB8DA87BF}"/>
              </a:ext>
            </a:extLst>
          </p:cNvPr>
          <p:cNvSpPr>
            <a:spLocks xmlns:a="http://schemas.openxmlformats.org/drawingml/2006/main" noGrp="1"/>
          </p:cNvSpPr>
          <p:nvPr/>
        </p:nvSpPr>
        <p:spPr>
          <a:xfrm xmlns:a="http://schemas.openxmlformats.org/drawingml/2006/main">
            <a:off x="895350" y="5210175"/>
            <a:ext cx="10401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425" b="1">
                <a:solidFill>
                  <a:srgbClr val="9E4D43"/>
                </a:solidFill>
                <a:latin typeface="Helvetica Neue"/>
                <a:ea typeface="Helvetica Neue"/>
                <a:cs typeface="Helvetica Neue"/>
              </a:defRPr>
            </a:pPr>
            <a:r>
              <a:rPr sz="1425" b="1">
                <a:solidFill>
                  <a:srgbClr val="9E4D43"/>
                </a:solidFill>
                <a:latin typeface="Helvetica Neue"/>
                <a:ea typeface="Helvetica Neue"/>
                <a:cs typeface="Helvetica Neue"/>
              </a:rPr>
              <a:t>Ces notes ne comparent pas les interfaces ni les rapports natifs complets des produits.</a:t>
            </a:r>
          </a:p>
        </p:txBody>
      </p:sp>
    </p:spTree>
    <p:extLst>
      <p:ext uri="{BB962C8B-B14F-4D97-AF65-F5344CB8AC3E}">
        <p14:creationId xmlns:p14="http://schemas.microsoft.com/office/powerpoint/2010/main" val="705249388"/>
      </p:ext>
    </p:extLst>
  </p:cSld>
</p:sld>
</file>

<file path=ppt/slides/slide8.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6001D93C-0579-402C-AA14-537609CFF8F0}"/>
              </a:ext>
            </a:extLst>
          </p:cNvPr>
          <p:cNvSpPr>
            <a:spLocks xmlns:a="http://schemas.openxmlformats.org/drawingml/2006/main" noGrp="1"/>
          </p:cNvSpPr>
          <p:nvPr/>
        </p:nvSpPr>
        <p:spPr>
          <a:xfrm xmlns:a="http://schemas.openxmlformats.org/drawingml/2006/main">
            <a:off x="0" y="0"/>
            <a:ext cx="12192000" cy="123825"/>
          </a:xfrm>
          <a:prstGeom xmlns:a="http://schemas.openxmlformats.org/drawingml/2006/main" prst="rect">
            <a:avLst/>
          </a:prstGeom>
          <a:solidFill xmlns:a="http://schemas.openxmlformats.org/drawingml/2006/main">
            <a:srgbClr val="10263D"/>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D20F63D-2388-4DD8-8529-FAE0D477F276}"/>
              </a:ext>
            </a:extLst>
          </p:cNvPr>
          <p:cNvSpPr>
            <a:spLocks xmlns:a="http://schemas.openxmlformats.org/drawingml/2006/main" noGrp="1"/>
          </p:cNvSpPr>
          <p:nvPr/>
        </p:nvSpPr>
        <p:spPr>
          <a:xfrm xmlns:a="http://schemas.openxmlformats.org/drawingml/2006/main">
            <a:off x="0" y="123825"/>
            <a:ext cx="2095500" cy="47625"/>
          </a:xfrm>
          <a:prstGeom xmlns:a="http://schemas.openxmlformats.org/drawingml/2006/main" prst="rect">
            <a:avLst/>
          </a:prstGeom>
          <a:solidFill xmlns:a="http://schemas.openxmlformats.org/drawingml/2006/main">
            <a:srgbClr val="D5A64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29DF417-438C-48D4-8752-B39717CD7834}"/>
              </a:ext>
            </a:extLst>
          </p:cNvPr>
          <p:cNvSpPr>
            <a:spLocks xmlns:a="http://schemas.openxmlformats.org/drawingml/2006/main" noGrp="1"/>
          </p:cNvSpPr>
          <p:nvPr/>
        </p:nvSpPr>
        <p:spPr>
          <a:xfrm xmlns:a="http://schemas.openxmlformats.org/drawingml/2006/main">
            <a:off x="647700" y="40005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125" b="1">
                <a:solidFill>
                  <a:srgbClr val="187C78"/>
                </a:solidFill>
                <a:latin typeface="Helvetica Neue"/>
                <a:ea typeface="Helvetica Neue"/>
                <a:cs typeface="Helvetica Neue"/>
              </a:defRPr>
            </a:pPr>
            <a:r>
              <a:rPr sz="1125" b="1">
                <a:solidFill>
                  <a:srgbClr val="187C78"/>
                </a:solidFill>
                <a:latin typeface="Helvetica Neue"/>
                <a:ea typeface="Helvetica Neue"/>
                <a:cs typeface="Helvetica Neue"/>
              </a:rPr>
              <a:t>PREUVE DE CONCEPT SÉPARÉE</a:t>
            </a:r>
          </a:p>
        </p:txBody>
      </p:sp>
      <p:sp>
        <p:nvSpPr>
          <p:cNvPr id="4" name="">
            <a:extLst xmlns:a="http://schemas.openxmlformats.org/drawingml/2006/main">
              <a:ext uri="{FF2B5EF4-FFF2-40B4-BE49-F238E27FC236}">
                <a16:creationId xmlns:a16="http://schemas.microsoft.com/office/drawing/2014/main" id="{7E514146-072F-466A-9B6A-CC46681FBFF4}"/>
              </a:ext>
            </a:extLst>
          </p:cNvPr>
          <p:cNvSpPr>
            <a:spLocks xmlns:a="http://schemas.openxmlformats.org/drawingml/2006/main" noGrp="1"/>
          </p:cNvSpPr>
          <p:nvPr/>
        </p:nvSpPr>
        <p:spPr>
          <a:xfrm xmlns:a="http://schemas.openxmlformats.org/drawingml/2006/main">
            <a:off x="647700" y="685800"/>
            <a:ext cx="10896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2775" b="1">
                <a:solidFill>
                  <a:srgbClr val="10263D"/>
                </a:solidFill>
                <a:latin typeface="Helvetica Neue"/>
                <a:ea typeface="Helvetica Neue"/>
                <a:cs typeface="Helvetica Neue"/>
              </a:defRPr>
            </a:pPr>
            <a:r>
              <a:rPr sz="2775" b="1">
                <a:solidFill>
                  <a:srgbClr val="10263D"/>
                </a:solidFill>
                <a:latin typeface="Helvetica Neue"/>
                <a:ea typeface="Helvetica Neue"/>
                <a:cs typeface="Helvetica Neue"/>
              </a:rPr>
              <a:t>Démonstration : bloquer et isoler les lignes invalides</a:t>
            </a:r>
          </a:p>
        </p:txBody>
      </p:sp>
      <p:sp>
        <p:nvSpPr>
          <p:cNvPr id="5" name="">
            <a:extLst xmlns:a="http://schemas.openxmlformats.org/drawingml/2006/main">
              <a:ext uri="{FF2B5EF4-FFF2-40B4-BE49-F238E27FC236}">
                <a16:creationId xmlns:a16="http://schemas.microsoft.com/office/drawing/2014/main" id="{31FDA6FB-011E-4BAB-9DF6-B38E4C1BD9CC}"/>
              </a:ext>
            </a:extLst>
          </p:cNvPr>
          <p:cNvSpPr>
            <a:spLocks xmlns:a="http://schemas.openxmlformats.org/drawingml/2006/main" noGrp="1"/>
          </p:cNvSpPr>
          <p:nvPr/>
        </p:nvSpPr>
        <p:spPr>
          <a:xfrm xmlns:a="http://schemas.openxmlformats.org/drawingml/2006/main">
            <a:off x="647700" y="6286500"/>
            <a:ext cx="10896600" cy="13335"/>
          </a:xfrm>
          <a:prstGeom xmlns:a="http://schemas.openxmlformats.org/drawingml/2006/main" prst="rect">
            <a:avLst/>
          </a:prstGeom>
          <a:solidFill xmlns:a="http://schemas.openxmlformats.org/drawingml/2006/main">
            <a:srgbClr val="D9E1E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37F8B87-F5AC-41AA-8EA0-52328DBAA711}"/>
              </a:ext>
            </a:extLst>
          </p:cNvPr>
          <p:cNvSpPr>
            <a:spLocks xmlns:a="http://schemas.openxmlformats.org/drawingml/2006/main" noGrp="1"/>
          </p:cNvSpPr>
          <p:nvPr/>
        </p:nvSpPr>
        <p:spPr>
          <a:xfrm xmlns:a="http://schemas.openxmlformats.org/drawingml/2006/main">
            <a:off x="647700" y="6381750"/>
            <a:ext cx="933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975" b="0">
                <a:solidFill>
                  <a:srgbClr val="66798D"/>
                </a:solidFill>
                <a:latin typeface="Helvetica Neue"/>
                <a:ea typeface="Helvetica Neue"/>
                <a:cs typeface="Helvetica Neue"/>
              </a:defRPr>
            </a:pPr>
            <a:r>
              <a:rPr sz="975" b="0">
                <a:solidFill>
                  <a:srgbClr val="66798D"/>
                </a:solidFill>
                <a:latin typeface="Helvetica Neue"/>
                <a:ea typeface="Helvetica Neue"/>
                <a:cs typeface="Helvetica Neue"/>
              </a:rPr>
              <a:t>Projet individuel • Expérience contrôlée • 2026</a:t>
            </a:r>
          </a:p>
        </p:txBody>
      </p:sp>
      <p:sp>
        <p:nvSpPr>
          <p:cNvPr id="7" name="">
            <a:extLst xmlns:a="http://schemas.openxmlformats.org/drawingml/2006/main">
              <a:ext uri="{FF2B5EF4-FFF2-40B4-BE49-F238E27FC236}">
                <a16:creationId xmlns:a16="http://schemas.microsoft.com/office/drawing/2014/main" id="{0735B1DD-6FED-4B01-BF0D-261E592261C0}"/>
              </a:ext>
            </a:extLst>
          </p:cNvPr>
          <p:cNvSpPr>
            <a:spLocks xmlns:a="http://schemas.openxmlformats.org/drawingml/2006/main" noGrp="1"/>
          </p:cNvSpPr>
          <p:nvPr/>
        </p:nvSpPr>
        <p:spPr>
          <a:xfrm xmlns:a="http://schemas.openxmlformats.org/drawingml/2006/main">
            <a:off x="10953750" y="63817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5000"/>
              </a:lnSpc>
              <a:buNone/>
              <a:defRPr sz="975" b="0">
                <a:solidFill>
                  <a:srgbClr val="66798D"/>
                </a:solidFill>
                <a:latin typeface="Helvetica Neue"/>
                <a:ea typeface="Helvetica Neue"/>
                <a:cs typeface="Helvetica Neue"/>
              </a:defRPr>
            </a:pPr>
            <a:r>
              <a:rPr sz="975" b="0">
                <a:solidFill>
                  <a:srgbClr val="66798D"/>
                </a:solidFill>
                <a:latin typeface="Helvetica Neue"/>
                <a:ea typeface="Helvetica Neue"/>
                <a:cs typeface="Helvetica Neue"/>
              </a:rPr>
              <a:t>08</a:t>
            </a:r>
          </a:p>
        </p:txBody>
      </p:sp>
      <p:sp>
        <p:nvSpPr>
          <p:cNvPr id="8" name="">
            <a:extLst xmlns:a="http://schemas.openxmlformats.org/drawingml/2006/main">
              <a:ext uri="{FF2B5EF4-FFF2-40B4-BE49-F238E27FC236}">
                <a16:creationId xmlns:a16="http://schemas.microsoft.com/office/drawing/2014/main" id="{F6C90018-1C50-4EB3-9AC4-82E7149D0853}"/>
              </a:ext>
            </a:extLst>
          </p:cNvPr>
          <p:cNvSpPr>
            <a:spLocks xmlns:a="http://schemas.openxmlformats.org/drawingml/2006/main" noGrp="1"/>
          </p:cNvSpPr>
          <p:nvPr/>
        </p:nvSpPr>
        <p:spPr>
          <a:xfrm xmlns:a="http://schemas.openxmlformats.org/drawingml/2006/main">
            <a:off x="647700" y="1600200"/>
            <a:ext cx="5095875" cy="3429000"/>
          </a:xfrm>
          <a:prstGeom xmlns:a="http://schemas.openxmlformats.org/drawingml/2006/main" prst="roundRect">
            <a:avLst>
              <a:gd name="adj" fmla="val 3889"/>
            </a:avLst>
          </a:prstGeom>
          <a:solidFill xmlns:a="http://schemas.openxmlformats.org/drawingml/2006/main">
            <a:srgbClr val="FFFFFF"/>
          </a:solidFill>
          <a:ln xmlns:a="http://schemas.openxmlformats.org/drawingml/2006/main" w="9525">
            <a:solidFill>
              <a:srgbClr val="D9E1E8"/>
            </a:solidFill>
          </a:ln>
        </p:spPr>
      </p:sp>
      <p:sp>
        <p:nvSpPr>
          <p:cNvPr id="9" name="">
            <a:extLst xmlns:a="http://schemas.openxmlformats.org/drawingml/2006/main">
              <a:ext uri="{FF2B5EF4-FFF2-40B4-BE49-F238E27FC236}">
                <a16:creationId xmlns:a16="http://schemas.microsoft.com/office/drawing/2014/main" id="{966F1266-9E93-4EA6-AB14-2F8599412909}"/>
              </a:ext>
            </a:extLst>
          </p:cNvPr>
          <p:cNvSpPr>
            <a:spLocks xmlns:a="http://schemas.openxmlformats.org/drawingml/2006/main" noGrp="1"/>
          </p:cNvSpPr>
          <p:nvPr/>
        </p:nvSpPr>
        <p:spPr>
          <a:xfrm xmlns:a="http://schemas.openxmlformats.org/drawingml/2006/main">
            <a:off x="647700" y="1600200"/>
            <a:ext cx="5095875" cy="523875"/>
          </a:xfrm>
          <a:prstGeom xmlns:a="http://schemas.openxmlformats.org/drawingml/2006/main" prst="roundRect">
            <a:avLst>
              <a:gd name="adj" fmla="val 25455"/>
            </a:avLst>
          </a:prstGeom>
          <a:solidFill xmlns:a="http://schemas.openxmlformats.org/drawingml/2006/main">
            <a:srgbClr val="27725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D3B7FAC-19EF-4273-858B-80963DF5910D}"/>
              </a:ext>
            </a:extLst>
          </p:cNvPr>
          <p:cNvSpPr>
            <a:spLocks xmlns:a="http://schemas.openxmlformats.org/drawingml/2006/main" noGrp="1"/>
          </p:cNvSpPr>
          <p:nvPr/>
        </p:nvSpPr>
        <p:spPr>
          <a:xfrm xmlns:a="http://schemas.openxmlformats.org/drawingml/2006/main">
            <a:off x="904875" y="1714500"/>
            <a:ext cx="447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575" b="1">
                <a:solidFill>
                  <a:srgbClr val="FFFFFF"/>
                </a:solidFill>
                <a:latin typeface="Helvetica Neue"/>
                <a:ea typeface="Helvetica Neue"/>
                <a:cs typeface="Helvetica Neue"/>
              </a:defRPr>
            </a:pPr>
            <a:r>
              <a:rPr sz="1575" b="1">
                <a:solidFill>
                  <a:srgbClr val="FFFFFF"/>
                </a:solidFill>
                <a:latin typeface="Helvetica Neue"/>
                <a:ea typeface="Helvetica Neue"/>
                <a:cs typeface="Helvetica Neue"/>
              </a:rPr>
              <a:t>JEU PROPRE</a:t>
            </a:r>
          </a:p>
        </p:txBody>
      </p:sp>
      <p:sp>
        <p:nvSpPr>
          <p:cNvPr id="11" name="">
            <a:extLst xmlns:a="http://schemas.openxmlformats.org/drawingml/2006/main">
              <a:ext uri="{FF2B5EF4-FFF2-40B4-BE49-F238E27FC236}">
                <a16:creationId xmlns:a16="http://schemas.microsoft.com/office/drawing/2014/main" id="{3F0C527D-F20C-47F5-B898-DD8DA240813F}"/>
              </a:ext>
            </a:extLst>
          </p:cNvPr>
          <p:cNvSpPr>
            <a:spLocks xmlns:a="http://schemas.openxmlformats.org/drawingml/2006/main" noGrp="1"/>
          </p:cNvSpPr>
          <p:nvPr/>
        </p:nvSpPr>
        <p:spPr>
          <a:xfrm xmlns:a="http://schemas.openxmlformats.org/drawingml/2006/main">
            <a:off x="904875" y="2438400"/>
            <a:ext cx="2190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2925" b="1">
                <a:solidFill>
                  <a:srgbClr val="10263D"/>
                </a:solidFill>
                <a:latin typeface="Helvetica Neue"/>
                <a:ea typeface="Helvetica Neue"/>
                <a:cs typeface="Helvetica Neue"/>
              </a:defRPr>
            </a:pPr>
            <a:r>
              <a:rPr sz="2925" b="1">
                <a:solidFill>
                  <a:srgbClr val="10263D"/>
                </a:solidFill>
                <a:latin typeface="Helvetica Neue"/>
                <a:ea typeface="Helvetica Neue"/>
                <a:cs typeface="Helvetica Neue"/>
              </a:rPr>
              <a:t>50 000</a:t>
            </a:r>
          </a:p>
        </p:txBody>
      </p:sp>
      <p:sp>
        <p:nvSpPr>
          <p:cNvPr id="12" name="">
            <a:extLst xmlns:a="http://schemas.openxmlformats.org/drawingml/2006/main">
              <a:ext uri="{FF2B5EF4-FFF2-40B4-BE49-F238E27FC236}">
                <a16:creationId xmlns:a16="http://schemas.microsoft.com/office/drawing/2014/main" id="{298BA323-D3F7-405B-86EA-5248986AA644}"/>
              </a:ext>
            </a:extLst>
          </p:cNvPr>
          <p:cNvSpPr>
            <a:spLocks xmlns:a="http://schemas.openxmlformats.org/drawingml/2006/main" noGrp="1"/>
          </p:cNvSpPr>
          <p:nvPr/>
        </p:nvSpPr>
        <p:spPr>
          <a:xfrm xmlns:a="http://schemas.openxmlformats.org/drawingml/2006/main">
            <a:off x="904875" y="2990850"/>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350" b="0">
                <a:solidFill>
                  <a:srgbClr val="66798D"/>
                </a:solidFill>
                <a:latin typeface="Helvetica Neue"/>
                <a:ea typeface="Helvetica Neue"/>
                <a:cs typeface="Helvetica Neue"/>
              </a:defRPr>
            </a:pPr>
            <a:r>
              <a:rPr sz="1350" b="0">
                <a:solidFill>
                  <a:srgbClr val="66798D"/>
                </a:solidFill>
                <a:latin typeface="Helvetica Neue"/>
                <a:ea typeface="Helvetica Neue"/>
                <a:cs typeface="Helvetica Neue"/>
              </a:rPr>
              <a:t>lignes évaluées</a:t>
            </a:r>
          </a:p>
        </p:txBody>
      </p:sp>
      <p:sp>
        <p:nvSpPr>
          <p:cNvPr id="13" name="">
            <a:extLst xmlns:a="http://schemas.openxmlformats.org/drawingml/2006/main">
              <a:ext uri="{FF2B5EF4-FFF2-40B4-BE49-F238E27FC236}">
                <a16:creationId xmlns:a16="http://schemas.microsoft.com/office/drawing/2014/main" id="{A78DF10A-75DF-4383-971A-075B032860CC}"/>
              </a:ext>
            </a:extLst>
          </p:cNvPr>
          <p:cNvSpPr>
            <a:spLocks xmlns:a="http://schemas.openxmlformats.org/drawingml/2006/main" noGrp="1"/>
          </p:cNvSpPr>
          <p:nvPr/>
        </p:nvSpPr>
        <p:spPr>
          <a:xfrm xmlns:a="http://schemas.openxmlformats.org/drawingml/2006/main">
            <a:off x="904875" y="3552825"/>
            <a:ext cx="4000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650" b="1">
                <a:solidFill>
                  <a:srgbClr val="277259"/>
                </a:solidFill>
                <a:latin typeface="Helvetica Neue"/>
                <a:ea typeface="Helvetica Neue"/>
                <a:cs typeface="Helvetica Neue"/>
              </a:defRPr>
            </a:pPr>
            <a:r>
              <a:rPr sz="1650" b="1">
                <a:solidFill>
                  <a:srgbClr val="277259"/>
                </a:solidFill>
                <a:latin typeface="Helvetica Neue"/>
                <a:ea typeface="Helvetica Neue"/>
                <a:cs typeface="Helvetica Neue"/>
              </a:rPr>
              <a:t>0 invalide</a:t>
            </a:r>
          </a:p>
        </p:txBody>
      </p:sp>
      <p:sp>
        <p:nvSpPr>
          <p:cNvPr id="14" name="">
            <a:extLst xmlns:a="http://schemas.openxmlformats.org/drawingml/2006/main">
              <a:ext uri="{FF2B5EF4-FFF2-40B4-BE49-F238E27FC236}">
                <a16:creationId xmlns:a16="http://schemas.microsoft.com/office/drawing/2014/main" id="{FEF26062-BC8E-4B7F-9F51-908E644694FB}"/>
              </a:ext>
            </a:extLst>
          </p:cNvPr>
          <p:cNvSpPr>
            <a:spLocks xmlns:a="http://schemas.openxmlformats.org/drawingml/2006/main" noGrp="1"/>
          </p:cNvSpPr>
          <p:nvPr/>
        </p:nvSpPr>
        <p:spPr>
          <a:xfrm xmlns:a="http://schemas.openxmlformats.org/drawingml/2006/main">
            <a:off x="904875" y="4133850"/>
            <a:ext cx="4286250" cy="523875"/>
          </a:xfrm>
          <a:prstGeom xmlns:a="http://schemas.openxmlformats.org/drawingml/2006/main" prst="roundRect">
            <a:avLst>
              <a:gd name="adj" fmla="val 16364"/>
            </a:avLst>
          </a:prstGeom>
          <a:solidFill xmlns:a="http://schemas.openxmlformats.org/drawingml/2006/main">
            <a:srgbClr val="E9F3ED"/>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E10FF322-A39C-44BF-B740-A384A6A4E931}"/>
              </a:ext>
            </a:extLst>
          </p:cNvPr>
          <p:cNvSpPr>
            <a:spLocks xmlns:a="http://schemas.openxmlformats.org/drawingml/2006/main" noGrp="1"/>
          </p:cNvSpPr>
          <p:nvPr/>
        </p:nvSpPr>
        <p:spPr>
          <a:xfrm xmlns:a="http://schemas.openxmlformats.org/drawingml/2006/main">
            <a:off x="1047750" y="4238625"/>
            <a:ext cx="4000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1">
                <a:solidFill>
                  <a:srgbClr val="277259"/>
                </a:solidFill>
                <a:latin typeface="Helvetica Neue"/>
                <a:ea typeface="Helvetica Neue"/>
                <a:cs typeface="Helvetica Neue"/>
              </a:defRPr>
            </a:pPr>
            <a:r>
              <a:rPr sz="1275" b="1">
                <a:solidFill>
                  <a:srgbClr val="277259"/>
                </a:solidFill>
                <a:latin typeface="Helvetica Neue"/>
                <a:ea typeface="Helvetica Neue"/>
                <a:cs typeface="Helvetica Neue"/>
              </a:rPr>
              <a:t>PASS  →  publication de 50 000 lignes</a:t>
            </a:r>
          </a:p>
        </p:txBody>
      </p:sp>
      <p:sp>
        <p:nvSpPr>
          <p:cNvPr id="16" name="">
            <a:extLst xmlns:a="http://schemas.openxmlformats.org/drawingml/2006/main">
              <a:ext uri="{FF2B5EF4-FFF2-40B4-BE49-F238E27FC236}">
                <a16:creationId xmlns:a16="http://schemas.microsoft.com/office/drawing/2014/main" id="{03B4C1C3-C80F-4E6C-8BD6-9B93BB863AA7}"/>
              </a:ext>
            </a:extLst>
          </p:cNvPr>
          <p:cNvSpPr>
            <a:spLocks xmlns:a="http://schemas.openxmlformats.org/drawingml/2006/main" noGrp="1"/>
          </p:cNvSpPr>
          <p:nvPr/>
        </p:nvSpPr>
        <p:spPr>
          <a:xfrm xmlns:a="http://schemas.openxmlformats.org/drawingml/2006/main">
            <a:off x="5857875" y="2962275"/>
            <a:ext cx="457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2775" b="1">
                <a:solidFill>
                  <a:srgbClr val="D5A64A"/>
                </a:solidFill>
                <a:latin typeface="Helvetica Neue"/>
                <a:ea typeface="Helvetica Neue"/>
                <a:cs typeface="Helvetica Neue"/>
              </a:defRPr>
            </a:pPr>
            <a:r>
              <a:rPr sz="2775" b="1">
                <a:solidFill>
                  <a:srgbClr val="D5A64A"/>
                </a:solidFill>
                <a:latin typeface="Helvetica Neue"/>
                <a:ea typeface="Helvetica Neue"/>
                <a:cs typeface="Helvetica Neue"/>
              </a:rPr>
              <a:t>→</a:t>
            </a:r>
          </a:p>
        </p:txBody>
      </p:sp>
      <p:sp>
        <p:nvSpPr>
          <p:cNvPr id="17" name="">
            <a:extLst xmlns:a="http://schemas.openxmlformats.org/drawingml/2006/main">
              <a:ext uri="{FF2B5EF4-FFF2-40B4-BE49-F238E27FC236}">
                <a16:creationId xmlns:a16="http://schemas.microsoft.com/office/drawing/2014/main" id="{AD8171E4-8CC0-4BA5-91BA-6E1BF910A010}"/>
              </a:ext>
            </a:extLst>
          </p:cNvPr>
          <p:cNvSpPr>
            <a:spLocks xmlns:a="http://schemas.openxmlformats.org/drawingml/2006/main" noGrp="1"/>
          </p:cNvSpPr>
          <p:nvPr/>
        </p:nvSpPr>
        <p:spPr>
          <a:xfrm xmlns:a="http://schemas.openxmlformats.org/drawingml/2006/main">
            <a:off x="6448425" y="1600200"/>
            <a:ext cx="5095875" cy="3429000"/>
          </a:xfrm>
          <a:prstGeom xmlns:a="http://schemas.openxmlformats.org/drawingml/2006/main" prst="roundRect">
            <a:avLst>
              <a:gd name="adj" fmla="val 3889"/>
            </a:avLst>
          </a:prstGeom>
          <a:solidFill xmlns:a="http://schemas.openxmlformats.org/drawingml/2006/main">
            <a:srgbClr val="FFFFFF"/>
          </a:solidFill>
          <a:ln xmlns:a="http://schemas.openxmlformats.org/drawingml/2006/main" w="9525">
            <a:solidFill>
              <a:srgbClr val="D9E1E8"/>
            </a:solidFill>
          </a:ln>
        </p:spPr>
      </p:sp>
      <p:sp>
        <p:nvSpPr>
          <p:cNvPr id="18" name="">
            <a:extLst xmlns:a="http://schemas.openxmlformats.org/drawingml/2006/main">
              <a:ext uri="{FF2B5EF4-FFF2-40B4-BE49-F238E27FC236}">
                <a16:creationId xmlns:a16="http://schemas.microsoft.com/office/drawing/2014/main" id="{3DA6FFCA-4B2B-4DAC-B7BB-EEBD8006A3FB}"/>
              </a:ext>
            </a:extLst>
          </p:cNvPr>
          <p:cNvSpPr>
            <a:spLocks xmlns:a="http://schemas.openxmlformats.org/drawingml/2006/main" noGrp="1"/>
          </p:cNvSpPr>
          <p:nvPr/>
        </p:nvSpPr>
        <p:spPr>
          <a:xfrm xmlns:a="http://schemas.openxmlformats.org/drawingml/2006/main">
            <a:off x="6448425" y="1600200"/>
            <a:ext cx="5095875" cy="523875"/>
          </a:xfrm>
          <a:prstGeom xmlns:a="http://schemas.openxmlformats.org/drawingml/2006/main" prst="roundRect">
            <a:avLst>
              <a:gd name="adj" fmla="val 25455"/>
            </a:avLst>
          </a:prstGeom>
          <a:solidFill xmlns:a="http://schemas.openxmlformats.org/drawingml/2006/main">
            <a:srgbClr val="9E4D43"/>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2D964F64-D997-4D86-8D32-9F8B8C87BB35}"/>
              </a:ext>
            </a:extLst>
          </p:cNvPr>
          <p:cNvSpPr>
            <a:spLocks xmlns:a="http://schemas.openxmlformats.org/drawingml/2006/main" noGrp="1"/>
          </p:cNvSpPr>
          <p:nvPr/>
        </p:nvSpPr>
        <p:spPr>
          <a:xfrm xmlns:a="http://schemas.openxmlformats.org/drawingml/2006/main">
            <a:off x="6705600" y="1714500"/>
            <a:ext cx="457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JEU ALTÉRÉ • SEUIL PAR DÉFAUT = 0</a:t>
            </a:r>
          </a:p>
        </p:txBody>
      </p:sp>
      <p:sp>
        <p:nvSpPr>
          <p:cNvPr id="20" name="">
            <a:extLst xmlns:a="http://schemas.openxmlformats.org/drawingml/2006/main">
              <a:ext uri="{FF2B5EF4-FFF2-40B4-BE49-F238E27FC236}">
                <a16:creationId xmlns:a16="http://schemas.microsoft.com/office/drawing/2014/main" id="{259B8F10-13AA-40B2-B188-70F39DAC3154}"/>
              </a:ext>
            </a:extLst>
          </p:cNvPr>
          <p:cNvSpPr>
            <a:spLocks xmlns:a="http://schemas.openxmlformats.org/drawingml/2006/main" noGrp="1"/>
          </p:cNvSpPr>
          <p:nvPr/>
        </p:nvSpPr>
        <p:spPr>
          <a:xfrm xmlns:a="http://schemas.openxmlformats.org/drawingml/2006/main">
            <a:off x="6705600" y="2438400"/>
            <a:ext cx="2190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2925" b="1">
                <a:solidFill>
                  <a:srgbClr val="10263D"/>
                </a:solidFill>
                <a:latin typeface="Helvetica Neue"/>
                <a:ea typeface="Helvetica Neue"/>
                <a:cs typeface="Helvetica Neue"/>
              </a:defRPr>
            </a:pPr>
            <a:r>
              <a:rPr sz="2925" b="1">
                <a:solidFill>
                  <a:srgbClr val="10263D"/>
                </a:solidFill>
                <a:latin typeface="Helvetica Neue"/>
                <a:ea typeface="Helvetica Neue"/>
                <a:cs typeface="Helvetica Neue"/>
              </a:rPr>
              <a:t>2 800</a:t>
            </a:r>
          </a:p>
        </p:txBody>
      </p:sp>
      <p:sp>
        <p:nvSpPr>
          <p:cNvPr id="21" name="">
            <a:extLst xmlns:a="http://schemas.openxmlformats.org/drawingml/2006/main">
              <a:ext uri="{FF2B5EF4-FFF2-40B4-BE49-F238E27FC236}">
                <a16:creationId xmlns:a16="http://schemas.microsoft.com/office/drawing/2014/main" id="{68E8D2F7-C8DA-4371-BD23-660A24F29E4A}"/>
              </a:ext>
            </a:extLst>
          </p:cNvPr>
          <p:cNvSpPr>
            <a:spLocks xmlns:a="http://schemas.openxmlformats.org/drawingml/2006/main" noGrp="1"/>
          </p:cNvSpPr>
          <p:nvPr/>
        </p:nvSpPr>
        <p:spPr>
          <a:xfrm xmlns:a="http://schemas.openxmlformats.org/drawingml/2006/main">
            <a:off x="6705600" y="2990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350" b="0">
                <a:solidFill>
                  <a:srgbClr val="66798D"/>
                </a:solidFill>
                <a:latin typeface="Helvetica Neue"/>
                <a:ea typeface="Helvetica Neue"/>
                <a:cs typeface="Helvetica Neue"/>
              </a:defRPr>
            </a:pPr>
            <a:r>
              <a:rPr sz="1350" b="0">
                <a:solidFill>
                  <a:srgbClr val="66798D"/>
                </a:solidFill>
                <a:latin typeface="Helvetica Neue"/>
                <a:ea typeface="Helvetica Neue"/>
                <a:cs typeface="Helvetica Neue"/>
              </a:rPr>
              <a:t>lignes invalides sur 50 000</a:t>
            </a:r>
          </a:p>
        </p:txBody>
      </p:sp>
      <p:sp>
        <p:nvSpPr>
          <p:cNvPr id="22" name="">
            <a:extLst xmlns:a="http://schemas.openxmlformats.org/drawingml/2006/main">
              <a:ext uri="{FF2B5EF4-FFF2-40B4-BE49-F238E27FC236}">
                <a16:creationId xmlns:a16="http://schemas.microsoft.com/office/drawing/2014/main" id="{FA719FDC-1565-4FEC-8C71-D4869DA3B613}"/>
              </a:ext>
            </a:extLst>
          </p:cNvPr>
          <p:cNvSpPr>
            <a:spLocks xmlns:a="http://schemas.openxmlformats.org/drawingml/2006/main" noGrp="1"/>
          </p:cNvSpPr>
          <p:nvPr/>
        </p:nvSpPr>
        <p:spPr>
          <a:xfrm xmlns:a="http://schemas.openxmlformats.org/drawingml/2006/main">
            <a:off x="6705600" y="3552825"/>
            <a:ext cx="438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425" b="1">
                <a:solidFill>
                  <a:srgbClr val="9E4D43"/>
                </a:solidFill>
                <a:latin typeface="Helvetica Neue"/>
                <a:ea typeface="Helvetica Neue"/>
                <a:cs typeface="Helvetica Neue"/>
              </a:defRPr>
            </a:pPr>
            <a:r>
              <a:rPr sz="1425" b="1">
                <a:solidFill>
                  <a:srgbClr val="9E4D43"/>
                </a:solidFill>
                <a:latin typeface="Helvetica Neue"/>
                <a:ea typeface="Helvetica Neue"/>
                <a:cs typeface="Helvetica Neue"/>
              </a:rPr>
              <a:t>Quarantaine : 2 800  •  concordance exacte</a:t>
            </a:r>
          </a:p>
        </p:txBody>
      </p:sp>
      <p:sp>
        <p:nvSpPr>
          <p:cNvPr id="23" name="">
            <a:extLst xmlns:a="http://schemas.openxmlformats.org/drawingml/2006/main">
              <a:ext uri="{FF2B5EF4-FFF2-40B4-BE49-F238E27FC236}">
                <a16:creationId xmlns:a16="http://schemas.microsoft.com/office/drawing/2014/main" id="{5B3D6505-0C40-47F1-A6B5-0C8DB7750582}"/>
              </a:ext>
            </a:extLst>
          </p:cNvPr>
          <p:cNvSpPr>
            <a:spLocks xmlns:a="http://schemas.openxmlformats.org/drawingml/2006/main" noGrp="1"/>
          </p:cNvSpPr>
          <p:nvPr/>
        </p:nvSpPr>
        <p:spPr>
          <a:xfrm xmlns:a="http://schemas.openxmlformats.org/drawingml/2006/main">
            <a:off x="6705600" y="4133850"/>
            <a:ext cx="4286250" cy="523875"/>
          </a:xfrm>
          <a:prstGeom xmlns:a="http://schemas.openxmlformats.org/drawingml/2006/main" prst="roundRect">
            <a:avLst>
              <a:gd name="adj" fmla="val 16364"/>
            </a:avLst>
          </a:prstGeom>
          <a:solidFill xmlns:a="http://schemas.openxmlformats.org/drawingml/2006/main">
            <a:srgbClr val="F6ECE9"/>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8FEEF699-290D-408F-BC3E-450B935F4E9B}"/>
              </a:ext>
            </a:extLst>
          </p:cNvPr>
          <p:cNvSpPr>
            <a:spLocks xmlns:a="http://schemas.openxmlformats.org/drawingml/2006/main" noGrp="1"/>
          </p:cNvSpPr>
          <p:nvPr/>
        </p:nvSpPr>
        <p:spPr>
          <a:xfrm xmlns:a="http://schemas.openxmlformats.org/drawingml/2006/main">
            <a:off x="6848475" y="4238625"/>
            <a:ext cx="4000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1">
                <a:solidFill>
                  <a:srgbClr val="9E4D43"/>
                </a:solidFill>
                <a:latin typeface="Helvetica Neue"/>
                <a:ea typeface="Helvetica Neue"/>
                <a:cs typeface="Helvetica Neue"/>
              </a:defRPr>
            </a:pPr>
            <a:r>
              <a:rPr sz="1275" b="1">
                <a:solidFill>
                  <a:srgbClr val="9E4D43"/>
                </a:solidFill>
                <a:latin typeface="Helvetica Neue"/>
                <a:ea typeface="Helvetica Neue"/>
                <a:cs typeface="Helvetica Neue"/>
              </a:rPr>
              <a:t>BLOCKED  →  aucune ligne publiée</a:t>
            </a:r>
          </a:p>
        </p:txBody>
      </p:sp>
      <p:sp>
        <p:nvSpPr>
          <p:cNvPr id="25" name="">
            <a:extLst xmlns:a="http://schemas.openxmlformats.org/drawingml/2006/main">
              <a:ext uri="{FF2B5EF4-FFF2-40B4-BE49-F238E27FC236}">
                <a16:creationId xmlns:a16="http://schemas.microsoft.com/office/drawing/2014/main" id="{0499A984-CF02-4AE6-AE45-7B5793202B4A}"/>
              </a:ext>
            </a:extLst>
          </p:cNvPr>
          <p:cNvSpPr>
            <a:spLocks xmlns:a="http://schemas.openxmlformats.org/drawingml/2006/main" noGrp="1"/>
          </p:cNvSpPr>
          <p:nvPr/>
        </p:nvSpPr>
        <p:spPr>
          <a:xfrm xmlns:a="http://schemas.openxmlformats.org/drawingml/2006/main">
            <a:off x="647700" y="5314950"/>
            <a:ext cx="10896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00" b="0">
                <a:solidFill>
                  <a:srgbClr val="66798D"/>
                </a:solidFill>
                <a:latin typeface="Helvetica Neue"/>
                <a:ea typeface="Helvetica Neue"/>
                <a:cs typeface="Helvetica Neue"/>
              </a:defRPr>
            </a:pPr>
            <a:r>
              <a:rPr sz="1200" b="0">
                <a:solidFill>
                  <a:srgbClr val="66798D"/>
                </a:solidFill>
                <a:latin typeface="Helvetica Neue"/>
                <a:ea typeface="Helvetica Neue"/>
                <a:cs typeface="Helvetica Neue"/>
              </a:rPr>
              <a:t>Sorties : violations.csv • quarantine.csv • valid_candidate.csv • run_summary.json</a:t>
            </a:r>
          </a:p>
        </p:txBody>
      </p:sp>
    </p:spTree>
    <p:extLst>
      <p:ext uri="{BB962C8B-B14F-4D97-AF65-F5344CB8AC3E}">
        <p14:creationId xmlns:p14="http://schemas.microsoft.com/office/powerpoint/2010/main" val="1522913948"/>
      </p:ext>
    </p:extLst>
  </p:cSld>
</p:sld>
</file>

<file path=ppt/slides/slide9.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BAC9AD51-8386-4F67-B892-1410B1F6EB2D}"/>
              </a:ext>
            </a:extLst>
          </p:cNvPr>
          <p:cNvSpPr>
            <a:spLocks xmlns:a="http://schemas.openxmlformats.org/drawingml/2006/main" noGrp="1"/>
          </p:cNvSpPr>
          <p:nvPr/>
        </p:nvSpPr>
        <p:spPr>
          <a:xfrm xmlns:a="http://schemas.openxmlformats.org/drawingml/2006/main">
            <a:off x="0" y="0"/>
            <a:ext cx="12192000" cy="123825"/>
          </a:xfrm>
          <a:prstGeom xmlns:a="http://schemas.openxmlformats.org/drawingml/2006/main" prst="rect">
            <a:avLst/>
          </a:prstGeom>
          <a:solidFill xmlns:a="http://schemas.openxmlformats.org/drawingml/2006/main">
            <a:srgbClr val="10263D"/>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CB21681-09B8-4AF7-B407-75203663EEE9}"/>
              </a:ext>
            </a:extLst>
          </p:cNvPr>
          <p:cNvSpPr>
            <a:spLocks xmlns:a="http://schemas.openxmlformats.org/drawingml/2006/main" noGrp="1"/>
          </p:cNvSpPr>
          <p:nvPr/>
        </p:nvSpPr>
        <p:spPr>
          <a:xfrm xmlns:a="http://schemas.openxmlformats.org/drawingml/2006/main">
            <a:off x="0" y="123825"/>
            <a:ext cx="2095500" cy="47625"/>
          </a:xfrm>
          <a:prstGeom xmlns:a="http://schemas.openxmlformats.org/drawingml/2006/main" prst="rect">
            <a:avLst/>
          </a:prstGeom>
          <a:solidFill xmlns:a="http://schemas.openxmlformats.org/drawingml/2006/main">
            <a:srgbClr val="D5A64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7C33EBE-04DF-4B92-B4D9-81678E14ABAE}"/>
              </a:ext>
            </a:extLst>
          </p:cNvPr>
          <p:cNvSpPr>
            <a:spLocks xmlns:a="http://schemas.openxmlformats.org/drawingml/2006/main" noGrp="1"/>
          </p:cNvSpPr>
          <p:nvPr/>
        </p:nvSpPr>
        <p:spPr>
          <a:xfrm xmlns:a="http://schemas.openxmlformats.org/drawingml/2006/main">
            <a:off x="647700" y="40005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125" b="1">
                <a:solidFill>
                  <a:srgbClr val="187C78"/>
                </a:solidFill>
                <a:latin typeface="Helvetica Neue"/>
                <a:ea typeface="Helvetica Neue"/>
                <a:cs typeface="Helvetica Neue"/>
              </a:defRPr>
            </a:pPr>
            <a:r>
              <a:rPr sz="1125" b="1">
                <a:solidFill>
                  <a:srgbClr val="187C78"/>
                </a:solidFill>
                <a:latin typeface="Helvetica Neue"/>
                <a:ea typeface="Helvetica Neue"/>
                <a:cs typeface="Helvetica Neue"/>
              </a:rPr>
              <a:t>RECOMMANDATIONS</a:t>
            </a:r>
          </a:p>
        </p:txBody>
      </p:sp>
      <p:sp>
        <p:nvSpPr>
          <p:cNvPr id="4" name="">
            <a:extLst xmlns:a="http://schemas.openxmlformats.org/drawingml/2006/main">
              <a:ext uri="{FF2B5EF4-FFF2-40B4-BE49-F238E27FC236}">
                <a16:creationId xmlns:a16="http://schemas.microsoft.com/office/drawing/2014/main" id="{2AAA35DB-8DC8-44AB-9A4F-257159B427EA}"/>
              </a:ext>
            </a:extLst>
          </p:cNvPr>
          <p:cNvSpPr>
            <a:spLocks xmlns:a="http://schemas.openxmlformats.org/drawingml/2006/main" noGrp="1"/>
          </p:cNvSpPr>
          <p:nvPr/>
        </p:nvSpPr>
        <p:spPr>
          <a:xfrm xmlns:a="http://schemas.openxmlformats.org/drawingml/2006/main">
            <a:off x="647700" y="685800"/>
            <a:ext cx="10896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2775" b="1">
                <a:solidFill>
                  <a:srgbClr val="10263D"/>
                </a:solidFill>
                <a:latin typeface="Helvetica Neue"/>
                <a:ea typeface="Helvetica Neue"/>
                <a:cs typeface="Helvetica Neue"/>
              </a:defRPr>
            </a:pPr>
            <a:r>
              <a:rPr sz="2775" b="1">
                <a:solidFill>
                  <a:srgbClr val="10263D"/>
                </a:solidFill>
                <a:latin typeface="Helvetica Neue"/>
                <a:ea typeface="Helvetica Neue"/>
                <a:cs typeface="Helvetica Neue"/>
              </a:rPr>
              <a:t>Choisir selon le moteur et le besoin opérationnel</a:t>
            </a:r>
          </a:p>
        </p:txBody>
      </p:sp>
      <p:sp>
        <p:nvSpPr>
          <p:cNvPr id="5" name="">
            <a:extLst xmlns:a="http://schemas.openxmlformats.org/drawingml/2006/main">
              <a:ext uri="{FF2B5EF4-FFF2-40B4-BE49-F238E27FC236}">
                <a16:creationId xmlns:a16="http://schemas.microsoft.com/office/drawing/2014/main" id="{D1DAB62F-FD03-46A3-B50E-D2CB701ED86C}"/>
              </a:ext>
            </a:extLst>
          </p:cNvPr>
          <p:cNvSpPr>
            <a:spLocks xmlns:a="http://schemas.openxmlformats.org/drawingml/2006/main" noGrp="1"/>
          </p:cNvSpPr>
          <p:nvPr/>
        </p:nvSpPr>
        <p:spPr>
          <a:xfrm xmlns:a="http://schemas.openxmlformats.org/drawingml/2006/main">
            <a:off x="647700" y="6286500"/>
            <a:ext cx="10896600" cy="13335"/>
          </a:xfrm>
          <a:prstGeom xmlns:a="http://schemas.openxmlformats.org/drawingml/2006/main" prst="rect">
            <a:avLst/>
          </a:prstGeom>
          <a:solidFill xmlns:a="http://schemas.openxmlformats.org/drawingml/2006/main">
            <a:srgbClr val="D9E1E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FC38885-A346-45E9-A296-01AA76ACD546}"/>
              </a:ext>
            </a:extLst>
          </p:cNvPr>
          <p:cNvSpPr>
            <a:spLocks xmlns:a="http://schemas.openxmlformats.org/drawingml/2006/main" noGrp="1"/>
          </p:cNvSpPr>
          <p:nvPr/>
        </p:nvSpPr>
        <p:spPr>
          <a:xfrm xmlns:a="http://schemas.openxmlformats.org/drawingml/2006/main">
            <a:off x="647700" y="6381750"/>
            <a:ext cx="933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975" b="0">
                <a:solidFill>
                  <a:srgbClr val="66798D"/>
                </a:solidFill>
                <a:latin typeface="Helvetica Neue"/>
                <a:ea typeface="Helvetica Neue"/>
                <a:cs typeface="Helvetica Neue"/>
              </a:defRPr>
            </a:pPr>
            <a:r>
              <a:rPr sz="975" b="0">
                <a:solidFill>
                  <a:srgbClr val="66798D"/>
                </a:solidFill>
                <a:latin typeface="Helvetica Neue"/>
                <a:ea typeface="Helvetica Neue"/>
                <a:cs typeface="Helvetica Neue"/>
              </a:rPr>
              <a:t>Projet individuel • Expérience contrôlée • 2026</a:t>
            </a:r>
          </a:p>
        </p:txBody>
      </p:sp>
      <p:sp>
        <p:nvSpPr>
          <p:cNvPr id="7" name="">
            <a:extLst xmlns:a="http://schemas.openxmlformats.org/drawingml/2006/main">
              <a:ext uri="{FF2B5EF4-FFF2-40B4-BE49-F238E27FC236}">
                <a16:creationId xmlns:a16="http://schemas.microsoft.com/office/drawing/2014/main" id="{10AD25C5-73F8-49DD-A32A-6C0E3CF7ABDB}"/>
              </a:ext>
            </a:extLst>
          </p:cNvPr>
          <p:cNvSpPr>
            <a:spLocks xmlns:a="http://schemas.openxmlformats.org/drawingml/2006/main" noGrp="1"/>
          </p:cNvSpPr>
          <p:nvPr/>
        </p:nvSpPr>
        <p:spPr>
          <a:xfrm xmlns:a="http://schemas.openxmlformats.org/drawingml/2006/main">
            <a:off x="10953750" y="63817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5000"/>
              </a:lnSpc>
              <a:buNone/>
              <a:defRPr sz="975" b="0">
                <a:solidFill>
                  <a:srgbClr val="66798D"/>
                </a:solidFill>
                <a:latin typeface="Helvetica Neue"/>
                <a:ea typeface="Helvetica Neue"/>
                <a:cs typeface="Helvetica Neue"/>
              </a:defRPr>
            </a:pPr>
            <a:r>
              <a:rPr sz="975" b="0">
                <a:solidFill>
                  <a:srgbClr val="66798D"/>
                </a:solidFill>
                <a:latin typeface="Helvetica Neue"/>
                <a:ea typeface="Helvetica Neue"/>
                <a:cs typeface="Helvetica Neue"/>
              </a:rPr>
              <a:t>09</a:t>
            </a:r>
          </a:p>
        </p:txBody>
      </p:sp>
      <p:sp>
        <p:nvSpPr>
          <p:cNvPr id="8" name="">
            <a:extLst xmlns:a="http://schemas.openxmlformats.org/drawingml/2006/main">
              <a:ext uri="{FF2B5EF4-FFF2-40B4-BE49-F238E27FC236}">
                <a16:creationId xmlns:a16="http://schemas.microsoft.com/office/drawing/2014/main" id="{2EC8EC60-4531-4039-976B-4F7B4E6B230A}"/>
              </a:ext>
            </a:extLst>
          </p:cNvPr>
          <p:cNvSpPr>
            <a:spLocks xmlns:a="http://schemas.openxmlformats.org/drawingml/2006/main" noGrp="1"/>
          </p:cNvSpPr>
          <p:nvPr/>
        </p:nvSpPr>
        <p:spPr>
          <a:xfrm xmlns:a="http://schemas.openxmlformats.org/drawingml/2006/main">
            <a:off x="647700" y="1581150"/>
            <a:ext cx="10896600" cy="10287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9525">
            <a:solidFill>
              <a:srgbClr val="D9E1E8"/>
            </a:solidFill>
          </a:ln>
        </p:spPr>
      </p:sp>
      <p:sp>
        <p:nvSpPr>
          <p:cNvPr id="9" name="">
            <a:extLst xmlns:a="http://schemas.openxmlformats.org/drawingml/2006/main">
              <a:ext uri="{FF2B5EF4-FFF2-40B4-BE49-F238E27FC236}">
                <a16:creationId xmlns:a16="http://schemas.microsoft.com/office/drawing/2014/main" id="{16EEE059-AA1D-45B8-B7F0-10E16D07148C}"/>
              </a:ext>
            </a:extLst>
          </p:cNvPr>
          <p:cNvSpPr>
            <a:spLocks xmlns:a="http://schemas.openxmlformats.org/drawingml/2006/main" noGrp="1"/>
          </p:cNvSpPr>
          <p:nvPr/>
        </p:nvSpPr>
        <p:spPr>
          <a:xfrm xmlns:a="http://schemas.openxmlformats.org/drawingml/2006/main">
            <a:off x="647700" y="1581150"/>
            <a:ext cx="114300" cy="1028700"/>
          </a:xfrm>
          <a:prstGeom xmlns:a="http://schemas.openxmlformats.org/drawingml/2006/main" prst="rect">
            <a:avLst/>
          </a:prstGeom>
          <a:solidFill xmlns:a="http://schemas.openxmlformats.org/drawingml/2006/main">
            <a:srgbClr val="187C7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F20AA83-A203-4C24-92D5-FEFBFFA42A1A}"/>
              </a:ext>
            </a:extLst>
          </p:cNvPr>
          <p:cNvSpPr>
            <a:spLocks xmlns:a="http://schemas.openxmlformats.org/drawingml/2006/main" noGrp="1"/>
          </p:cNvSpPr>
          <p:nvPr/>
        </p:nvSpPr>
        <p:spPr>
          <a:xfrm xmlns:a="http://schemas.openxmlformats.org/drawingml/2006/main">
            <a:off x="933450" y="1733550"/>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350" b="1">
                <a:solidFill>
                  <a:srgbClr val="66798D"/>
                </a:solidFill>
                <a:latin typeface="Helvetica Neue"/>
                <a:ea typeface="Helvetica Neue"/>
                <a:cs typeface="Helvetica Neue"/>
              </a:defRPr>
            </a:pPr>
            <a:r>
              <a:rPr sz="1350" b="1">
                <a:solidFill>
                  <a:srgbClr val="66798D"/>
                </a:solidFill>
                <a:latin typeface="Helvetica Neue"/>
                <a:ea typeface="Helvetica Neue"/>
                <a:cs typeface="Helvetica Neue"/>
              </a:rPr>
              <a:t>SQL / DuckDB</a:t>
            </a:r>
          </a:p>
        </p:txBody>
      </p:sp>
      <p:sp>
        <p:nvSpPr>
          <p:cNvPr id="11" name="">
            <a:extLst xmlns:a="http://schemas.openxmlformats.org/drawingml/2006/main">
              <a:ext uri="{FF2B5EF4-FFF2-40B4-BE49-F238E27FC236}">
                <a16:creationId xmlns:a16="http://schemas.microsoft.com/office/drawing/2014/main" id="{63AF684C-F516-4079-A442-3B1D4C35B13F}"/>
              </a:ext>
            </a:extLst>
          </p:cNvPr>
          <p:cNvSpPr>
            <a:spLocks xmlns:a="http://schemas.openxmlformats.org/drawingml/2006/main" noGrp="1"/>
          </p:cNvSpPr>
          <p:nvPr/>
        </p:nvSpPr>
        <p:spPr>
          <a:xfrm xmlns:a="http://schemas.openxmlformats.org/drawingml/2006/main">
            <a:off x="933450" y="2047875"/>
            <a:ext cx="304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575" b="1">
                <a:solidFill>
                  <a:srgbClr val="10263D"/>
                </a:solidFill>
                <a:latin typeface="Helvetica Neue"/>
                <a:ea typeface="Helvetica Neue"/>
                <a:cs typeface="Helvetica Neue"/>
              </a:defRPr>
            </a:pPr>
            <a:r>
              <a:rPr sz="1575" b="1">
                <a:solidFill>
                  <a:srgbClr val="10263D"/>
                </a:solidFill>
                <a:latin typeface="Helvetica Neue"/>
                <a:ea typeface="Helvetica Neue"/>
                <a:cs typeface="Helvetica Neue"/>
              </a:rPr>
              <a:t>Approfondir Soda Core</a:t>
            </a:r>
          </a:p>
        </p:txBody>
      </p:sp>
      <p:sp>
        <p:nvSpPr>
          <p:cNvPr id="12" name="">
            <a:extLst xmlns:a="http://schemas.openxmlformats.org/drawingml/2006/main">
              <a:ext uri="{FF2B5EF4-FFF2-40B4-BE49-F238E27FC236}">
                <a16:creationId xmlns:a16="http://schemas.microsoft.com/office/drawing/2014/main" id="{4689D069-49DE-48C7-807A-55D743334CA5}"/>
              </a:ext>
            </a:extLst>
          </p:cNvPr>
          <p:cNvSpPr>
            <a:spLocks xmlns:a="http://schemas.openxmlformats.org/drawingml/2006/main" noGrp="1"/>
          </p:cNvSpPr>
          <p:nvPr/>
        </p:nvSpPr>
        <p:spPr>
          <a:xfrm xmlns:a="http://schemas.openxmlformats.org/drawingml/2006/main">
            <a:off x="4305300" y="1828800"/>
            <a:ext cx="6810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350" b="0">
                <a:solidFill>
                  <a:srgbClr val="203247"/>
                </a:solidFill>
                <a:latin typeface="Helvetica Neue"/>
                <a:ea typeface="Helvetica Neue"/>
                <a:cs typeface="Helvetica Neue"/>
              </a:defRPr>
            </a:pPr>
            <a:r>
              <a:rPr sz="1350" b="0">
                <a:solidFill>
                  <a:srgbClr val="203247"/>
                </a:solidFill>
                <a:latin typeface="Helvetica Neue"/>
                <a:ea typeface="Helvetica Neue"/>
                <a:cs typeface="Helvetica Neue"/>
              </a:rPr>
              <a:t>Meilleur temps et sorties les plus lisibles dans l’essai local.</a:t>
            </a:r>
          </a:p>
        </p:txBody>
      </p:sp>
      <p:sp>
        <p:nvSpPr>
          <p:cNvPr id="13" name="">
            <a:extLst xmlns:a="http://schemas.openxmlformats.org/drawingml/2006/main">
              <a:ext uri="{FF2B5EF4-FFF2-40B4-BE49-F238E27FC236}">
                <a16:creationId xmlns:a16="http://schemas.microsoft.com/office/drawing/2014/main" id="{71F74B30-2788-4D0A-A062-B3C8C2DBF18C}"/>
              </a:ext>
            </a:extLst>
          </p:cNvPr>
          <p:cNvSpPr>
            <a:spLocks xmlns:a="http://schemas.openxmlformats.org/drawingml/2006/main" noGrp="1"/>
          </p:cNvSpPr>
          <p:nvPr/>
        </p:nvSpPr>
        <p:spPr>
          <a:xfrm xmlns:a="http://schemas.openxmlformats.org/drawingml/2006/main">
            <a:off x="647700" y="2809875"/>
            <a:ext cx="10896600" cy="10287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9525">
            <a:solidFill>
              <a:srgbClr val="D9E1E8"/>
            </a:solidFill>
          </a:ln>
        </p:spPr>
      </p:sp>
      <p:sp>
        <p:nvSpPr>
          <p:cNvPr id="14" name="">
            <a:extLst xmlns:a="http://schemas.openxmlformats.org/drawingml/2006/main">
              <a:ext uri="{FF2B5EF4-FFF2-40B4-BE49-F238E27FC236}">
                <a16:creationId xmlns:a16="http://schemas.microsoft.com/office/drawing/2014/main" id="{1C0DB49F-7CBC-4DF8-8FDD-0AC4558E6773}"/>
              </a:ext>
            </a:extLst>
          </p:cNvPr>
          <p:cNvSpPr>
            <a:spLocks xmlns:a="http://schemas.openxmlformats.org/drawingml/2006/main" noGrp="1"/>
          </p:cNvSpPr>
          <p:nvPr/>
        </p:nvSpPr>
        <p:spPr>
          <a:xfrm xmlns:a="http://schemas.openxmlformats.org/drawingml/2006/main">
            <a:off x="647700" y="2809875"/>
            <a:ext cx="114300" cy="1028700"/>
          </a:xfrm>
          <a:prstGeom xmlns:a="http://schemas.openxmlformats.org/drawingml/2006/main" prst="rect">
            <a:avLst/>
          </a:prstGeom>
          <a:solidFill xmlns:a="http://schemas.openxmlformats.org/drawingml/2006/main">
            <a:srgbClr val="D5A64A"/>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D5E72B90-7211-4FD5-8208-F8E768D178F7}"/>
              </a:ext>
            </a:extLst>
          </p:cNvPr>
          <p:cNvSpPr>
            <a:spLocks xmlns:a="http://schemas.openxmlformats.org/drawingml/2006/main" noGrp="1"/>
          </p:cNvSpPr>
          <p:nvPr/>
        </p:nvSpPr>
        <p:spPr>
          <a:xfrm xmlns:a="http://schemas.openxmlformats.org/drawingml/2006/main">
            <a:off x="933450" y="2962275"/>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350" b="1">
                <a:solidFill>
                  <a:srgbClr val="66798D"/>
                </a:solidFill>
                <a:latin typeface="Helvetica Neue"/>
                <a:ea typeface="Helvetica Neue"/>
                <a:cs typeface="Helvetica Neue"/>
              </a:defRPr>
            </a:pPr>
            <a:r>
              <a:rPr sz="1350" b="1">
                <a:solidFill>
                  <a:srgbClr val="66798D"/>
                </a:solidFill>
                <a:latin typeface="Helvetica Neue"/>
                <a:ea typeface="Helvetica Neue"/>
                <a:cs typeface="Helvetica Neue"/>
              </a:rPr>
              <a:t>Pipeline Apache Spark</a:t>
            </a:r>
          </a:p>
        </p:txBody>
      </p:sp>
      <p:sp>
        <p:nvSpPr>
          <p:cNvPr id="16" name="">
            <a:extLst xmlns:a="http://schemas.openxmlformats.org/drawingml/2006/main">
              <a:ext uri="{FF2B5EF4-FFF2-40B4-BE49-F238E27FC236}">
                <a16:creationId xmlns:a16="http://schemas.microsoft.com/office/drawing/2014/main" id="{9DA12D36-DE6B-49AE-8209-0C6437004C34}"/>
              </a:ext>
            </a:extLst>
          </p:cNvPr>
          <p:cNvSpPr>
            <a:spLocks xmlns:a="http://schemas.openxmlformats.org/drawingml/2006/main" noGrp="1"/>
          </p:cNvSpPr>
          <p:nvPr/>
        </p:nvSpPr>
        <p:spPr>
          <a:xfrm xmlns:a="http://schemas.openxmlformats.org/drawingml/2006/main">
            <a:off x="933450" y="3276600"/>
            <a:ext cx="304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575" b="1">
                <a:solidFill>
                  <a:srgbClr val="10263D"/>
                </a:solidFill>
                <a:latin typeface="Helvetica Neue"/>
                <a:ea typeface="Helvetica Neue"/>
                <a:cs typeface="Helvetica Neue"/>
              </a:defRPr>
            </a:pPr>
            <a:r>
              <a:rPr sz="1575" b="1">
                <a:solidFill>
                  <a:srgbClr val="10263D"/>
                </a:solidFill>
                <a:latin typeface="Helvetica Neue"/>
                <a:ea typeface="Helvetica Neue"/>
                <a:cs typeface="Helvetica Neue"/>
              </a:rPr>
              <a:t>Évaluer PyDeequ / Deequ</a:t>
            </a:r>
          </a:p>
        </p:txBody>
      </p:sp>
      <p:sp>
        <p:nvSpPr>
          <p:cNvPr id="17" name="">
            <a:extLst xmlns:a="http://schemas.openxmlformats.org/drawingml/2006/main">
              <a:ext uri="{FF2B5EF4-FFF2-40B4-BE49-F238E27FC236}">
                <a16:creationId xmlns:a16="http://schemas.microsoft.com/office/drawing/2014/main" id="{021FDDE5-7761-41CA-84F9-EFC533A2E2F1}"/>
              </a:ext>
            </a:extLst>
          </p:cNvPr>
          <p:cNvSpPr>
            <a:spLocks xmlns:a="http://schemas.openxmlformats.org/drawingml/2006/main" noGrp="1"/>
          </p:cNvSpPr>
          <p:nvPr/>
        </p:nvSpPr>
        <p:spPr>
          <a:xfrm xmlns:a="http://schemas.openxmlformats.org/drawingml/2006/main">
            <a:off x="4305300" y="3057525"/>
            <a:ext cx="6810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350" b="0">
                <a:solidFill>
                  <a:srgbClr val="203247"/>
                </a:solidFill>
                <a:latin typeface="Helvetica Neue"/>
                <a:ea typeface="Helvetica Neue"/>
                <a:cs typeface="Helvetica Neue"/>
              </a:defRPr>
            </a:pPr>
            <a:r>
              <a:rPr sz="1350" b="0">
                <a:solidFill>
                  <a:srgbClr val="203247"/>
                </a:solidFill>
                <a:latin typeface="Helvetica Neue"/>
                <a:ea typeface="Helvetica Neue"/>
                <a:cs typeface="Helvetica Neue"/>
              </a:rPr>
              <a:t>S’insère naturellement dans un flux déjà construit sur Spark.</a:t>
            </a:r>
          </a:p>
        </p:txBody>
      </p:sp>
      <p:sp>
        <p:nvSpPr>
          <p:cNvPr id="18" name="">
            <a:extLst xmlns:a="http://schemas.openxmlformats.org/drawingml/2006/main">
              <a:ext uri="{FF2B5EF4-FFF2-40B4-BE49-F238E27FC236}">
                <a16:creationId xmlns:a16="http://schemas.microsoft.com/office/drawing/2014/main" id="{C6DC9FE3-2264-4455-A817-1EE889C5CD02}"/>
              </a:ext>
            </a:extLst>
          </p:cNvPr>
          <p:cNvSpPr>
            <a:spLocks xmlns:a="http://schemas.openxmlformats.org/drawingml/2006/main" noGrp="1"/>
          </p:cNvSpPr>
          <p:nvPr/>
        </p:nvSpPr>
        <p:spPr>
          <a:xfrm xmlns:a="http://schemas.openxmlformats.org/drawingml/2006/main">
            <a:off x="647700" y="4038600"/>
            <a:ext cx="10896600" cy="10287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9525">
            <a:solidFill>
              <a:srgbClr val="D9E1E8"/>
            </a:solidFill>
          </a:ln>
        </p:spPr>
      </p:sp>
      <p:sp>
        <p:nvSpPr>
          <p:cNvPr id="19" name="">
            <a:extLst xmlns:a="http://schemas.openxmlformats.org/drawingml/2006/main">
              <a:ext uri="{FF2B5EF4-FFF2-40B4-BE49-F238E27FC236}">
                <a16:creationId xmlns:a16="http://schemas.microsoft.com/office/drawing/2014/main" id="{834CDD2E-C9E9-4290-8D52-9F66F365BA5D}"/>
              </a:ext>
            </a:extLst>
          </p:cNvPr>
          <p:cNvSpPr>
            <a:spLocks xmlns:a="http://schemas.openxmlformats.org/drawingml/2006/main" noGrp="1"/>
          </p:cNvSpPr>
          <p:nvPr/>
        </p:nvSpPr>
        <p:spPr>
          <a:xfrm xmlns:a="http://schemas.openxmlformats.org/drawingml/2006/main">
            <a:off x="647700" y="4038600"/>
            <a:ext cx="114300" cy="1028700"/>
          </a:xfrm>
          <a:prstGeom xmlns:a="http://schemas.openxmlformats.org/drawingml/2006/main" prst="rect">
            <a:avLst/>
          </a:prstGeom>
          <a:solidFill xmlns:a="http://schemas.openxmlformats.org/drawingml/2006/main">
            <a:srgbClr val="193A59"/>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34C82144-2DAE-49AA-BA5E-9495670E1AC6}"/>
              </a:ext>
            </a:extLst>
          </p:cNvPr>
          <p:cNvSpPr>
            <a:spLocks xmlns:a="http://schemas.openxmlformats.org/drawingml/2006/main" noGrp="1"/>
          </p:cNvSpPr>
          <p:nvPr/>
        </p:nvSpPr>
        <p:spPr>
          <a:xfrm xmlns:a="http://schemas.openxmlformats.org/drawingml/2006/main">
            <a:off x="933450" y="4191000"/>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350" b="1">
                <a:solidFill>
                  <a:srgbClr val="66798D"/>
                </a:solidFill>
                <a:latin typeface="Helvetica Neue"/>
                <a:ea typeface="Helvetica Neue"/>
                <a:cs typeface="Helvetica Neue"/>
              </a:defRPr>
            </a:pPr>
            <a:r>
              <a:rPr sz="1350" b="1">
                <a:solidFill>
                  <a:srgbClr val="66798D"/>
                </a:solidFill>
                <a:latin typeface="Helvetica Neue"/>
                <a:ea typeface="Helvetica Neue"/>
                <a:cs typeface="Helvetica Neue"/>
              </a:rPr>
              <a:t>Application Python</a:t>
            </a:r>
          </a:p>
        </p:txBody>
      </p:sp>
      <p:sp>
        <p:nvSpPr>
          <p:cNvPr id="21" name="">
            <a:extLst xmlns:a="http://schemas.openxmlformats.org/drawingml/2006/main">
              <a:ext uri="{FF2B5EF4-FFF2-40B4-BE49-F238E27FC236}">
                <a16:creationId xmlns:a16="http://schemas.microsoft.com/office/drawing/2014/main" id="{9D0906FC-C47E-4EC6-9F5D-0CA83B4BA8F2}"/>
              </a:ext>
            </a:extLst>
          </p:cNvPr>
          <p:cNvSpPr>
            <a:spLocks xmlns:a="http://schemas.openxmlformats.org/drawingml/2006/main" noGrp="1"/>
          </p:cNvSpPr>
          <p:nvPr/>
        </p:nvSpPr>
        <p:spPr>
          <a:xfrm xmlns:a="http://schemas.openxmlformats.org/drawingml/2006/main">
            <a:off x="933450" y="4505325"/>
            <a:ext cx="304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575" b="1">
                <a:solidFill>
                  <a:srgbClr val="10263D"/>
                </a:solidFill>
                <a:latin typeface="Helvetica Neue"/>
                <a:ea typeface="Helvetica Neue"/>
                <a:cs typeface="Helvetica Neue"/>
              </a:defRPr>
            </a:pPr>
            <a:r>
              <a:rPr sz="1575" b="1">
                <a:solidFill>
                  <a:srgbClr val="10263D"/>
                </a:solidFill>
                <a:latin typeface="Helvetica Neue"/>
                <a:ea typeface="Helvetica Neue"/>
                <a:cs typeface="Helvetica Neue"/>
              </a:rPr>
              <a:t>Considérer Great Expectations</a:t>
            </a:r>
          </a:p>
        </p:txBody>
      </p:sp>
      <p:sp>
        <p:nvSpPr>
          <p:cNvPr id="22" name="">
            <a:extLst xmlns:a="http://schemas.openxmlformats.org/drawingml/2006/main">
              <a:ext uri="{FF2B5EF4-FFF2-40B4-BE49-F238E27FC236}">
                <a16:creationId xmlns:a16="http://schemas.microsoft.com/office/drawing/2014/main" id="{9479B7EA-025D-40B9-B912-1B036C430803}"/>
              </a:ext>
            </a:extLst>
          </p:cNvPr>
          <p:cNvSpPr>
            <a:spLocks xmlns:a="http://schemas.openxmlformats.org/drawingml/2006/main" noGrp="1"/>
          </p:cNvSpPr>
          <p:nvPr/>
        </p:nvSpPr>
        <p:spPr>
          <a:xfrm xmlns:a="http://schemas.openxmlformats.org/drawingml/2006/main">
            <a:off x="4305300" y="4286250"/>
            <a:ext cx="6810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350" b="0">
                <a:solidFill>
                  <a:srgbClr val="203247"/>
                </a:solidFill>
                <a:latin typeface="Helvetica Neue"/>
                <a:ea typeface="Helvetica Neue"/>
                <a:cs typeface="Helvetica Neue"/>
              </a:defRPr>
            </a:pPr>
            <a:r>
              <a:rPr sz="1350" b="0">
                <a:solidFill>
                  <a:srgbClr val="203247"/>
                </a:solidFill>
                <a:latin typeface="Helvetica Neue"/>
                <a:ea typeface="Helvetica Neue"/>
                <a:cs typeface="Helvetica Neue"/>
              </a:rPr>
              <a:t>À retenir si son organisation des validations correspond au projet.</a:t>
            </a:r>
          </a:p>
        </p:txBody>
      </p:sp>
      <p:sp>
        <p:nvSpPr>
          <p:cNvPr id="23" name="">
            <a:extLst xmlns:a="http://schemas.openxmlformats.org/drawingml/2006/main">
              <a:ext uri="{FF2B5EF4-FFF2-40B4-BE49-F238E27FC236}">
                <a16:creationId xmlns:a16="http://schemas.microsoft.com/office/drawing/2014/main" id="{4A07FB20-9275-417F-9503-87FFA54F71A7}"/>
              </a:ext>
            </a:extLst>
          </p:cNvPr>
          <p:cNvSpPr>
            <a:spLocks xmlns:a="http://schemas.openxmlformats.org/drawingml/2006/main" noGrp="1"/>
          </p:cNvSpPr>
          <p:nvPr/>
        </p:nvSpPr>
        <p:spPr>
          <a:xfrm xmlns:a="http://schemas.openxmlformats.org/drawingml/2006/main">
            <a:off x="647700" y="5467350"/>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350" b="1">
                <a:solidFill>
                  <a:srgbClr val="187C78"/>
                </a:solidFill>
                <a:latin typeface="Helvetica Neue"/>
                <a:ea typeface="Helvetica Neue"/>
                <a:cs typeface="Helvetica Neue"/>
              </a:defRPr>
            </a:pPr>
            <a:r>
              <a:rPr sz="1350" b="1">
                <a:solidFill>
                  <a:srgbClr val="187C78"/>
                </a:solidFill>
                <a:latin typeface="Helvetica Neue"/>
                <a:ea typeface="Helvetica Neue"/>
                <a:cs typeface="Helvetica Neue"/>
              </a:rPr>
              <a:t>Décision finale : refaire l’essai sur le moteur, les règles et les volumes réellement visés.</a:t>
            </a:r>
          </a:p>
        </p:txBody>
      </p:sp>
    </p:spTree>
    <p:extLst>
      <p:ext uri="{BB962C8B-B14F-4D97-AF65-F5344CB8AC3E}">
        <p14:creationId xmlns:p14="http://schemas.microsoft.com/office/powerpoint/2010/main" val="273676480"/>
      </p:ext>
    </p:extLst>
  </p:cSld>
</p:sld>
</file>

<file path=ppt/slides/slide10.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62A53EE8-2082-4C34-ABFA-1CEDCF2BE56D}"/>
              </a:ext>
            </a:extLst>
          </p:cNvPr>
          <p:cNvSpPr>
            <a:spLocks xmlns:a="http://schemas.openxmlformats.org/drawingml/2006/main" noGrp="1"/>
          </p:cNvSpPr>
          <p:nvPr/>
        </p:nvSpPr>
        <p:spPr>
          <a:xfrm xmlns:a="http://schemas.openxmlformats.org/drawingml/2006/main">
            <a:off x="0" y="0"/>
            <a:ext cx="12192000" cy="123825"/>
          </a:xfrm>
          <a:prstGeom xmlns:a="http://schemas.openxmlformats.org/drawingml/2006/main" prst="rect">
            <a:avLst/>
          </a:prstGeom>
          <a:solidFill xmlns:a="http://schemas.openxmlformats.org/drawingml/2006/main">
            <a:srgbClr val="10263D"/>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A05250C-9B9B-4961-AD54-C59C1EB778D9}"/>
              </a:ext>
            </a:extLst>
          </p:cNvPr>
          <p:cNvSpPr>
            <a:spLocks xmlns:a="http://schemas.openxmlformats.org/drawingml/2006/main" noGrp="1"/>
          </p:cNvSpPr>
          <p:nvPr/>
        </p:nvSpPr>
        <p:spPr>
          <a:xfrm xmlns:a="http://schemas.openxmlformats.org/drawingml/2006/main">
            <a:off x="0" y="123825"/>
            <a:ext cx="2095500" cy="47625"/>
          </a:xfrm>
          <a:prstGeom xmlns:a="http://schemas.openxmlformats.org/drawingml/2006/main" prst="rect">
            <a:avLst/>
          </a:prstGeom>
          <a:solidFill xmlns:a="http://schemas.openxmlformats.org/drawingml/2006/main">
            <a:srgbClr val="D5A64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60671F0-3A8A-4A4E-9B2D-D30A7C63134A}"/>
              </a:ext>
            </a:extLst>
          </p:cNvPr>
          <p:cNvSpPr>
            <a:spLocks xmlns:a="http://schemas.openxmlformats.org/drawingml/2006/main" noGrp="1"/>
          </p:cNvSpPr>
          <p:nvPr/>
        </p:nvSpPr>
        <p:spPr>
          <a:xfrm xmlns:a="http://schemas.openxmlformats.org/drawingml/2006/main">
            <a:off x="647700" y="40005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125" b="1">
                <a:solidFill>
                  <a:srgbClr val="187C78"/>
                </a:solidFill>
                <a:latin typeface="Helvetica Neue"/>
                <a:ea typeface="Helvetica Neue"/>
                <a:cs typeface="Helvetica Neue"/>
              </a:defRPr>
            </a:pPr>
            <a:r>
              <a:rPr sz="1125" b="1">
                <a:solidFill>
                  <a:srgbClr val="187C78"/>
                </a:solidFill>
                <a:latin typeface="Helvetica Neue"/>
                <a:ea typeface="Helvetica Neue"/>
                <a:cs typeface="Helvetica Neue"/>
              </a:rPr>
              <a:t>SYNTHÈSE</a:t>
            </a:r>
          </a:p>
        </p:txBody>
      </p:sp>
      <p:sp>
        <p:nvSpPr>
          <p:cNvPr id="4" name="">
            <a:extLst xmlns:a="http://schemas.openxmlformats.org/drawingml/2006/main">
              <a:ext uri="{FF2B5EF4-FFF2-40B4-BE49-F238E27FC236}">
                <a16:creationId xmlns:a16="http://schemas.microsoft.com/office/drawing/2014/main" id="{5F776BC0-E22C-4F62-BFD7-D49A1139635F}"/>
              </a:ext>
            </a:extLst>
          </p:cNvPr>
          <p:cNvSpPr>
            <a:spLocks xmlns:a="http://schemas.openxmlformats.org/drawingml/2006/main" noGrp="1"/>
          </p:cNvSpPr>
          <p:nvPr/>
        </p:nvSpPr>
        <p:spPr>
          <a:xfrm xmlns:a="http://schemas.openxmlformats.org/drawingml/2006/main">
            <a:off x="647700" y="685800"/>
            <a:ext cx="10896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2775" b="1">
                <a:solidFill>
                  <a:srgbClr val="10263D"/>
                </a:solidFill>
                <a:latin typeface="Helvetica Neue"/>
                <a:ea typeface="Helvetica Neue"/>
                <a:cs typeface="Helvetica Neue"/>
              </a:defRPr>
            </a:pPr>
            <a:r>
              <a:rPr sz="2775" b="1">
                <a:solidFill>
                  <a:srgbClr val="10263D"/>
                </a:solidFill>
                <a:latin typeface="Helvetica Neue"/>
                <a:ea typeface="Helvetica Neue"/>
                <a:cs typeface="Helvetica Neue"/>
              </a:rPr>
              <a:t>Conclusion et travaux qui restent à mener</a:t>
            </a:r>
          </a:p>
        </p:txBody>
      </p:sp>
      <p:sp>
        <p:nvSpPr>
          <p:cNvPr id="5" name="">
            <a:extLst xmlns:a="http://schemas.openxmlformats.org/drawingml/2006/main">
              <a:ext uri="{FF2B5EF4-FFF2-40B4-BE49-F238E27FC236}">
                <a16:creationId xmlns:a16="http://schemas.microsoft.com/office/drawing/2014/main" id="{37A2655E-F0F3-41BE-932D-AFAE7CACC6E6}"/>
              </a:ext>
            </a:extLst>
          </p:cNvPr>
          <p:cNvSpPr>
            <a:spLocks xmlns:a="http://schemas.openxmlformats.org/drawingml/2006/main" noGrp="1"/>
          </p:cNvSpPr>
          <p:nvPr/>
        </p:nvSpPr>
        <p:spPr>
          <a:xfrm xmlns:a="http://schemas.openxmlformats.org/drawingml/2006/main">
            <a:off x="647700" y="6286500"/>
            <a:ext cx="10896600" cy="13335"/>
          </a:xfrm>
          <a:prstGeom xmlns:a="http://schemas.openxmlformats.org/drawingml/2006/main" prst="rect">
            <a:avLst/>
          </a:prstGeom>
          <a:solidFill xmlns:a="http://schemas.openxmlformats.org/drawingml/2006/main">
            <a:srgbClr val="D9E1E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7D98E82-EC5F-444B-B586-8631FBED379B}"/>
              </a:ext>
            </a:extLst>
          </p:cNvPr>
          <p:cNvSpPr>
            <a:spLocks xmlns:a="http://schemas.openxmlformats.org/drawingml/2006/main" noGrp="1"/>
          </p:cNvSpPr>
          <p:nvPr/>
        </p:nvSpPr>
        <p:spPr>
          <a:xfrm xmlns:a="http://schemas.openxmlformats.org/drawingml/2006/main">
            <a:off x="647700" y="6381750"/>
            <a:ext cx="933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975" b="0">
                <a:solidFill>
                  <a:srgbClr val="66798D"/>
                </a:solidFill>
                <a:latin typeface="Helvetica Neue"/>
                <a:ea typeface="Helvetica Neue"/>
                <a:cs typeface="Helvetica Neue"/>
              </a:defRPr>
            </a:pPr>
            <a:r>
              <a:rPr sz="975" b="0">
                <a:solidFill>
                  <a:srgbClr val="66798D"/>
                </a:solidFill>
                <a:latin typeface="Helvetica Neue"/>
                <a:ea typeface="Helvetica Neue"/>
                <a:cs typeface="Helvetica Neue"/>
              </a:rPr>
              <a:t>Projet individuel • Expérience contrôlée • 2026</a:t>
            </a:r>
          </a:p>
        </p:txBody>
      </p:sp>
      <p:sp>
        <p:nvSpPr>
          <p:cNvPr id="7" name="">
            <a:extLst xmlns:a="http://schemas.openxmlformats.org/drawingml/2006/main">
              <a:ext uri="{FF2B5EF4-FFF2-40B4-BE49-F238E27FC236}">
                <a16:creationId xmlns:a16="http://schemas.microsoft.com/office/drawing/2014/main" id="{44B18EE3-4AB5-418D-B648-96064BDE0FB0}"/>
              </a:ext>
            </a:extLst>
          </p:cNvPr>
          <p:cNvSpPr>
            <a:spLocks xmlns:a="http://schemas.openxmlformats.org/drawingml/2006/main" noGrp="1"/>
          </p:cNvSpPr>
          <p:nvPr/>
        </p:nvSpPr>
        <p:spPr>
          <a:xfrm xmlns:a="http://schemas.openxmlformats.org/drawingml/2006/main">
            <a:off x="10953750" y="63817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5000"/>
              </a:lnSpc>
              <a:buNone/>
              <a:defRPr sz="975" b="0">
                <a:solidFill>
                  <a:srgbClr val="66798D"/>
                </a:solidFill>
                <a:latin typeface="Helvetica Neue"/>
                <a:ea typeface="Helvetica Neue"/>
                <a:cs typeface="Helvetica Neue"/>
              </a:defRPr>
            </a:pPr>
            <a:r>
              <a:rPr sz="975" b="0">
                <a:solidFill>
                  <a:srgbClr val="66798D"/>
                </a:solidFill>
                <a:latin typeface="Helvetica Neue"/>
                <a:ea typeface="Helvetica Neue"/>
                <a:cs typeface="Helvetica Neue"/>
              </a:rPr>
              <a:t>10</a:t>
            </a:r>
          </a:p>
        </p:txBody>
      </p:sp>
      <p:sp>
        <p:nvSpPr>
          <p:cNvPr id="8" name="">
            <a:extLst xmlns:a="http://schemas.openxmlformats.org/drawingml/2006/main">
              <a:ext uri="{FF2B5EF4-FFF2-40B4-BE49-F238E27FC236}">
                <a16:creationId xmlns:a16="http://schemas.microsoft.com/office/drawing/2014/main" id="{6C366287-F370-4C09-A541-7C02EFCA0E96}"/>
              </a:ext>
            </a:extLst>
          </p:cNvPr>
          <p:cNvSpPr>
            <a:spLocks xmlns:a="http://schemas.openxmlformats.org/drawingml/2006/main" noGrp="1"/>
          </p:cNvSpPr>
          <p:nvPr/>
        </p:nvSpPr>
        <p:spPr>
          <a:xfrm xmlns:a="http://schemas.openxmlformats.org/drawingml/2006/main">
            <a:off x="647700" y="1562100"/>
            <a:ext cx="5048250" cy="3733800"/>
          </a:xfrm>
          <a:prstGeom xmlns:a="http://schemas.openxmlformats.org/drawingml/2006/main" prst="roundRect">
            <a:avLst>
              <a:gd name="adj" fmla="val 3571"/>
            </a:avLst>
          </a:prstGeom>
          <a:solidFill xmlns:a="http://schemas.openxmlformats.org/drawingml/2006/main">
            <a:srgbClr val="10263D"/>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D783C4B-20E6-474B-BF66-E16CC33B5435}"/>
              </a:ext>
            </a:extLst>
          </p:cNvPr>
          <p:cNvSpPr>
            <a:spLocks xmlns:a="http://schemas.openxmlformats.org/drawingml/2006/main" noGrp="1"/>
          </p:cNvSpPr>
          <p:nvPr/>
        </p:nvSpPr>
        <p:spPr>
          <a:xfrm xmlns:a="http://schemas.openxmlformats.org/drawingml/2006/main">
            <a:off x="962025" y="1819275"/>
            <a:ext cx="428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875" b="1">
                <a:solidFill>
                  <a:srgbClr val="D5A64A"/>
                </a:solidFill>
                <a:latin typeface="Helvetica Neue"/>
                <a:ea typeface="Helvetica Neue"/>
                <a:cs typeface="Helvetica Neue"/>
              </a:defRPr>
            </a:pPr>
            <a:r>
              <a:rPr sz="1875" b="1">
                <a:solidFill>
                  <a:srgbClr val="D5A64A"/>
                </a:solidFill>
                <a:latin typeface="Helvetica Neue"/>
                <a:ea typeface="Helvetica Neue"/>
                <a:cs typeface="Helvetica Neue"/>
              </a:rPr>
              <a:t>Conclusion</a:t>
            </a:r>
          </a:p>
        </p:txBody>
      </p:sp>
      <p:sp>
        <p:nvSpPr>
          <p:cNvPr id="10" name="">
            <a:extLst xmlns:a="http://schemas.openxmlformats.org/drawingml/2006/main">
              <a:ext uri="{FF2B5EF4-FFF2-40B4-BE49-F238E27FC236}">
                <a16:creationId xmlns:a16="http://schemas.microsoft.com/office/drawing/2014/main" id="{2A15040C-43BC-44AD-BFE8-D7B60455FC06}"/>
              </a:ext>
            </a:extLst>
          </p:cNvPr>
          <p:cNvSpPr>
            <a:spLocks xmlns:a="http://schemas.openxmlformats.org/drawingml/2006/main" noGrp="1"/>
          </p:cNvSpPr>
          <p:nvPr/>
        </p:nvSpPr>
        <p:spPr>
          <a:xfrm xmlns:a="http://schemas.openxmlformats.org/drawingml/2006/main">
            <a:off x="962025" y="2362200"/>
            <a:ext cx="43243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00" b="0">
                <a:solidFill>
                  <a:srgbClr val="FFFFFF"/>
                </a:solidFill>
                <a:latin typeface="Helvetica Neue"/>
                <a:ea typeface="Helvetica Neue"/>
                <a:cs typeface="Helvetica Neue"/>
              </a:defRPr>
            </a:pPr>
            <a:r>
              <a:rPr sz="1500" b="0">
                <a:solidFill>
                  <a:srgbClr val="FFFFFF"/>
                </a:solidFill>
                <a:latin typeface="Helvetica Neue"/>
                <a:ea typeface="Helvetica Neue"/>
                <a:cs typeface="Helvetica Neue"/>
              </a:rPr>
              <a:t>Les trois outils concordent sur les comptes de ce jeu synthétique. Soda est le plus rapide dans l’essai mesuré; les différences dépendent de l’initialisation et du moteur.</a:t>
            </a:r>
          </a:p>
        </p:txBody>
      </p:sp>
      <p:sp>
        <p:nvSpPr>
          <p:cNvPr id="11" name="">
            <a:extLst xmlns:a="http://schemas.openxmlformats.org/drawingml/2006/main">
              <a:ext uri="{FF2B5EF4-FFF2-40B4-BE49-F238E27FC236}">
                <a16:creationId xmlns:a16="http://schemas.microsoft.com/office/drawing/2014/main" id="{7CC2BF97-585A-4EE3-8B33-DE5FFD355A63}"/>
              </a:ext>
            </a:extLst>
          </p:cNvPr>
          <p:cNvSpPr>
            <a:spLocks xmlns:a="http://schemas.openxmlformats.org/drawingml/2006/main" noGrp="1"/>
          </p:cNvSpPr>
          <p:nvPr/>
        </p:nvSpPr>
        <p:spPr>
          <a:xfrm xmlns:a="http://schemas.openxmlformats.org/drawingml/2006/main">
            <a:off x="962025" y="3762375"/>
            <a:ext cx="666750" cy="38100"/>
          </a:xfrm>
          <a:prstGeom xmlns:a="http://schemas.openxmlformats.org/drawingml/2006/main" prst="rect">
            <a:avLst/>
          </a:prstGeom>
          <a:solidFill xmlns:a="http://schemas.openxmlformats.org/drawingml/2006/main">
            <a:srgbClr val="D5A64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17846B28-8517-414A-9A64-C107FAFB159C}"/>
              </a:ext>
            </a:extLst>
          </p:cNvPr>
          <p:cNvSpPr>
            <a:spLocks xmlns:a="http://schemas.openxmlformats.org/drawingml/2006/main" noGrp="1"/>
          </p:cNvSpPr>
          <p:nvPr/>
        </p:nvSpPr>
        <p:spPr>
          <a:xfrm xmlns:a="http://schemas.openxmlformats.org/drawingml/2006/main">
            <a:off x="962025" y="4010025"/>
            <a:ext cx="43243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425" b="0">
                <a:solidFill>
                  <a:srgbClr val="D6E0E8"/>
                </a:solidFill>
                <a:latin typeface="Helvetica Neue"/>
                <a:ea typeface="Helvetica Neue"/>
                <a:cs typeface="Helvetica Neue"/>
              </a:defRPr>
            </a:pPr>
            <a:r>
              <a:rPr sz="1425" b="0">
                <a:solidFill>
                  <a:srgbClr val="D6E0E8"/>
                </a:solidFill>
                <a:latin typeface="Helvetica Neue"/>
                <a:ea typeface="Helvetica Neue"/>
                <a:cs typeface="Helvetica Neue"/>
              </a:rPr>
              <a:t>La preuve de concept montre un blocage et une quarantaine reproductibles, encore séparés du benchmark des trois outils.</a:t>
            </a:r>
          </a:p>
        </p:txBody>
      </p:sp>
      <p:sp>
        <p:nvSpPr>
          <p:cNvPr id="13" name="">
            <a:extLst xmlns:a="http://schemas.openxmlformats.org/drawingml/2006/main">
              <a:ext uri="{FF2B5EF4-FFF2-40B4-BE49-F238E27FC236}">
                <a16:creationId xmlns:a16="http://schemas.microsoft.com/office/drawing/2014/main" id="{64AB7876-C4AB-49C4-9C52-07FBEAFF56AA}"/>
              </a:ext>
            </a:extLst>
          </p:cNvPr>
          <p:cNvSpPr>
            <a:spLocks xmlns:a="http://schemas.openxmlformats.org/drawingml/2006/main" noGrp="1"/>
          </p:cNvSpPr>
          <p:nvPr/>
        </p:nvSpPr>
        <p:spPr>
          <a:xfrm xmlns:a="http://schemas.openxmlformats.org/drawingml/2006/main">
            <a:off x="6143625" y="1619250"/>
            <a:ext cx="5334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725" b="1">
                <a:solidFill>
                  <a:srgbClr val="10263D"/>
                </a:solidFill>
                <a:latin typeface="Helvetica Neue"/>
                <a:ea typeface="Helvetica Neue"/>
                <a:cs typeface="Helvetica Neue"/>
              </a:defRPr>
            </a:pPr>
            <a:r>
              <a:rPr sz="1725" b="1">
                <a:solidFill>
                  <a:srgbClr val="10263D"/>
                </a:solidFill>
                <a:latin typeface="Helvetica Neue"/>
                <a:ea typeface="Helvetica Neue"/>
                <a:cs typeface="Helvetica Neue"/>
              </a:rPr>
              <a:t>Prochaines étapes prioritaires</a:t>
            </a:r>
          </a:p>
        </p:txBody>
      </p:sp>
      <p:sp>
        <p:nvSpPr>
          <p:cNvPr id="14" name="">
            <a:extLst xmlns:a="http://schemas.openxmlformats.org/drawingml/2006/main">
              <a:ext uri="{FF2B5EF4-FFF2-40B4-BE49-F238E27FC236}">
                <a16:creationId xmlns:a16="http://schemas.microsoft.com/office/drawing/2014/main" id="{D59A2475-0511-4974-AA55-2357064D7641}"/>
              </a:ext>
            </a:extLst>
          </p:cNvPr>
          <p:cNvSpPr>
            <a:spLocks xmlns:a="http://schemas.openxmlformats.org/drawingml/2006/main" noGrp="1"/>
          </p:cNvSpPr>
          <p:nvPr/>
        </p:nvSpPr>
        <p:spPr>
          <a:xfrm xmlns:a="http://schemas.openxmlformats.org/drawingml/2006/main">
            <a:off x="6143625" y="2238375"/>
            <a:ext cx="323850" cy="323850"/>
          </a:xfrm>
          <a:prstGeom xmlns:a="http://schemas.openxmlformats.org/drawingml/2006/main" prst="roundRect">
            <a:avLst>
              <a:gd name="adj" fmla="val 50000"/>
            </a:avLst>
          </a:prstGeom>
          <a:solidFill xmlns:a="http://schemas.openxmlformats.org/drawingml/2006/main">
            <a:srgbClr val="E9F3F1"/>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BAC90EF8-244F-423E-9CB8-76B5F790E687}"/>
              </a:ext>
            </a:extLst>
          </p:cNvPr>
          <p:cNvSpPr>
            <a:spLocks xmlns:a="http://schemas.openxmlformats.org/drawingml/2006/main" noGrp="1"/>
          </p:cNvSpPr>
          <p:nvPr/>
        </p:nvSpPr>
        <p:spPr>
          <a:xfrm xmlns:a="http://schemas.openxmlformats.org/drawingml/2006/main">
            <a:off x="6143625" y="2257425"/>
            <a:ext cx="323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200" b="1">
                <a:solidFill>
                  <a:srgbClr val="187C78"/>
                </a:solidFill>
                <a:latin typeface="Helvetica Neue"/>
                <a:ea typeface="Helvetica Neue"/>
                <a:cs typeface="Helvetica Neue"/>
              </a:defRPr>
            </a:pPr>
            <a:r>
              <a:rPr sz="1200" b="1">
                <a:solidFill>
                  <a:srgbClr val="187C78"/>
                </a:solidFill>
                <a:latin typeface="Helvetica Neue"/>
                <a:ea typeface="Helvetica Neue"/>
                <a:cs typeface="Helvetica Neue"/>
              </a:rPr>
              <a:t>1</a:t>
            </a:r>
          </a:p>
        </p:txBody>
      </p:sp>
      <p:sp>
        <p:nvSpPr>
          <p:cNvPr id="16" name="">
            <a:extLst xmlns:a="http://schemas.openxmlformats.org/drawingml/2006/main">
              <a:ext uri="{FF2B5EF4-FFF2-40B4-BE49-F238E27FC236}">
                <a16:creationId xmlns:a16="http://schemas.microsoft.com/office/drawing/2014/main" id="{09A8C818-DFD4-4DD4-8C4E-CB6513B8D907}"/>
              </a:ext>
            </a:extLst>
          </p:cNvPr>
          <p:cNvSpPr>
            <a:spLocks xmlns:a="http://schemas.openxmlformats.org/drawingml/2006/main" noGrp="1"/>
          </p:cNvSpPr>
          <p:nvPr/>
        </p:nvSpPr>
        <p:spPr>
          <a:xfrm xmlns:a="http://schemas.openxmlformats.org/drawingml/2006/main">
            <a:off x="6648450" y="2181225"/>
            <a:ext cx="4810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350" b="0">
                <a:solidFill>
                  <a:srgbClr val="203247"/>
                </a:solidFill>
                <a:latin typeface="Helvetica Neue"/>
                <a:ea typeface="Helvetica Neue"/>
                <a:cs typeface="Helvetica Neue"/>
              </a:defRPr>
            </a:pPr>
            <a:r>
              <a:rPr sz="1350" b="0">
                <a:solidFill>
                  <a:srgbClr val="203247"/>
                </a:solidFill>
                <a:latin typeface="Helvetica Neue"/>
                <a:ea typeface="Helvetica Neue"/>
                <a:cs typeface="Helvetica Neue"/>
              </a:rPr>
              <a:t>Intégrer les identifiants fautifs retournés par chaque outil.</a:t>
            </a:r>
          </a:p>
        </p:txBody>
      </p:sp>
      <p:sp>
        <p:nvSpPr>
          <p:cNvPr id="17" name="">
            <a:extLst xmlns:a="http://schemas.openxmlformats.org/drawingml/2006/main">
              <a:ext uri="{FF2B5EF4-FFF2-40B4-BE49-F238E27FC236}">
                <a16:creationId xmlns:a16="http://schemas.microsoft.com/office/drawing/2014/main" id="{833C7E24-C87B-4578-912B-2A45A6E47AF2}"/>
              </a:ext>
            </a:extLst>
          </p:cNvPr>
          <p:cNvSpPr>
            <a:spLocks xmlns:a="http://schemas.openxmlformats.org/drawingml/2006/main" noGrp="1"/>
          </p:cNvSpPr>
          <p:nvPr/>
        </p:nvSpPr>
        <p:spPr>
          <a:xfrm xmlns:a="http://schemas.openxmlformats.org/drawingml/2006/main">
            <a:off x="6143625" y="2924175"/>
            <a:ext cx="323850" cy="323850"/>
          </a:xfrm>
          <a:prstGeom xmlns:a="http://schemas.openxmlformats.org/drawingml/2006/main" prst="roundRect">
            <a:avLst>
              <a:gd name="adj" fmla="val 50000"/>
            </a:avLst>
          </a:prstGeom>
          <a:solidFill xmlns:a="http://schemas.openxmlformats.org/drawingml/2006/main">
            <a:srgbClr val="EDF2F7"/>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7BF10AEE-6C50-4ACA-B716-6F9B4FC936DC}"/>
              </a:ext>
            </a:extLst>
          </p:cNvPr>
          <p:cNvSpPr>
            <a:spLocks xmlns:a="http://schemas.openxmlformats.org/drawingml/2006/main" noGrp="1"/>
          </p:cNvSpPr>
          <p:nvPr/>
        </p:nvSpPr>
        <p:spPr>
          <a:xfrm xmlns:a="http://schemas.openxmlformats.org/drawingml/2006/main">
            <a:off x="6143625" y="2943225"/>
            <a:ext cx="323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200" b="1">
                <a:solidFill>
                  <a:srgbClr val="187C78"/>
                </a:solidFill>
                <a:latin typeface="Helvetica Neue"/>
                <a:ea typeface="Helvetica Neue"/>
                <a:cs typeface="Helvetica Neue"/>
              </a:defRPr>
            </a:pPr>
            <a:r>
              <a:rPr sz="1200" b="1">
                <a:solidFill>
                  <a:srgbClr val="187C78"/>
                </a:solidFill>
                <a:latin typeface="Helvetica Neue"/>
                <a:ea typeface="Helvetica Neue"/>
                <a:cs typeface="Helvetica Neue"/>
              </a:rPr>
              <a:t>2</a:t>
            </a:r>
          </a:p>
        </p:txBody>
      </p:sp>
      <p:sp>
        <p:nvSpPr>
          <p:cNvPr id="19" name="">
            <a:extLst xmlns:a="http://schemas.openxmlformats.org/drawingml/2006/main">
              <a:ext uri="{FF2B5EF4-FFF2-40B4-BE49-F238E27FC236}">
                <a16:creationId xmlns:a16="http://schemas.microsoft.com/office/drawing/2014/main" id="{F17BC2A1-A93F-4793-BCCB-24D0D01B3FCD}"/>
              </a:ext>
            </a:extLst>
          </p:cNvPr>
          <p:cNvSpPr>
            <a:spLocks xmlns:a="http://schemas.openxmlformats.org/drawingml/2006/main" noGrp="1"/>
          </p:cNvSpPr>
          <p:nvPr/>
        </p:nvSpPr>
        <p:spPr>
          <a:xfrm xmlns:a="http://schemas.openxmlformats.org/drawingml/2006/main">
            <a:off x="6648450" y="2867025"/>
            <a:ext cx="4810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350" b="0">
                <a:solidFill>
                  <a:srgbClr val="203247"/>
                </a:solidFill>
                <a:latin typeface="Helvetica Neue"/>
                <a:ea typeface="Helvetica Neue"/>
                <a:cs typeface="Helvetica Neue"/>
              </a:defRPr>
            </a:pPr>
            <a:r>
              <a:rPr sz="1350" b="0">
                <a:solidFill>
                  <a:srgbClr val="203247"/>
                </a:solidFill>
                <a:latin typeface="Helvetica Neue"/>
                <a:ea typeface="Helvetica Neue"/>
                <a:cs typeface="Helvetica Neue"/>
              </a:rPr>
              <a:t>Générer et comparer les rapports natifs complets.</a:t>
            </a:r>
          </a:p>
        </p:txBody>
      </p:sp>
      <p:sp>
        <p:nvSpPr>
          <p:cNvPr id="20" name="">
            <a:extLst xmlns:a="http://schemas.openxmlformats.org/drawingml/2006/main">
              <a:ext uri="{FF2B5EF4-FFF2-40B4-BE49-F238E27FC236}">
                <a16:creationId xmlns:a16="http://schemas.microsoft.com/office/drawing/2014/main" id="{4C968B8D-C771-4A77-BDAC-D96FC41BE2FE}"/>
              </a:ext>
            </a:extLst>
          </p:cNvPr>
          <p:cNvSpPr>
            <a:spLocks xmlns:a="http://schemas.openxmlformats.org/drawingml/2006/main" noGrp="1"/>
          </p:cNvSpPr>
          <p:nvPr/>
        </p:nvSpPr>
        <p:spPr>
          <a:xfrm xmlns:a="http://schemas.openxmlformats.org/drawingml/2006/main">
            <a:off x="6143625" y="3609975"/>
            <a:ext cx="323850" cy="323850"/>
          </a:xfrm>
          <a:prstGeom xmlns:a="http://schemas.openxmlformats.org/drawingml/2006/main" prst="roundRect">
            <a:avLst>
              <a:gd name="adj" fmla="val 50000"/>
            </a:avLst>
          </a:prstGeom>
          <a:solidFill xmlns:a="http://schemas.openxmlformats.org/drawingml/2006/main">
            <a:srgbClr val="EDF2F7"/>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00986BFD-463A-4EF5-AD2F-E111A3D7C0DB}"/>
              </a:ext>
            </a:extLst>
          </p:cNvPr>
          <p:cNvSpPr>
            <a:spLocks xmlns:a="http://schemas.openxmlformats.org/drawingml/2006/main" noGrp="1"/>
          </p:cNvSpPr>
          <p:nvPr/>
        </p:nvSpPr>
        <p:spPr>
          <a:xfrm xmlns:a="http://schemas.openxmlformats.org/drawingml/2006/main">
            <a:off x="6143625" y="3629025"/>
            <a:ext cx="323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200" b="1">
                <a:solidFill>
                  <a:srgbClr val="187C78"/>
                </a:solidFill>
                <a:latin typeface="Helvetica Neue"/>
                <a:ea typeface="Helvetica Neue"/>
                <a:cs typeface="Helvetica Neue"/>
              </a:defRPr>
            </a:pPr>
            <a:r>
              <a:rPr sz="1200" b="1">
                <a:solidFill>
                  <a:srgbClr val="187C78"/>
                </a:solidFill>
                <a:latin typeface="Helvetica Neue"/>
                <a:ea typeface="Helvetica Neue"/>
                <a:cs typeface="Helvetica Neue"/>
              </a:rPr>
              <a:t>3</a:t>
            </a:r>
          </a:p>
        </p:txBody>
      </p:sp>
      <p:sp>
        <p:nvSpPr>
          <p:cNvPr id="22" name="">
            <a:extLst xmlns:a="http://schemas.openxmlformats.org/drawingml/2006/main">
              <a:ext uri="{FF2B5EF4-FFF2-40B4-BE49-F238E27FC236}">
                <a16:creationId xmlns:a16="http://schemas.microsoft.com/office/drawing/2014/main" id="{27355641-6DA6-4CB5-A5FB-17B8BB5C26BE}"/>
              </a:ext>
            </a:extLst>
          </p:cNvPr>
          <p:cNvSpPr>
            <a:spLocks xmlns:a="http://schemas.openxmlformats.org/drawingml/2006/main" noGrp="1"/>
          </p:cNvSpPr>
          <p:nvPr/>
        </p:nvSpPr>
        <p:spPr>
          <a:xfrm xmlns:a="http://schemas.openxmlformats.org/drawingml/2006/main">
            <a:off x="6648450" y="3552825"/>
            <a:ext cx="4810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350" b="0">
                <a:solidFill>
                  <a:srgbClr val="203247"/>
                </a:solidFill>
                <a:latin typeface="Helvetica Neue"/>
                <a:ea typeface="Helvetica Neue"/>
                <a:cs typeface="Helvetica Neue"/>
              </a:defRPr>
            </a:pPr>
            <a:r>
              <a:rPr sz="1350" b="0">
                <a:solidFill>
                  <a:srgbClr val="203247"/>
                </a:solidFill>
                <a:latin typeface="Helvetica Neue"/>
                <a:ea typeface="Helvetica Neue"/>
                <a:cs typeface="Helvetica Neue"/>
              </a:rPr>
              <a:t>Relier le gate aux adaptateurs puis à une CI de test.</a:t>
            </a:r>
          </a:p>
        </p:txBody>
      </p:sp>
      <p:sp>
        <p:nvSpPr>
          <p:cNvPr id="23" name="">
            <a:extLst xmlns:a="http://schemas.openxmlformats.org/drawingml/2006/main">
              <a:ext uri="{FF2B5EF4-FFF2-40B4-BE49-F238E27FC236}">
                <a16:creationId xmlns:a16="http://schemas.microsoft.com/office/drawing/2014/main" id="{2C49071F-E40E-4242-866A-6BC8DB10C046}"/>
              </a:ext>
            </a:extLst>
          </p:cNvPr>
          <p:cNvSpPr>
            <a:spLocks xmlns:a="http://schemas.openxmlformats.org/drawingml/2006/main" noGrp="1"/>
          </p:cNvSpPr>
          <p:nvPr/>
        </p:nvSpPr>
        <p:spPr>
          <a:xfrm xmlns:a="http://schemas.openxmlformats.org/drawingml/2006/main">
            <a:off x="6143625" y="4295775"/>
            <a:ext cx="323850" cy="323850"/>
          </a:xfrm>
          <a:prstGeom xmlns:a="http://schemas.openxmlformats.org/drawingml/2006/main" prst="roundRect">
            <a:avLst>
              <a:gd name="adj" fmla="val 50000"/>
            </a:avLst>
          </a:prstGeom>
          <a:solidFill xmlns:a="http://schemas.openxmlformats.org/drawingml/2006/main">
            <a:srgbClr val="EDF2F7"/>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29D464BD-67D6-47C4-BF92-9DE53763C073}"/>
              </a:ext>
            </a:extLst>
          </p:cNvPr>
          <p:cNvSpPr>
            <a:spLocks xmlns:a="http://schemas.openxmlformats.org/drawingml/2006/main" noGrp="1"/>
          </p:cNvSpPr>
          <p:nvPr/>
        </p:nvSpPr>
        <p:spPr>
          <a:xfrm xmlns:a="http://schemas.openxmlformats.org/drawingml/2006/main">
            <a:off x="6143625" y="4314825"/>
            <a:ext cx="323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200" b="1">
                <a:solidFill>
                  <a:srgbClr val="187C78"/>
                </a:solidFill>
                <a:latin typeface="Helvetica Neue"/>
                <a:ea typeface="Helvetica Neue"/>
                <a:cs typeface="Helvetica Neue"/>
              </a:defRPr>
            </a:pPr>
            <a:r>
              <a:rPr sz="1200" b="1">
                <a:solidFill>
                  <a:srgbClr val="187C78"/>
                </a:solidFill>
                <a:latin typeface="Helvetica Neue"/>
                <a:ea typeface="Helvetica Neue"/>
                <a:cs typeface="Helvetica Neue"/>
              </a:rPr>
              <a:t>4</a:t>
            </a:r>
          </a:p>
        </p:txBody>
      </p:sp>
      <p:sp>
        <p:nvSpPr>
          <p:cNvPr id="25" name="">
            <a:extLst xmlns:a="http://schemas.openxmlformats.org/drawingml/2006/main">
              <a:ext uri="{FF2B5EF4-FFF2-40B4-BE49-F238E27FC236}">
                <a16:creationId xmlns:a16="http://schemas.microsoft.com/office/drawing/2014/main" id="{1529F542-982C-414D-A602-80B7F4F9EE11}"/>
              </a:ext>
            </a:extLst>
          </p:cNvPr>
          <p:cNvSpPr>
            <a:spLocks xmlns:a="http://schemas.openxmlformats.org/drawingml/2006/main" noGrp="1"/>
          </p:cNvSpPr>
          <p:nvPr/>
        </p:nvSpPr>
        <p:spPr>
          <a:xfrm xmlns:a="http://schemas.openxmlformats.org/drawingml/2006/main">
            <a:off x="6648450" y="4238625"/>
            <a:ext cx="4810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350" b="0">
                <a:solidFill>
                  <a:srgbClr val="203247"/>
                </a:solidFill>
                <a:latin typeface="Helvetica Neue"/>
                <a:ea typeface="Helvetica Neue"/>
                <a:cs typeface="Helvetica Neue"/>
              </a:defRPr>
            </a:pPr>
            <a:r>
              <a:rPr sz="1350" b="0">
                <a:solidFill>
                  <a:srgbClr val="203247"/>
                </a:solidFill>
                <a:latin typeface="Helvetica Neue"/>
                <a:ea typeface="Helvetica Neue"/>
                <a:cs typeface="Helvetica Neue"/>
              </a:rPr>
              <a:t>Mesurer sur des données et un moteur représentatifs.</a:t>
            </a:r>
          </a:p>
        </p:txBody>
      </p:sp>
      <p:sp>
        <p:nvSpPr>
          <p:cNvPr id="26" name="">
            <a:extLst xmlns:a="http://schemas.openxmlformats.org/drawingml/2006/main">
              <a:ext uri="{FF2B5EF4-FFF2-40B4-BE49-F238E27FC236}">
                <a16:creationId xmlns:a16="http://schemas.microsoft.com/office/drawing/2014/main" id="{07B7419D-897E-4A0F-80D2-240CF4577F63}"/>
              </a:ext>
            </a:extLst>
          </p:cNvPr>
          <p:cNvSpPr>
            <a:spLocks xmlns:a="http://schemas.openxmlformats.org/drawingml/2006/main" noGrp="1"/>
          </p:cNvSpPr>
          <p:nvPr/>
        </p:nvSpPr>
        <p:spPr>
          <a:xfrm xmlns:a="http://schemas.openxmlformats.org/drawingml/2006/main">
            <a:off x="647700" y="5600700"/>
            <a:ext cx="10896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00" b="0">
                <a:solidFill>
                  <a:srgbClr val="66798D"/>
                </a:solidFill>
                <a:latin typeface="Helvetica Neue"/>
                <a:ea typeface="Helvetica Neue"/>
                <a:cs typeface="Helvetica Neue"/>
              </a:defRPr>
            </a:pPr>
            <a:r>
              <a:rPr sz="1200" b="0">
                <a:solidFill>
                  <a:srgbClr val="66798D"/>
                </a:solidFill>
                <a:latin typeface="Helvetica Neue"/>
                <a:ea typeface="Helvetica Neue"/>
                <a:cs typeface="Helvetica Neue"/>
              </a:rPr>
              <a:t>Limites à rappeler : résultats agrégés • jeu synthétique • évaluation qualitative par une personne • rapport natif non comparé</a:t>
            </a:r>
          </a:p>
        </p:txBody>
      </p:sp>
    </p:spTree>
    <p:extLst>
      <p:ext uri="{BB962C8B-B14F-4D97-AF65-F5344CB8AC3E}">
        <p14:creationId xmlns:p14="http://schemas.microsoft.com/office/powerpoint/2010/main" val="1726129240"/>
      </p:ext>
    </p:extLst>
  </p:cSld>
</p:sld>
</file>

<file path=ppt/slides/slide11.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A7626229-1601-45F6-B497-F92CDFDC380D}"/>
              </a:ext>
            </a:extLst>
          </p:cNvPr>
          <p:cNvSpPr>
            <a:spLocks xmlns:a="http://schemas.openxmlformats.org/drawingml/2006/main" noGrp="1"/>
          </p:cNvSpPr>
          <p:nvPr/>
        </p:nvSpPr>
        <p:spPr>
          <a:xfrm xmlns:a="http://schemas.openxmlformats.org/drawingml/2006/main">
            <a:off x="0" y="0"/>
            <a:ext cx="12192000" cy="123825"/>
          </a:xfrm>
          <a:prstGeom xmlns:a="http://schemas.openxmlformats.org/drawingml/2006/main" prst="rect">
            <a:avLst/>
          </a:prstGeom>
          <a:solidFill xmlns:a="http://schemas.openxmlformats.org/drawingml/2006/main">
            <a:srgbClr val="10263D"/>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90B1AED-7E29-4CF6-9C24-010D247A49C9}"/>
              </a:ext>
            </a:extLst>
          </p:cNvPr>
          <p:cNvSpPr>
            <a:spLocks xmlns:a="http://schemas.openxmlformats.org/drawingml/2006/main" noGrp="1"/>
          </p:cNvSpPr>
          <p:nvPr/>
        </p:nvSpPr>
        <p:spPr>
          <a:xfrm xmlns:a="http://schemas.openxmlformats.org/drawingml/2006/main">
            <a:off x="0" y="123825"/>
            <a:ext cx="2095500" cy="47625"/>
          </a:xfrm>
          <a:prstGeom xmlns:a="http://schemas.openxmlformats.org/drawingml/2006/main" prst="rect">
            <a:avLst/>
          </a:prstGeom>
          <a:solidFill xmlns:a="http://schemas.openxmlformats.org/drawingml/2006/main">
            <a:srgbClr val="D5A64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AE27B0D-A324-471B-AE4A-EE20FDF42841}"/>
              </a:ext>
            </a:extLst>
          </p:cNvPr>
          <p:cNvSpPr>
            <a:spLocks xmlns:a="http://schemas.openxmlformats.org/drawingml/2006/main" noGrp="1"/>
          </p:cNvSpPr>
          <p:nvPr/>
        </p:nvSpPr>
        <p:spPr>
          <a:xfrm xmlns:a="http://schemas.openxmlformats.org/drawingml/2006/main">
            <a:off x="647700" y="40005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125" b="1">
                <a:solidFill>
                  <a:srgbClr val="187C78"/>
                </a:solidFill>
                <a:latin typeface="Helvetica Neue"/>
                <a:ea typeface="Helvetica Neue"/>
                <a:cs typeface="Helvetica Neue"/>
              </a:defRPr>
            </a:pPr>
            <a:r>
              <a:rPr sz="1125" b="1">
                <a:solidFill>
                  <a:srgbClr val="187C78"/>
                </a:solidFill>
                <a:latin typeface="Helvetica Neue"/>
                <a:ea typeface="Helvetica Neue"/>
                <a:cs typeface="Helvetica Neue"/>
              </a:rPr>
              <a:t>SUITE DE L’ÉTUDE</a:t>
            </a:r>
          </a:p>
        </p:txBody>
      </p:sp>
      <p:sp>
        <p:nvSpPr>
          <p:cNvPr id="4" name="">
            <a:extLst xmlns:a="http://schemas.openxmlformats.org/drawingml/2006/main">
              <a:ext uri="{FF2B5EF4-FFF2-40B4-BE49-F238E27FC236}">
                <a16:creationId xmlns:a16="http://schemas.microsoft.com/office/drawing/2014/main" id="{E0390D22-0BEB-40CC-A1EB-B2A0D01AC4F7}"/>
              </a:ext>
            </a:extLst>
          </p:cNvPr>
          <p:cNvSpPr>
            <a:spLocks xmlns:a="http://schemas.openxmlformats.org/drawingml/2006/main" noGrp="1"/>
          </p:cNvSpPr>
          <p:nvPr/>
        </p:nvSpPr>
        <p:spPr>
          <a:xfrm xmlns:a="http://schemas.openxmlformats.org/drawingml/2006/main">
            <a:off x="647700" y="685800"/>
            <a:ext cx="10896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2775" b="1">
                <a:solidFill>
                  <a:srgbClr val="10263D"/>
                </a:solidFill>
                <a:latin typeface="Helvetica Neue"/>
                <a:ea typeface="Helvetica Neue"/>
                <a:cs typeface="Helvetica Neue"/>
              </a:defRPr>
            </a:pPr>
            <a:r>
              <a:rPr sz="2775" b="1">
                <a:solidFill>
                  <a:srgbClr val="10263D"/>
                </a:solidFill>
                <a:latin typeface="Helvetica Neue"/>
                <a:ea typeface="Helvetica Neue"/>
                <a:cs typeface="Helvetica Neue"/>
              </a:rPr>
              <a:t>Preuves à obtenir avant un usage opérationnel</a:t>
            </a:r>
          </a:p>
        </p:txBody>
      </p:sp>
      <p:sp>
        <p:nvSpPr>
          <p:cNvPr id="5" name="">
            <a:extLst xmlns:a="http://schemas.openxmlformats.org/drawingml/2006/main">
              <a:ext uri="{FF2B5EF4-FFF2-40B4-BE49-F238E27FC236}">
                <a16:creationId xmlns:a16="http://schemas.microsoft.com/office/drawing/2014/main" id="{BEC09552-D791-49D9-AAE9-7BA27A246C9B}"/>
              </a:ext>
            </a:extLst>
          </p:cNvPr>
          <p:cNvSpPr>
            <a:spLocks xmlns:a="http://schemas.openxmlformats.org/drawingml/2006/main" noGrp="1"/>
          </p:cNvSpPr>
          <p:nvPr/>
        </p:nvSpPr>
        <p:spPr>
          <a:xfrm xmlns:a="http://schemas.openxmlformats.org/drawingml/2006/main">
            <a:off x="647700" y="6286500"/>
            <a:ext cx="10896600" cy="13335"/>
          </a:xfrm>
          <a:prstGeom xmlns:a="http://schemas.openxmlformats.org/drawingml/2006/main" prst="rect">
            <a:avLst/>
          </a:prstGeom>
          <a:solidFill xmlns:a="http://schemas.openxmlformats.org/drawingml/2006/main">
            <a:srgbClr val="D9E1E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0C606C3-8C55-492B-BBFC-962D467F807D}"/>
              </a:ext>
            </a:extLst>
          </p:cNvPr>
          <p:cNvSpPr>
            <a:spLocks xmlns:a="http://schemas.openxmlformats.org/drawingml/2006/main" noGrp="1"/>
          </p:cNvSpPr>
          <p:nvPr/>
        </p:nvSpPr>
        <p:spPr>
          <a:xfrm xmlns:a="http://schemas.openxmlformats.org/drawingml/2006/main">
            <a:off x="647700" y="6381750"/>
            <a:ext cx="933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975" b="0">
                <a:solidFill>
                  <a:srgbClr val="66798D"/>
                </a:solidFill>
                <a:latin typeface="Helvetica Neue"/>
                <a:ea typeface="Helvetica Neue"/>
                <a:cs typeface="Helvetica Neue"/>
              </a:defRPr>
            </a:pPr>
            <a:r>
              <a:rPr sz="975" b="0">
                <a:solidFill>
                  <a:srgbClr val="66798D"/>
                </a:solidFill>
                <a:latin typeface="Helvetica Neue"/>
                <a:ea typeface="Helvetica Neue"/>
                <a:cs typeface="Helvetica Neue"/>
              </a:rPr>
              <a:t>Projet individuel • Expérience contrôlée • 2026</a:t>
            </a:r>
          </a:p>
        </p:txBody>
      </p:sp>
      <p:sp>
        <p:nvSpPr>
          <p:cNvPr id="7" name="">
            <a:extLst xmlns:a="http://schemas.openxmlformats.org/drawingml/2006/main">
              <a:ext uri="{FF2B5EF4-FFF2-40B4-BE49-F238E27FC236}">
                <a16:creationId xmlns:a16="http://schemas.microsoft.com/office/drawing/2014/main" id="{C9D0CD1E-CAD4-41EB-B61F-5389F8FE04A3}"/>
              </a:ext>
            </a:extLst>
          </p:cNvPr>
          <p:cNvSpPr>
            <a:spLocks xmlns:a="http://schemas.openxmlformats.org/drawingml/2006/main" noGrp="1"/>
          </p:cNvSpPr>
          <p:nvPr/>
        </p:nvSpPr>
        <p:spPr>
          <a:xfrm xmlns:a="http://schemas.openxmlformats.org/drawingml/2006/main">
            <a:off x="10953750" y="63817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5000"/>
              </a:lnSpc>
              <a:buNone/>
              <a:defRPr sz="975" b="0">
                <a:solidFill>
                  <a:srgbClr val="66798D"/>
                </a:solidFill>
                <a:latin typeface="Helvetica Neue"/>
                <a:ea typeface="Helvetica Neue"/>
                <a:cs typeface="Helvetica Neue"/>
              </a:defRPr>
            </a:pPr>
            <a:r>
              <a:rPr sz="975" b="0">
                <a:solidFill>
                  <a:srgbClr val="66798D"/>
                </a:solidFill>
                <a:latin typeface="Helvetica Neue"/>
                <a:ea typeface="Helvetica Neue"/>
                <a:cs typeface="Helvetica Neue"/>
              </a:rPr>
              <a:t>11</a:t>
            </a:r>
          </a:p>
        </p:txBody>
      </p:sp>
      <p:sp>
        <p:nvSpPr>
          <p:cNvPr id="8" name="">
            <a:extLst xmlns:a="http://schemas.openxmlformats.org/drawingml/2006/main">
              <a:ext uri="{FF2B5EF4-FFF2-40B4-BE49-F238E27FC236}">
                <a16:creationId xmlns:a16="http://schemas.microsoft.com/office/drawing/2014/main" id="{6592AC98-70B6-4219-A22D-B50A51A13E5A}"/>
              </a:ext>
            </a:extLst>
          </p:cNvPr>
          <p:cNvSpPr>
            <a:spLocks xmlns:a="http://schemas.openxmlformats.org/drawingml/2006/main" noGrp="1"/>
          </p:cNvSpPr>
          <p:nvPr/>
        </p:nvSpPr>
        <p:spPr>
          <a:xfrm xmlns:a="http://schemas.openxmlformats.org/drawingml/2006/main">
            <a:off x="685800" y="1504950"/>
            <a:ext cx="57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725" b="1">
                <a:solidFill>
                  <a:srgbClr val="187C78"/>
                </a:solidFill>
                <a:latin typeface="Helvetica Neue"/>
                <a:ea typeface="Helvetica Neue"/>
                <a:cs typeface="Helvetica Neue"/>
              </a:defRPr>
            </a:pPr>
            <a:r>
              <a:rPr sz="1725" b="1">
                <a:solidFill>
                  <a:srgbClr val="187C78"/>
                </a:solidFill>
                <a:latin typeface="Helvetica Neue"/>
                <a:ea typeface="Helvetica Neue"/>
                <a:cs typeface="Helvetica Neue"/>
              </a:rPr>
              <a:t>01</a:t>
            </a:r>
          </a:p>
        </p:txBody>
      </p:sp>
      <p:sp>
        <p:nvSpPr>
          <p:cNvPr id="9" name="">
            <a:extLst xmlns:a="http://schemas.openxmlformats.org/drawingml/2006/main">
              <a:ext uri="{FF2B5EF4-FFF2-40B4-BE49-F238E27FC236}">
                <a16:creationId xmlns:a16="http://schemas.microsoft.com/office/drawing/2014/main" id="{8F2397F1-9375-4D4A-857E-4054000AF6EC}"/>
              </a:ext>
            </a:extLst>
          </p:cNvPr>
          <p:cNvSpPr>
            <a:spLocks xmlns:a="http://schemas.openxmlformats.org/drawingml/2006/main" noGrp="1"/>
          </p:cNvSpPr>
          <p:nvPr/>
        </p:nvSpPr>
        <p:spPr>
          <a:xfrm xmlns:a="http://schemas.openxmlformats.org/drawingml/2006/main">
            <a:off x="1438275" y="1466850"/>
            <a:ext cx="333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575" b="1">
                <a:solidFill>
                  <a:srgbClr val="10263D"/>
                </a:solidFill>
                <a:latin typeface="Helvetica Neue"/>
                <a:ea typeface="Helvetica Neue"/>
                <a:cs typeface="Helvetica Neue"/>
              </a:defRPr>
            </a:pPr>
            <a:r>
              <a:rPr sz="1575" b="1">
                <a:solidFill>
                  <a:srgbClr val="10263D"/>
                </a:solidFill>
                <a:latin typeface="Helvetica Neue"/>
                <a:ea typeface="Helvetica Neue"/>
                <a:cs typeface="Helvetica Neue"/>
              </a:rPr>
              <a:t>Identifiants par ligne</a:t>
            </a:r>
          </a:p>
        </p:txBody>
      </p:sp>
      <p:sp>
        <p:nvSpPr>
          <p:cNvPr id="10" name="">
            <a:extLst xmlns:a="http://schemas.openxmlformats.org/drawingml/2006/main">
              <a:ext uri="{FF2B5EF4-FFF2-40B4-BE49-F238E27FC236}">
                <a16:creationId xmlns:a16="http://schemas.microsoft.com/office/drawing/2014/main" id="{D13D3AA7-335E-44C0-A343-275A4B5DB444}"/>
              </a:ext>
            </a:extLst>
          </p:cNvPr>
          <p:cNvSpPr>
            <a:spLocks xmlns:a="http://schemas.openxmlformats.org/drawingml/2006/main" noGrp="1"/>
          </p:cNvSpPr>
          <p:nvPr/>
        </p:nvSpPr>
        <p:spPr>
          <a:xfrm xmlns:a="http://schemas.openxmlformats.org/drawingml/2006/main">
            <a:off x="4810125" y="1466850"/>
            <a:ext cx="6334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0">
                <a:solidFill>
                  <a:srgbClr val="203247"/>
                </a:solidFill>
                <a:latin typeface="Helvetica Neue"/>
                <a:ea typeface="Helvetica Neue"/>
                <a:cs typeface="Helvetica Neue"/>
              </a:defRPr>
            </a:pPr>
            <a:r>
              <a:rPr sz="1350" b="0">
                <a:solidFill>
                  <a:srgbClr val="203247"/>
                </a:solidFill>
                <a:latin typeface="Helvetica Neue"/>
                <a:ea typeface="Helvetica Neue"/>
                <a:cs typeface="Helvetica Neue"/>
              </a:rPr>
              <a:t>Récupérer, pour chaque outil, les enregistrements effectivement signalés.</a:t>
            </a:r>
          </a:p>
        </p:txBody>
      </p:sp>
      <p:sp>
        <p:nvSpPr>
          <p:cNvPr id="11" name="">
            <a:extLst xmlns:a="http://schemas.openxmlformats.org/drawingml/2006/main">
              <a:ext uri="{FF2B5EF4-FFF2-40B4-BE49-F238E27FC236}">
                <a16:creationId xmlns:a16="http://schemas.microsoft.com/office/drawing/2014/main" id="{E59B5667-459F-47F8-A3C3-78CF5A9627A4}"/>
              </a:ext>
            </a:extLst>
          </p:cNvPr>
          <p:cNvSpPr>
            <a:spLocks xmlns:a="http://schemas.openxmlformats.org/drawingml/2006/main" noGrp="1"/>
          </p:cNvSpPr>
          <p:nvPr/>
        </p:nvSpPr>
        <p:spPr>
          <a:xfrm xmlns:a="http://schemas.openxmlformats.org/drawingml/2006/main">
            <a:off x="1438275" y="2190750"/>
            <a:ext cx="9715500" cy="9525"/>
          </a:xfrm>
          <a:prstGeom xmlns:a="http://schemas.openxmlformats.org/drawingml/2006/main" prst="rect">
            <a:avLst/>
          </a:prstGeom>
          <a:solidFill xmlns:a="http://schemas.openxmlformats.org/drawingml/2006/main">
            <a:srgbClr val="D9E1E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8A7F3B0-41E3-410D-AF79-DCC361737CB5}"/>
              </a:ext>
            </a:extLst>
          </p:cNvPr>
          <p:cNvSpPr>
            <a:spLocks xmlns:a="http://schemas.openxmlformats.org/drawingml/2006/main" noGrp="1"/>
          </p:cNvSpPr>
          <p:nvPr/>
        </p:nvSpPr>
        <p:spPr>
          <a:xfrm xmlns:a="http://schemas.openxmlformats.org/drawingml/2006/main">
            <a:off x="685800" y="2505075"/>
            <a:ext cx="57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725" b="1">
                <a:solidFill>
                  <a:srgbClr val="187C78"/>
                </a:solidFill>
                <a:latin typeface="Helvetica Neue"/>
                <a:ea typeface="Helvetica Neue"/>
                <a:cs typeface="Helvetica Neue"/>
              </a:defRPr>
            </a:pPr>
            <a:r>
              <a:rPr sz="1725" b="1">
                <a:solidFill>
                  <a:srgbClr val="187C78"/>
                </a:solidFill>
                <a:latin typeface="Helvetica Neue"/>
                <a:ea typeface="Helvetica Neue"/>
                <a:cs typeface="Helvetica Neue"/>
              </a:rPr>
              <a:t>02</a:t>
            </a:r>
          </a:p>
        </p:txBody>
      </p:sp>
      <p:sp>
        <p:nvSpPr>
          <p:cNvPr id="13" name="">
            <a:extLst xmlns:a="http://schemas.openxmlformats.org/drawingml/2006/main">
              <a:ext uri="{FF2B5EF4-FFF2-40B4-BE49-F238E27FC236}">
                <a16:creationId xmlns:a16="http://schemas.microsoft.com/office/drawing/2014/main" id="{6A1251EF-9675-4D2B-99BB-345449C2B8DF}"/>
              </a:ext>
            </a:extLst>
          </p:cNvPr>
          <p:cNvSpPr>
            <a:spLocks xmlns:a="http://schemas.openxmlformats.org/drawingml/2006/main" noGrp="1"/>
          </p:cNvSpPr>
          <p:nvPr/>
        </p:nvSpPr>
        <p:spPr>
          <a:xfrm xmlns:a="http://schemas.openxmlformats.org/drawingml/2006/main">
            <a:off x="1438275" y="2466975"/>
            <a:ext cx="333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575" b="1">
                <a:solidFill>
                  <a:srgbClr val="10263D"/>
                </a:solidFill>
                <a:latin typeface="Helvetica Neue"/>
                <a:ea typeface="Helvetica Neue"/>
                <a:cs typeface="Helvetica Neue"/>
              </a:defRPr>
            </a:pPr>
            <a:r>
              <a:rPr sz="1575" b="1">
                <a:solidFill>
                  <a:srgbClr val="10263D"/>
                </a:solidFill>
                <a:latin typeface="Helvetica Neue"/>
                <a:ea typeface="Helvetica Neue"/>
                <a:cs typeface="Helvetica Neue"/>
              </a:rPr>
              <a:t>Rapports natifs</a:t>
            </a:r>
          </a:p>
        </p:txBody>
      </p:sp>
      <p:sp>
        <p:nvSpPr>
          <p:cNvPr id="14" name="">
            <a:extLst xmlns:a="http://schemas.openxmlformats.org/drawingml/2006/main">
              <a:ext uri="{FF2B5EF4-FFF2-40B4-BE49-F238E27FC236}">
                <a16:creationId xmlns:a16="http://schemas.microsoft.com/office/drawing/2014/main" id="{483EDDA7-5184-47D4-A5C5-451F83DC4EFE}"/>
              </a:ext>
            </a:extLst>
          </p:cNvPr>
          <p:cNvSpPr>
            <a:spLocks xmlns:a="http://schemas.openxmlformats.org/drawingml/2006/main" noGrp="1"/>
          </p:cNvSpPr>
          <p:nvPr/>
        </p:nvSpPr>
        <p:spPr>
          <a:xfrm xmlns:a="http://schemas.openxmlformats.org/drawingml/2006/main">
            <a:off x="4810125" y="2466975"/>
            <a:ext cx="6334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0">
                <a:solidFill>
                  <a:srgbClr val="203247"/>
                </a:solidFill>
                <a:latin typeface="Helvetica Neue"/>
                <a:ea typeface="Helvetica Neue"/>
                <a:cs typeface="Helvetica Neue"/>
              </a:defRPr>
            </a:pPr>
            <a:r>
              <a:rPr sz="1350" b="0">
                <a:solidFill>
                  <a:srgbClr val="203247"/>
                </a:solidFill>
                <a:latin typeface="Helvetica Neue"/>
                <a:ea typeface="Helvetica Neue"/>
                <a:cs typeface="Helvetica Neue"/>
              </a:rPr>
              <a:t>Conserver un niveau de détail comparable et faire évaluer les sorties par plusieurs personnes.</a:t>
            </a:r>
          </a:p>
        </p:txBody>
      </p:sp>
      <p:sp>
        <p:nvSpPr>
          <p:cNvPr id="15" name="">
            <a:extLst xmlns:a="http://schemas.openxmlformats.org/drawingml/2006/main">
              <a:ext uri="{FF2B5EF4-FFF2-40B4-BE49-F238E27FC236}">
                <a16:creationId xmlns:a16="http://schemas.microsoft.com/office/drawing/2014/main" id="{D12F4B8F-BDBB-4C31-BEC6-257CE63BD80A}"/>
              </a:ext>
            </a:extLst>
          </p:cNvPr>
          <p:cNvSpPr>
            <a:spLocks xmlns:a="http://schemas.openxmlformats.org/drawingml/2006/main" noGrp="1"/>
          </p:cNvSpPr>
          <p:nvPr/>
        </p:nvSpPr>
        <p:spPr>
          <a:xfrm xmlns:a="http://schemas.openxmlformats.org/drawingml/2006/main">
            <a:off x="1438275" y="3190875"/>
            <a:ext cx="9715500" cy="9525"/>
          </a:xfrm>
          <a:prstGeom xmlns:a="http://schemas.openxmlformats.org/drawingml/2006/main" prst="rect">
            <a:avLst/>
          </a:prstGeom>
          <a:solidFill xmlns:a="http://schemas.openxmlformats.org/drawingml/2006/main">
            <a:srgbClr val="D9E1E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FF6BFD0B-B76E-4C3A-B6E0-B288ECD52E54}"/>
              </a:ext>
            </a:extLst>
          </p:cNvPr>
          <p:cNvSpPr>
            <a:spLocks xmlns:a="http://schemas.openxmlformats.org/drawingml/2006/main" noGrp="1"/>
          </p:cNvSpPr>
          <p:nvPr/>
        </p:nvSpPr>
        <p:spPr>
          <a:xfrm xmlns:a="http://schemas.openxmlformats.org/drawingml/2006/main">
            <a:off x="685800" y="3505200"/>
            <a:ext cx="57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725" b="1">
                <a:solidFill>
                  <a:srgbClr val="187C78"/>
                </a:solidFill>
                <a:latin typeface="Helvetica Neue"/>
                <a:ea typeface="Helvetica Neue"/>
                <a:cs typeface="Helvetica Neue"/>
              </a:defRPr>
            </a:pPr>
            <a:r>
              <a:rPr sz="1725" b="1">
                <a:solidFill>
                  <a:srgbClr val="187C78"/>
                </a:solidFill>
                <a:latin typeface="Helvetica Neue"/>
                <a:ea typeface="Helvetica Neue"/>
                <a:cs typeface="Helvetica Neue"/>
              </a:rPr>
              <a:t>03</a:t>
            </a:r>
          </a:p>
        </p:txBody>
      </p:sp>
      <p:sp>
        <p:nvSpPr>
          <p:cNvPr id="17" name="">
            <a:extLst xmlns:a="http://schemas.openxmlformats.org/drawingml/2006/main">
              <a:ext uri="{FF2B5EF4-FFF2-40B4-BE49-F238E27FC236}">
                <a16:creationId xmlns:a16="http://schemas.microsoft.com/office/drawing/2014/main" id="{DDAD2D55-9107-4161-9829-9D00495FF95E}"/>
              </a:ext>
            </a:extLst>
          </p:cNvPr>
          <p:cNvSpPr>
            <a:spLocks xmlns:a="http://schemas.openxmlformats.org/drawingml/2006/main" noGrp="1"/>
          </p:cNvSpPr>
          <p:nvPr/>
        </p:nvSpPr>
        <p:spPr>
          <a:xfrm xmlns:a="http://schemas.openxmlformats.org/drawingml/2006/main">
            <a:off x="1438275" y="3467100"/>
            <a:ext cx="333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575" b="1">
                <a:solidFill>
                  <a:srgbClr val="10263D"/>
                </a:solidFill>
                <a:latin typeface="Helvetica Neue"/>
                <a:ea typeface="Helvetica Neue"/>
                <a:cs typeface="Helvetica Neue"/>
              </a:defRPr>
            </a:pPr>
            <a:r>
              <a:rPr sz="1575" b="1">
                <a:solidFill>
                  <a:srgbClr val="10263D"/>
                </a:solidFill>
                <a:latin typeface="Helvetica Neue"/>
                <a:ea typeface="Helvetica Neue"/>
                <a:cs typeface="Helvetica Neue"/>
              </a:rPr>
              <a:t>Environnement cible</a:t>
            </a:r>
          </a:p>
        </p:txBody>
      </p:sp>
      <p:sp>
        <p:nvSpPr>
          <p:cNvPr id="18" name="">
            <a:extLst xmlns:a="http://schemas.openxmlformats.org/drawingml/2006/main">
              <a:ext uri="{FF2B5EF4-FFF2-40B4-BE49-F238E27FC236}">
                <a16:creationId xmlns:a16="http://schemas.microsoft.com/office/drawing/2014/main" id="{1FBD9997-CA07-4594-9A7F-D9E8684C050D}"/>
              </a:ext>
            </a:extLst>
          </p:cNvPr>
          <p:cNvSpPr>
            <a:spLocks xmlns:a="http://schemas.openxmlformats.org/drawingml/2006/main" noGrp="1"/>
          </p:cNvSpPr>
          <p:nvPr/>
        </p:nvSpPr>
        <p:spPr>
          <a:xfrm xmlns:a="http://schemas.openxmlformats.org/drawingml/2006/main">
            <a:off x="4810125" y="3467100"/>
            <a:ext cx="6334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0">
                <a:solidFill>
                  <a:srgbClr val="203247"/>
                </a:solidFill>
                <a:latin typeface="Helvetica Neue"/>
                <a:ea typeface="Helvetica Neue"/>
                <a:cs typeface="Helvetica Neue"/>
              </a:defRPr>
            </a:pPr>
            <a:r>
              <a:rPr sz="1350" b="0">
                <a:solidFill>
                  <a:srgbClr val="203247"/>
                </a:solidFill>
                <a:latin typeface="Helvetica Neue"/>
                <a:ea typeface="Helvetica Neue"/>
                <a:cs typeface="Helvetica Neue"/>
              </a:rPr>
              <a:t>Répéter les durées sur le moteur, les volumes et les règles du futur flux.</a:t>
            </a:r>
          </a:p>
        </p:txBody>
      </p:sp>
      <p:sp>
        <p:nvSpPr>
          <p:cNvPr id="19" name="">
            <a:extLst xmlns:a="http://schemas.openxmlformats.org/drawingml/2006/main">
              <a:ext uri="{FF2B5EF4-FFF2-40B4-BE49-F238E27FC236}">
                <a16:creationId xmlns:a16="http://schemas.microsoft.com/office/drawing/2014/main" id="{8C6B1EC7-4A5B-45AB-A955-D1C57A55E929}"/>
              </a:ext>
            </a:extLst>
          </p:cNvPr>
          <p:cNvSpPr>
            <a:spLocks xmlns:a="http://schemas.openxmlformats.org/drawingml/2006/main" noGrp="1"/>
          </p:cNvSpPr>
          <p:nvPr/>
        </p:nvSpPr>
        <p:spPr>
          <a:xfrm xmlns:a="http://schemas.openxmlformats.org/drawingml/2006/main">
            <a:off x="1438275" y="4191000"/>
            <a:ext cx="9715500" cy="9525"/>
          </a:xfrm>
          <a:prstGeom xmlns:a="http://schemas.openxmlformats.org/drawingml/2006/main" prst="rect">
            <a:avLst/>
          </a:prstGeom>
          <a:solidFill xmlns:a="http://schemas.openxmlformats.org/drawingml/2006/main">
            <a:srgbClr val="D9E1E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8A8C8CDB-6266-4FD6-8EC4-96DD1FF1374A}"/>
              </a:ext>
            </a:extLst>
          </p:cNvPr>
          <p:cNvSpPr>
            <a:spLocks xmlns:a="http://schemas.openxmlformats.org/drawingml/2006/main" noGrp="1"/>
          </p:cNvSpPr>
          <p:nvPr/>
        </p:nvSpPr>
        <p:spPr>
          <a:xfrm xmlns:a="http://schemas.openxmlformats.org/drawingml/2006/main">
            <a:off x="685800" y="4505325"/>
            <a:ext cx="57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725" b="1">
                <a:solidFill>
                  <a:srgbClr val="D5A64A"/>
                </a:solidFill>
                <a:latin typeface="Helvetica Neue"/>
                <a:ea typeface="Helvetica Neue"/>
                <a:cs typeface="Helvetica Neue"/>
              </a:defRPr>
            </a:pPr>
            <a:r>
              <a:rPr sz="1725" b="1">
                <a:solidFill>
                  <a:srgbClr val="D5A64A"/>
                </a:solidFill>
                <a:latin typeface="Helvetica Neue"/>
                <a:ea typeface="Helvetica Neue"/>
                <a:cs typeface="Helvetica Neue"/>
              </a:rPr>
              <a:t>04</a:t>
            </a:r>
          </a:p>
        </p:txBody>
      </p:sp>
      <p:sp>
        <p:nvSpPr>
          <p:cNvPr id="21" name="">
            <a:extLst xmlns:a="http://schemas.openxmlformats.org/drawingml/2006/main">
              <a:ext uri="{FF2B5EF4-FFF2-40B4-BE49-F238E27FC236}">
                <a16:creationId xmlns:a16="http://schemas.microsoft.com/office/drawing/2014/main" id="{B2087E9B-ED83-4002-979A-15C36E89C15B}"/>
              </a:ext>
            </a:extLst>
          </p:cNvPr>
          <p:cNvSpPr>
            <a:spLocks xmlns:a="http://schemas.openxmlformats.org/drawingml/2006/main" noGrp="1"/>
          </p:cNvSpPr>
          <p:nvPr/>
        </p:nvSpPr>
        <p:spPr>
          <a:xfrm xmlns:a="http://schemas.openxmlformats.org/drawingml/2006/main">
            <a:off x="1438275" y="4467225"/>
            <a:ext cx="333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575" b="1">
                <a:solidFill>
                  <a:srgbClr val="10263D"/>
                </a:solidFill>
                <a:latin typeface="Helvetica Neue"/>
                <a:ea typeface="Helvetica Neue"/>
                <a:cs typeface="Helvetica Neue"/>
              </a:defRPr>
            </a:pPr>
            <a:r>
              <a:rPr sz="1575" b="1">
                <a:solidFill>
                  <a:srgbClr val="10263D"/>
                </a:solidFill>
                <a:latin typeface="Helvetica Neue"/>
                <a:ea typeface="Helvetica Neue"/>
                <a:cs typeface="Helvetica Neue"/>
              </a:rPr>
              <a:t>Intégration</a:t>
            </a:r>
          </a:p>
        </p:txBody>
      </p:sp>
      <p:sp>
        <p:nvSpPr>
          <p:cNvPr id="22" name="">
            <a:extLst xmlns:a="http://schemas.openxmlformats.org/drawingml/2006/main">
              <a:ext uri="{FF2B5EF4-FFF2-40B4-BE49-F238E27FC236}">
                <a16:creationId xmlns:a16="http://schemas.microsoft.com/office/drawing/2014/main" id="{728B953B-8A82-41F5-9AE0-77BB606A32A2}"/>
              </a:ext>
            </a:extLst>
          </p:cNvPr>
          <p:cNvSpPr>
            <a:spLocks xmlns:a="http://schemas.openxmlformats.org/drawingml/2006/main" noGrp="1"/>
          </p:cNvSpPr>
          <p:nvPr/>
        </p:nvSpPr>
        <p:spPr>
          <a:xfrm xmlns:a="http://schemas.openxmlformats.org/drawingml/2006/main">
            <a:off x="4810125" y="4467225"/>
            <a:ext cx="6334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0">
                <a:solidFill>
                  <a:srgbClr val="203247"/>
                </a:solidFill>
                <a:latin typeface="Helvetica Neue"/>
                <a:ea typeface="Helvetica Neue"/>
                <a:cs typeface="Helvetica Neue"/>
              </a:defRPr>
            </a:pPr>
            <a:r>
              <a:rPr sz="1350" b="0">
                <a:solidFill>
                  <a:srgbClr val="203247"/>
                </a:solidFill>
                <a:latin typeface="Helvetica Neue"/>
                <a:ea typeface="Helvetica Neue"/>
                <a:cs typeface="Helvetica Neue"/>
              </a:rPr>
              <a:t>Relier les résultats au blocage, à la quarantaine et à la reprise après correction.</a:t>
            </a:r>
          </a:p>
        </p:txBody>
      </p:sp>
      <p:sp>
        <p:nvSpPr>
          <p:cNvPr id="23" name="">
            <a:extLst xmlns:a="http://schemas.openxmlformats.org/drawingml/2006/main">
              <a:ext uri="{FF2B5EF4-FFF2-40B4-BE49-F238E27FC236}">
                <a16:creationId xmlns:a16="http://schemas.microsoft.com/office/drawing/2014/main" id="{2A0FA0C6-8FFC-48A8-943E-AB03C967D7B0}"/>
              </a:ext>
            </a:extLst>
          </p:cNvPr>
          <p:cNvSpPr>
            <a:spLocks xmlns:a="http://schemas.openxmlformats.org/drawingml/2006/main" noGrp="1"/>
          </p:cNvSpPr>
          <p:nvPr/>
        </p:nvSpPr>
        <p:spPr>
          <a:xfrm xmlns:a="http://schemas.openxmlformats.org/drawingml/2006/main">
            <a:off x="647700" y="5562600"/>
            <a:ext cx="10896600" cy="514350"/>
          </a:xfrm>
          <a:prstGeom xmlns:a="http://schemas.openxmlformats.org/drawingml/2006/main" prst="roundRect">
            <a:avLst>
              <a:gd name="adj" fmla="val 14815"/>
            </a:avLst>
          </a:prstGeom>
          <a:solidFill xmlns:a="http://schemas.openxmlformats.org/drawingml/2006/main">
            <a:srgbClr val="EDF2F7"/>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1FA3B695-D454-4896-B8B4-DA5425FF8ACF}"/>
              </a:ext>
            </a:extLst>
          </p:cNvPr>
          <p:cNvSpPr>
            <a:spLocks xmlns:a="http://schemas.openxmlformats.org/drawingml/2006/main" noGrp="1"/>
          </p:cNvSpPr>
          <p:nvPr/>
        </p:nvSpPr>
        <p:spPr>
          <a:xfrm xmlns:a="http://schemas.openxmlformats.org/drawingml/2006/main">
            <a:off x="838200" y="5657850"/>
            <a:ext cx="10458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00" b="1">
                <a:solidFill>
                  <a:srgbClr val="10263D"/>
                </a:solidFill>
                <a:latin typeface="Helvetica Neue"/>
                <a:ea typeface="Helvetica Neue"/>
                <a:cs typeface="Helvetica Neue"/>
              </a:defRPr>
            </a:pPr>
            <a:r>
              <a:rPr sz="1200" b="1">
                <a:solidFill>
                  <a:srgbClr val="10263D"/>
                </a:solidFill>
                <a:latin typeface="Helvetica Neue"/>
                <a:ea typeface="Helvetica Neue"/>
                <a:cs typeface="Helvetica Neue"/>
              </a:rPr>
              <a:t>État actuel : preuve technique reproductible sur des CSV synthétiques; décision de production non évaluée.</a:t>
            </a:r>
          </a:p>
        </p:txBody>
      </p:sp>
    </p:spTree>
    <p:extLst>
      <p:ext uri="{BB962C8B-B14F-4D97-AF65-F5344CB8AC3E}">
        <p14:creationId xmlns:p14="http://schemas.microsoft.com/office/powerpoint/2010/main" val="2052094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2026-10-18T22:48:53.1550000Z</dcterms:created>
  <dcterms:modified xsi:type="dcterms:W3CDTF">2026-10-18T22:48:53.1560000Z</dcterms:modified>
</coreProperties>
</file>